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1"/>
  </p:notesMasterIdLst>
  <p:sldIdLst>
    <p:sldId id="256" r:id="rId3"/>
    <p:sldId id="268" r:id="rId4"/>
    <p:sldId id="258" r:id="rId5"/>
    <p:sldId id="259" r:id="rId6"/>
    <p:sldId id="260" r:id="rId7"/>
    <p:sldId id="261" r:id="rId8"/>
    <p:sldId id="262" r:id="rId9"/>
    <p:sldId id="263" r:id="rId10"/>
    <p:sldId id="264" r:id="rId11"/>
    <p:sldId id="265" r:id="rId12"/>
    <p:sldId id="266" r:id="rId13"/>
    <p:sldId id="267" r:id="rId14"/>
    <p:sldId id="284" r:id="rId15"/>
    <p:sldId id="285" r:id="rId16"/>
    <p:sldId id="286" r:id="rId17"/>
    <p:sldId id="287" r:id="rId18"/>
    <p:sldId id="288" r:id="rId19"/>
    <p:sldId id="289" r:id="rId20"/>
    <p:sldId id="290" r:id="rId21"/>
    <p:sldId id="291" r:id="rId22"/>
    <p:sldId id="294" r:id="rId23"/>
    <p:sldId id="269" r:id="rId24"/>
    <p:sldId id="295" r:id="rId25"/>
    <p:sldId id="280" r:id="rId26"/>
    <p:sldId id="281" r:id="rId27"/>
    <p:sldId id="282" r:id="rId28"/>
    <p:sldId id="283" r:id="rId29"/>
    <p:sldId id="296" r:id="rId30"/>
    <p:sldId id="297" r:id="rId31"/>
    <p:sldId id="298" r:id="rId32"/>
    <p:sldId id="299" r:id="rId33"/>
    <p:sldId id="300" r:id="rId34"/>
    <p:sldId id="301" r:id="rId35"/>
    <p:sldId id="302" r:id="rId36"/>
    <p:sldId id="303" r:id="rId37"/>
    <p:sldId id="304" r:id="rId38"/>
    <p:sldId id="305" r:id="rId39"/>
    <p:sldId id="306" r:id="rId40"/>
    <p:sldId id="307" r:id="rId42"/>
    <p:sldId id="308" r:id="rId43"/>
    <p:sldId id="309" r:id="rId44"/>
    <p:sldId id="293" r:id="rId45"/>
  </p:sldIdLst>
  <p:sldSz cx="12192000" cy="6858000"/>
  <p:notesSz cx="6858000" cy="9144000"/>
  <p:custDataLst>
    <p:tags r:id="rId4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9" Type="http://schemas.openxmlformats.org/officeDocument/2006/relationships/tags" Target="tags/tag23.xml"/><Relationship Id="rId48" Type="http://schemas.openxmlformats.org/officeDocument/2006/relationships/tableStyles" Target="tableStyles.xml"/><Relationship Id="rId47" Type="http://schemas.openxmlformats.org/officeDocument/2006/relationships/viewProps" Target="viewProps.xml"/><Relationship Id="rId46" Type="http://schemas.openxmlformats.org/officeDocument/2006/relationships/presProps" Target="presProps.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notesMaster" Target="notesMasters/notesMaster1.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下面简单介绍下开发者测试的一个背景，由于软件版本的迭代，使得测试任务不再完全由测试人员完成，由于开发人员对软件源码非常熟悉，因此开发者在这种情况下</a:t>
            </a:r>
            <a:r>
              <a:rPr lang="zh-CN" altLang="en-US" sz="1200" spc="-5" dirty="0">
                <a:latin typeface="Times New Roman" panose="02020603050405020304" pitchFamily="18" charset="0"/>
                <a:ea typeface="微软雅黑" panose="020B0503020204020204" charset="-122"/>
                <a:cs typeface="宋体" panose="02010600030101010101" pitchFamily="2" charset="-122"/>
                <a:sym typeface="Times New Roman" panose="02020603050405020304" pitchFamily="18" charset="0"/>
              </a:rPr>
              <a:t>对自己开发的程序代码承担质量责任。</a:t>
            </a:r>
            <a:endParaRPr lang="en-US" altLang="zh-CN" sz="1200" spc="-5" dirty="0">
              <a:latin typeface="Times New Roman" panose="02020603050405020304" pitchFamily="18" charset="0"/>
              <a:ea typeface="微软雅黑" panose="020B0503020204020204" charset="-122"/>
              <a:cs typeface="宋体" panose="02010600030101010101" pitchFamily="2" charset="-122"/>
              <a:sym typeface="Times New Roman" panose="02020603050405020304" pitchFamily="18" charset="0"/>
            </a:endParaRPr>
          </a:p>
          <a:p>
            <a:r>
              <a:rPr lang="zh-CN" altLang="en-US" sz="1200" spc="-5" dirty="0">
                <a:latin typeface="Times New Roman" panose="02020603050405020304" pitchFamily="18" charset="0"/>
                <a:ea typeface="微软雅黑" panose="020B0503020204020204" charset="-122"/>
                <a:sym typeface="Times New Roman" panose="02020603050405020304" pitchFamily="18" charset="0"/>
              </a:rPr>
              <a:t>这主要是一种白盒测试方法，包含了</a:t>
            </a:r>
            <a:r>
              <a:rPr lang="zh-CN" altLang="en-US" sz="1200" spc="-5" dirty="0">
                <a:latin typeface="Times New Roman" panose="02020603050405020304" pitchFamily="18" charset="0"/>
                <a:ea typeface="微软雅黑" panose="020B0503020204020204" charset="-122"/>
                <a:cs typeface="宋体" panose="02010600030101010101" pitchFamily="2" charset="-122"/>
                <a:sym typeface="Times New Roman" panose="02020603050405020304" pitchFamily="18" charset="0"/>
              </a:rPr>
              <a:t>开发者测试包括了传统的单元测试</a:t>
            </a:r>
            <a:r>
              <a:rPr lang="zh-CN" altLang="en-US" sz="1200" spc="-10" dirty="0">
                <a:latin typeface="Times New Roman" panose="02020603050405020304" pitchFamily="18" charset="0"/>
                <a:ea typeface="微软雅黑" panose="020B0503020204020204" charset="-122"/>
                <a:cs typeface="宋体" panose="02010600030101010101" pitchFamily="2" charset="-122"/>
                <a:sym typeface="Times New Roman" panose="02020603050405020304" pitchFamily="18" charset="0"/>
              </a:rPr>
              <a:t>、</a:t>
            </a:r>
            <a:r>
              <a:rPr lang="zh-CN" altLang="en-US" sz="1200" spc="-5" dirty="0">
                <a:latin typeface="Times New Roman" panose="02020603050405020304" pitchFamily="18" charset="0"/>
                <a:ea typeface="微软雅黑" panose="020B0503020204020204" charset="-122"/>
                <a:cs typeface="宋体" panose="02010600030101010101" pitchFamily="2" charset="-122"/>
                <a:sym typeface="Times New Roman" panose="02020603050405020304" pitchFamily="18" charset="0"/>
              </a:rPr>
              <a:t>集成测试、接口测试以及系统测试等。</a:t>
            </a:r>
            <a:endParaRPr lang="en-US" altLang="zh-CN" sz="1200" spc="-5" dirty="0">
              <a:latin typeface="Times New Roman" panose="02020603050405020304" pitchFamily="18" charset="0"/>
              <a:ea typeface="微软雅黑" panose="020B0503020204020204" charset="-122"/>
              <a:cs typeface="宋体" panose="02010600030101010101" pitchFamily="2" charset="-122"/>
              <a:sym typeface="Times New Roman" panose="02020603050405020304" pitchFamily="18" charset="0"/>
            </a:endParaRPr>
          </a:p>
          <a:p>
            <a:r>
              <a:rPr lang="zh-CN" altLang="en-US" sz="1200" spc="-5" dirty="0">
                <a:latin typeface="Times New Roman" panose="02020603050405020304" pitchFamily="18" charset="0"/>
                <a:ea typeface="微软雅黑" panose="020B0503020204020204" charset="-122"/>
                <a:sym typeface="Times New Roman" panose="02020603050405020304" pitchFamily="18" charset="0"/>
              </a:rPr>
              <a:t>我们的测试大赛主要针对单元测试，</a:t>
            </a:r>
            <a:r>
              <a:rPr lang="zh-CN" altLang="en-US" sz="1200" spc="-5" dirty="0">
                <a:latin typeface="Times New Roman" panose="02020603050405020304" pitchFamily="18" charset="0"/>
                <a:ea typeface="微软雅黑" panose="020B0503020204020204" charset="-122"/>
                <a:cs typeface="宋体" panose="02010600030101010101" pitchFamily="2" charset="-122"/>
                <a:sym typeface="Times New Roman" panose="02020603050405020304" pitchFamily="18" charset="0"/>
              </a:rPr>
              <a:t>要求开发者首先自行对自己编写的代码进行审查</a:t>
            </a:r>
            <a:r>
              <a:rPr lang="zh-CN" altLang="en-US" sz="1200" spc="-10" dirty="0">
                <a:latin typeface="Times New Roman" panose="02020603050405020304" pitchFamily="18" charset="0"/>
                <a:ea typeface="微软雅黑" panose="020B0503020204020204" charset="-122"/>
                <a:cs typeface="宋体" panose="02010600030101010101" pitchFamily="2" charset="-122"/>
                <a:sym typeface="Times New Roman" panose="02020603050405020304" pitchFamily="18" charset="0"/>
              </a:rPr>
              <a:t>和</a:t>
            </a:r>
            <a:r>
              <a:rPr lang="zh-CN" altLang="en-US" sz="1200" spc="-5" dirty="0">
                <a:latin typeface="Times New Roman" panose="02020603050405020304" pitchFamily="18" charset="0"/>
                <a:ea typeface="微软雅黑" panose="020B0503020204020204" charset="-122"/>
                <a:cs typeface="宋体" panose="02010600030101010101" pitchFamily="2" charset="-122"/>
                <a:sym typeface="Times New Roman" panose="02020603050405020304" pitchFamily="18" charset="0"/>
              </a:rPr>
              <a:t>测试，保证提交的代码必须达到一定的质量要求。</a:t>
            </a:r>
            <a:endParaRPr lang="zh-CN" altLang="en-US" dirty="0"/>
          </a:p>
        </p:txBody>
      </p:sp>
      <p:sp>
        <p:nvSpPr>
          <p:cNvPr id="4" name="灯片编号占位符 3"/>
          <p:cNvSpPr>
            <a:spLocks noGrp="1"/>
          </p:cNvSpPr>
          <p:nvPr>
            <p:ph type="sldNum" sz="quarter" idx="5"/>
          </p:nvPr>
        </p:nvSpPr>
        <p:spPr/>
        <p:txBody>
          <a:bodyPr/>
          <a:lstStyle/>
          <a:p>
            <a:fld id="{0C9771A4-00B3-46FF-BC28-FB180E739039}"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C9771A4-00B3-46FF-BC28-FB180E739039}"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C9771A4-00B3-46FF-BC28-FB180E739039}"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C9771A4-00B3-46FF-BC28-FB180E739039}"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hemeOverride" Target="../theme/themeOverride1.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hemeOverride" Target="../theme/themeOverride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hemeOverride" Target="../theme/themeOverride3.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hemeOverride" Target="../theme/themeOverride4.xml"/><Relationship Id="rId2" Type="http://schemas.openxmlformats.org/officeDocument/2006/relationships/image" Target="../media/image6.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hemeOverride" Target="../theme/themeOverride5.xml"/><Relationship Id="rId2" Type="http://schemas.openxmlformats.org/officeDocument/2006/relationships/image" Target="../media/image7.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hemeOverride" Target="../theme/themeOverride6.xml"/><Relationship Id="rId2" Type="http://schemas.openxmlformats.org/officeDocument/2006/relationships/image" Target="../media/image8.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hemeOverride" Target="../theme/themeOverride7.xml"/><Relationship Id="rId2" Type="http://schemas.openxmlformats.org/officeDocument/2006/relationships/image" Target="../media/image9.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hemeOverride" Target="../theme/themeOverride8.xml"/><Relationship Id="rId2" Type="http://schemas.openxmlformats.org/officeDocument/2006/relationships/image" Target="../media/image10.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hemeOverride" Target="../theme/themeOverride9.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hemeOverride" Target="../theme/themeOverride10.xml"/><Relationship Id="rId2" Type="http://schemas.openxmlformats.org/officeDocument/2006/relationships/image" Target="../media/image13.pn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hemeOverride" Target="../theme/themeOverride11.xml"/><Relationship Id="rId2" Type="http://schemas.openxmlformats.org/officeDocument/2006/relationships/image" Target="../media/image14.pn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5.png"/><Relationship Id="rId2" Type="http://schemas.openxmlformats.org/officeDocument/2006/relationships/tags" Target="../tags/tag1.xml"/><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6.png"/><Relationship Id="rId2" Type="http://schemas.openxmlformats.org/officeDocument/2006/relationships/tags" Target="../tags/tag2.xml"/><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7.png"/><Relationship Id="rId2" Type="http://schemas.openxmlformats.org/officeDocument/2006/relationships/tags" Target="../tags/tag3.xml"/><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8.png"/><Relationship Id="rId2" Type="http://schemas.openxmlformats.org/officeDocument/2006/relationships/tags" Target="../tags/tag4.xml"/><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9.png"/><Relationship Id="rId2" Type="http://schemas.openxmlformats.org/officeDocument/2006/relationships/tags" Target="../tags/tag5.xml"/><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0.png"/><Relationship Id="rId2" Type="http://schemas.openxmlformats.org/officeDocument/2006/relationships/tags" Target="../tags/tag6.xml"/><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1.png"/><Relationship Id="rId2" Type="http://schemas.openxmlformats.org/officeDocument/2006/relationships/tags" Target="../tags/tag7.xml"/><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2.png"/><Relationship Id="rId2" Type="http://schemas.openxmlformats.org/officeDocument/2006/relationships/tags" Target="../tags/tag8.xml"/><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hemeOverride" Target="../theme/themeOverride12.xml"/><Relationship Id="rId1" Type="http://schemas.openxmlformats.org/officeDocument/2006/relationships/image" Target="../media/image1.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hemeOverride" Target="../theme/themeOverride13.xml"/><Relationship Id="rId2" Type="http://schemas.openxmlformats.org/officeDocument/2006/relationships/image" Target="../media/image23.png"/><Relationship Id="rId1"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5.png"/><Relationship Id="rId1" Type="http://schemas.openxmlformats.org/officeDocument/2006/relationships/image" Target="../media/image1.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1.png"/></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5.png"/><Relationship Id="rId2" Type="http://schemas.openxmlformats.org/officeDocument/2006/relationships/tags" Target="../tags/tag9.xml"/><Relationship Id="rId1" Type="http://schemas.openxmlformats.org/officeDocument/2006/relationships/image" Target="../media/image1.png"/></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6.png"/><Relationship Id="rId2" Type="http://schemas.openxmlformats.org/officeDocument/2006/relationships/tags" Target="../tags/tag10.xml"/><Relationship Id="rId1" Type="http://schemas.openxmlformats.org/officeDocument/2006/relationships/image" Target="../media/image1.png"/></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6.png"/><Relationship Id="rId2" Type="http://schemas.openxmlformats.org/officeDocument/2006/relationships/tags" Target="../tags/tag11.xml"/><Relationship Id="rId1" Type="http://schemas.openxmlformats.org/officeDocument/2006/relationships/image" Target="../media/image1.png"/></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7.png"/><Relationship Id="rId2" Type="http://schemas.openxmlformats.org/officeDocument/2006/relationships/tags" Target="../tags/tag12.xml"/><Relationship Id="rId1" Type="http://schemas.openxmlformats.org/officeDocument/2006/relationships/image" Target="../media/image1.png"/></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8.png"/><Relationship Id="rId2" Type="http://schemas.openxmlformats.org/officeDocument/2006/relationships/tags" Target="../tags/tag13.xml"/><Relationship Id="rId1" Type="http://schemas.openxmlformats.org/officeDocument/2006/relationships/image" Target="../media/image1.png"/></Relationships>
</file>

<file path=ppt/slides/_rels/slide3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9.png"/><Relationship Id="rId2" Type="http://schemas.openxmlformats.org/officeDocument/2006/relationships/tags" Target="../tags/tag14.xml"/><Relationship Id="rId1" Type="http://schemas.openxmlformats.org/officeDocument/2006/relationships/image" Target="../media/image1.png"/></Relationships>
</file>

<file path=ppt/slides/_rels/slide3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0.png"/><Relationship Id="rId2" Type="http://schemas.openxmlformats.org/officeDocument/2006/relationships/tags" Target="../tags/tag15.xml"/><Relationship Id="rId1" Type="http://schemas.openxmlformats.org/officeDocument/2006/relationships/image" Target="../media/image1.png"/></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1.png"/><Relationship Id="rId2" Type="http://schemas.openxmlformats.org/officeDocument/2006/relationships/tags" Target="../tags/tag16.xml"/><Relationship Id="rId1" Type="http://schemas.openxmlformats.org/officeDocument/2006/relationships/image" Target="../media/image1.png"/></Relationships>
</file>

<file path=ppt/slides/_rels/slide3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2.png"/><Relationship Id="rId2" Type="http://schemas.openxmlformats.org/officeDocument/2006/relationships/tags" Target="../tags/tag17.xml"/><Relationship Id="rId1" Type="http://schemas.openxmlformats.org/officeDocument/2006/relationships/image" Target="../media/image1.png"/></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2.png"/><Relationship Id="rId2" Type="http://schemas.openxmlformats.org/officeDocument/2006/relationships/tags" Target="../tags/tag18.xml"/><Relationship Id="rId1" Type="http://schemas.openxmlformats.org/officeDocument/2006/relationships/image" Target="../media/image1.png"/></Relationships>
</file>

<file path=ppt/slides/_rels/slide38.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2.xml"/><Relationship Id="rId3" Type="http://schemas.openxmlformats.org/officeDocument/2006/relationships/image" Target="../media/image33.png"/><Relationship Id="rId2" Type="http://schemas.openxmlformats.org/officeDocument/2006/relationships/tags" Target="../tags/tag19.xml"/><Relationship Id="rId1" Type="http://schemas.openxmlformats.org/officeDocument/2006/relationships/image" Target="../media/image1.png"/></Relationships>
</file>

<file path=ppt/slides/_rels/slide39.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2.xml"/><Relationship Id="rId3" Type="http://schemas.openxmlformats.org/officeDocument/2006/relationships/image" Target="../media/image34.png"/><Relationship Id="rId2" Type="http://schemas.openxmlformats.org/officeDocument/2006/relationships/tags" Target="../tags/tag20.xml"/><Relationship Id="rId1" Type="http://schemas.openxmlformats.org/officeDocument/2006/relationships/image" Target="../media/image1.png"/></Relationships>
</file>

<file path=ppt/slides/_rels/slide40.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2.xml"/><Relationship Id="rId3" Type="http://schemas.openxmlformats.org/officeDocument/2006/relationships/image" Target="../media/image35.png"/><Relationship Id="rId2" Type="http://schemas.openxmlformats.org/officeDocument/2006/relationships/tags" Target="../tags/tag21.xml"/><Relationship Id="rId1" Type="http://schemas.openxmlformats.org/officeDocument/2006/relationships/image" Target="../media/image1.png"/></Relationships>
</file>

<file path=ppt/slides/_rels/slide41.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2.xml"/><Relationship Id="rId3" Type="http://schemas.openxmlformats.org/officeDocument/2006/relationships/image" Target="../media/image36.png"/><Relationship Id="rId2" Type="http://schemas.openxmlformats.org/officeDocument/2006/relationships/tags" Target="../tags/tag22.xml"/><Relationship Id="rId1" Type="http://schemas.openxmlformats.org/officeDocument/2006/relationships/image" Target="../media/image1.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jpeg"/></Relationships>
</file>

<file path=ppt/slides/slide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pic>
        <p:nvPicPr>
          <p:cNvPr id="8" name="图片 7" descr="图片1"/>
          <p:cNvPicPr>
            <a:picLocks noChangeAspect="1"/>
          </p:cNvPicPr>
          <p:nvPr/>
        </p:nvPicPr>
        <p:blipFill>
          <a:blip r:embed="rId1"/>
          <a:stretch>
            <a:fillRect/>
          </a:stretch>
        </p:blipFill>
        <p:spPr>
          <a:xfrm>
            <a:off x="-12065" y="0"/>
            <a:ext cx="12192000" cy="6877050"/>
          </a:xfrm>
          <a:prstGeom prst="rect">
            <a:avLst/>
          </a:prstGeom>
        </p:spPr>
      </p:pic>
      <p:sp>
        <p:nvSpPr>
          <p:cNvPr id="2" name="标题 1"/>
          <p:cNvSpPr>
            <a:spLocks noGrp="1"/>
          </p:cNvSpPr>
          <p:nvPr>
            <p:ph type="ctrTitle"/>
          </p:nvPr>
        </p:nvSpPr>
        <p:spPr>
          <a:xfrm>
            <a:off x="2291715" y="2426970"/>
            <a:ext cx="8296910" cy="1318895"/>
          </a:xfrm>
        </p:spPr>
        <p:txBody>
          <a:bodyPr/>
          <a:p>
            <a:r>
              <a:rPr lang="en-US" altLang="zh-CN">
                <a:solidFill>
                  <a:schemeClr val="accent1"/>
                </a:solidFill>
                <a:effectLst>
                  <a:outerShdw blurRad="38100" dist="25400" dir="5400000" algn="ctr" rotWithShape="0">
                    <a:srgbClr val="6E747A">
                      <a:alpha val="43000"/>
                    </a:srgbClr>
                  </a:outerShdw>
                </a:effectLst>
              </a:rPr>
              <a:t>Web</a:t>
            </a:r>
            <a:r>
              <a:rPr lang="zh-CN" altLang="en-US">
                <a:solidFill>
                  <a:schemeClr val="accent1"/>
                </a:solidFill>
                <a:effectLst>
                  <a:outerShdw blurRad="38100" dist="25400" dir="5400000" algn="ctr" rotWithShape="0">
                    <a:srgbClr val="6E747A">
                      <a:alpha val="43000"/>
                    </a:srgbClr>
                  </a:outerShdw>
                </a:effectLst>
              </a:rPr>
              <a:t>应用测试环境搭建</a:t>
            </a:r>
            <a:endParaRPr lang="zh-CN" altLang="en-US">
              <a:solidFill>
                <a:schemeClr val="accent1"/>
              </a:solidFill>
              <a:effectLst>
                <a:outerShdw blurRad="38100" dist="25400" dir="5400000" algn="ctr" rotWithShape="0">
                  <a:srgbClr val="6E747A">
                    <a:alpha val="43000"/>
                  </a:srgbClr>
                </a:outerShdw>
              </a:effectLst>
            </a:endParaRPr>
          </a:p>
        </p:txBody>
      </p:sp>
      <p:sp>
        <p:nvSpPr>
          <p:cNvPr id="3" name="副标题 2"/>
          <p:cNvSpPr>
            <a:spLocks noGrp="1"/>
          </p:cNvSpPr>
          <p:nvPr>
            <p:ph type="subTitle" idx="1"/>
          </p:nvPr>
        </p:nvSpPr>
        <p:spPr>
          <a:xfrm>
            <a:off x="1640205" y="4696778"/>
            <a:ext cx="9144000" cy="1655762"/>
          </a:xfrm>
        </p:spPr>
        <p:txBody>
          <a:bodyPr/>
          <a:p>
            <a:r>
              <a:rPr lang="zh-CN" altLang="en-US" sz="2000"/>
              <a:t>全国大学生软件测试大赛组委会</a:t>
            </a:r>
            <a:r>
              <a:rPr lang="en-US" altLang="zh-CN" sz="2000"/>
              <a:t>        </a:t>
            </a:r>
            <a:r>
              <a:rPr lang="zh-CN" altLang="en-US" sz="2000"/>
              <a:t>刘佳怡</a:t>
            </a:r>
            <a:endParaRPr lang="zh-CN" altLang="en-US" sz="2000"/>
          </a:p>
        </p:txBody>
      </p:sp>
      <p:pic>
        <p:nvPicPr>
          <p:cNvPr id="5" name="图片 4" descr="cst"/>
          <p:cNvPicPr>
            <a:picLocks noChangeAspect="1"/>
          </p:cNvPicPr>
          <p:nvPr/>
        </p:nvPicPr>
        <p:blipFill>
          <a:blip r:embed="rId2">
            <a:clrChange>
              <a:clrFrom>
                <a:srgbClr val="FFFFFF">
                  <a:alpha val="100000"/>
                </a:srgbClr>
              </a:clrFrom>
              <a:clrTo>
                <a:srgbClr val="FFFFFF">
                  <a:alpha val="100000"/>
                  <a:alpha val="0"/>
                </a:srgbClr>
              </a:clrTo>
            </a:clrChange>
          </a:blip>
          <a:stretch>
            <a:fillRect/>
          </a:stretch>
        </p:blipFill>
        <p:spPr>
          <a:xfrm>
            <a:off x="261620" y="116205"/>
            <a:ext cx="1698625" cy="1290320"/>
          </a:xfrm>
          <a:prstGeom prst="rect">
            <a:avLst/>
          </a:prstGeom>
        </p:spPr>
      </p:pic>
      <p:pic>
        <p:nvPicPr>
          <p:cNvPr id="6" name="图片 5" descr="慕测科技_03"/>
          <p:cNvPicPr>
            <a:picLocks noChangeAspect="1"/>
          </p:cNvPicPr>
          <p:nvPr/>
        </p:nvPicPr>
        <p:blipFill>
          <a:blip r:embed="rId3"/>
          <a:stretch>
            <a:fillRect/>
          </a:stretch>
        </p:blipFill>
        <p:spPr>
          <a:xfrm>
            <a:off x="7095490" y="335915"/>
            <a:ext cx="5096510" cy="946150"/>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pic>
        <p:nvPicPr>
          <p:cNvPr id="8" name="图片 7" descr="图片1"/>
          <p:cNvPicPr>
            <a:picLocks noChangeAspect="1"/>
          </p:cNvPicPr>
          <p:nvPr/>
        </p:nvPicPr>
        <p:blipFill>
          <a:blip r:embed="rId1"/>
          <a:stretch>
            <a:fillRect/>
          </a:stretch>
        </p:blipFill>
        <p:spPr>
          <a:xfrm>
            <a:off x="-12065" y="0"/>
            <a:ext cx="12192000" cy="6858000"/>
          </a:xfrm>
          <a:prstGeom prst="rect">
            <a:avLst/>
          </a:prstGeom>
        </p:spPr>
      </p:pic>
      <p:sp>
        <p:nvSpPr>
          <p:cNvPr id="3" name="内容占位符 2"/>
          <p:cNvSpPr>
            <a:spLocks noGrp="1"/>
          </p:cNvSpPr>
          <p:nvPr>
            <p:ph idx="1"/>
          </p:nvPr>
        </p:nvSpPr>
        <p:spPr/>
        <p:txBody>
          <a:bodyPr/>
          <a:p>
            <a:pPr marL="0" indent="0" algn="ctr">
              <a:buNone/>
            </a:pPr>
            <a:r>
              <a:rPr lang="en-US" altLang="zh-CN" sz="540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PartOne</a:t>
            </a:r>
            <a:r>
              <a:rPr lang="en-US" altLang="zh-CN" sz="5400">
                <a:solidFill>
                  <a:schemeClr val="accent1"/>
                </a:solidFill>
                <a:effectLst>
                  <a:outerShdw blurRad="38100" dist="25400" dir="5400000" algn="ctr" rotWithShape="0">
                    <a:srgbClr val="6E747A">
                      <a:alpha val="43000"/>
                    </a:srgbClr>
                  </a:outerShdw>
                </a:effectLst>
              </a:rPr>
              <a:t> </a:t>
            </a:r>
            <a:endParaRPr lang="en-US" altLang="zh-CN" sz="5400">
              <a:solidFill>
                <a:schemeClr val="accent1"/>
              </a:solidFill>
              <a:effectLst>
                <a:outerShdw blurRad="38100" dist="25400" dir="5400000" algn="ctr" rotWithShape="0">
                  <a:srgbClr val="6E747A">
                    <a:alpha val="43000"/>
                  </a:srgbClr>
                </a:outerShdw>
              </a:effectLst>
            </a:endParaRPr>
          </a:p>
          <a:p>
            <a:pPr marL="0" indent="0" algn="ctr">
              <a:buNone/>
            </a:pPr>
            <a:endParaRPr lang="en-US" altLang="zh-CN" sz="5400">
              <a:solidFill>
                <a:schemeClr val="accent1"/>
              </a:solidFill>
              <a:effectLst>
                <a:outerShdw blurRad="38100" dist="25400" dir="5400000" algn="ctr" rotWithShape="0">
                  <a:srgbClr val="6E747A">
                    <a:alpha val="43000"/>
                  </a:srgbClr>
                </a:outerShdw>
              </a:effectLst>
            </a:endParaRPr>
          </a:p>
          <a:p>
            <a:pPr marL="0" indent="0">
              <a:buNone/>
            </a:pPr>
            <a:r>
              <a:rPr lang="en-US" altLang="zh-CN" sz="5400">
                <a:solidFill>
                  <a:schemeClr val="accent1"/>
                </a:solidFill>
                <a:effectLst>
                  <a:outerShdw blurRad="38100" dist="25400" dir="5400000" algn="ctr" rotWithShape="0">
                    <a:srgbClr val="6E747A">
                      <a:alpha val="43000"/>
                    </a:srgbClr>
                  </a:outerShdw>
                </a:effectLst>
              </a:rPr>
              <a:t>         </a:t>
            </a:r>
            <a:r>
              <a:rPr lang="en-US" altLang="zh-CN" sz="540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rPr>
              <a:t>Web</a:t>
            </a:r>
            <a:r>
              <a:rPr lang="zh-CN" altLang="en-US" sz="540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rPr>
              <a:t>自动化测试环境搭建</a:t>
            </a:r>
            <a:endParaRPr lang="zh-CN" altLang="en-US" sz="540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endParaRPr>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pic>
        <p:nvPicPr>
          <p:cNvPr id="8" name="图片 7" descr="图片1"/>
          <p:cNvPicPr>
            <a:picLocks noChangeAspect="1"/>
          </p:cNvPicPr>
          <p:nvPr/>
        </p:nvPicPr>
        <p:blipFill>
          <a:blip r:embed="rId1"/>
          <a:stretch>
            <a:fillRect/>
          </a:stretch>
        </p:blipFill>
        <p:spPr>
          <a:xfrm>
            <a:off x="-12065" y="0"/>
            <a:ext cx="12192000" cy="6858000"/>
          </a:xfrm>
          <a:prstGeom prst="rect">
            <a:avLst/>
          </a:prstGeom>
        </p:spPr>
      </p:pic>
      <p:sp>
        <p:nvSpPr>
          <p:cNvPr id="4" name="文本框 3"/>
          <p:cNvSpPr txBox="1"/>
          <p:nvPr/>
        </p:nvSpPr>
        <p:spPr>
          <a:xfrm>
            <a:off x="865505" y="1208405"/>
            <a:ext cx="5685155" cy="1814830"/>
          </a:xfrm>
          <a:prstGeom prst="rect">
            <a:avLst/>
          </a:prstGeom>
          <a:noFill/>
        </p:spPr>
        <p:txBody>
          <a:bodyPr wrap="square" rtlCol="0">
            <a:spAutoFit/>
          </a:bodyPr>
          <a:p>
            <a:pPr marL="0" indent="0">
              <a:lnSpc>
                <a:spcPct val="150000"/>
              </a:lnSpc>
              <a:buNone/>
            </a:pPr>
            <a:r>
              <a:rPr lang="zh-CN" altLang="en-US" sz="1600">
                <a:sym typeface="+mn-ea"/>
              </a:rPr>
              <a:t>操作流程</a:t>
            </a:r>
            <a:r>
              <a:rPr lang="en-US" altLang="zh-CN" sz="1600">
                <a:sym typeface="+mn-ea"/>
              </a:rPr>
              <a:t>:</a:t>
            </a:r>
            <a:endParaRPr lang="en-US" altLang="zh-CN" sz="1600"/>
          </a:p>
          <a:p>
            <a:pPr marL="0" indent="0">
              <a:lnSpc>
                <a:spcPct val="150000"/>
              </a:lnSpc>
              <a:buNone/>
            </a:pPr>
            <a:r>
              <a:rPr lang="en-US" altLang="zh-CN" sz="1600">
                <a:sym typeface="+mn-ea"/>
              </a:rPr>
              <a:t>1.</a:t>
            </a:r>
            <a:r>
              <a:rPr lang="zh-CN" altLang="en-US" sz="1600">
                <a:sym typeface="+mn-ea"/>
              </a:rPr>
              <a:t>登录慕测官网</a:t>
            </a:r>
            <a:r>
              <a:rPr lang="en-US" altLang="zh-CN" sz="1600">
                <a:sym typeface="+mn-ea"/>
              </a:rPr>
              <a:t>(http://www.mooctest.net/)</a:t>
            </a:r>
            <a:r>
              <a:rPr lang="zh-CN" altLang="en-US" sz="1600">
                <a:sym typeface="+mn-ea"/>
              </a:rPr>
              <a:t>首页</a:t>
            </a:r>
            <a:endParaRPr lang="zh-CN" altLang="en-US" sz="1600"/>
          </a:p>
          <a:p>
            <a:pPr marL="0" indent="0">
              <a:lnSpc>
                <a:spcPct val="150000"/>
              </a:lnSpc>
              <a:buNone/>
            </a:pPr>
            <a:r>
              <a:rPr lang="en-US" altLang="zh-CN" sz="1600">
                <a:sym typeface="+mn-ea"/>
              </a:rPr>
              <a:t>2.</a:t>
            </a:r>
            <a:r>
              <a:rPr lang="zh-CN" altLang="en-US" sz="1600">
                <a:sym typeface="+mn-ea"/>
              </a:rPr>
              <a:t>选择插件下载</a:t>
            </a:r>
            <a:endParaRPr lang="zh-CN" altLang="en-US" sz="1600"/>
          </a:p>
          <a:p>
            <a:pPr marL="0" indent="0">
              <a:lnSpc>
                <a:spcPct val="150000"/>
              </a:lnSpc>
              <a:buNone/>
            </a:pPr>
            <a:r>
              <a:rPr lang="en-US" altLang="zh-CN" sz="1600">
                <a:sym typeface="+mn-ea"/>
              </a:rPr>
              <a:t>3.</a:t>
            </a:r>
            <a:r>
              <a:rPr lang="zh-CN" altLang="en-US" sz="1600">
                <a:sym typeface="+mn-ea"/>
              </a:rPr>
              <a:t>根据系统版本下载相应的</a:t>
            </a:r>
            <a:r>
              <a:rPr lang="en-US" altLang="zh-CN" sz="1600">
                <a:sym typeface="+mn-ea"/>
              </a:rPr>
              <a:t>Eclipse</a:t>
            </a:r>
            <a:r>
              <a:rPr lang="zh-CN" altLang="en-US" sz="1600">
                <a:sym typeface="+mn-ea"/>
              </a:rPr>
              <a:t>插件</a:t>
            </a:r>
            <a:endParaRPr lang="zh-CN" altLang="en-US" sz="1600"/>
          </a:p>
          <a:p>
            <a:endParaRPr lang="zh-CN" altLang="en-US" sz="1600"/>
          </a:p>
        </p:txBody>
      </p:sp>
      <p:pic>
        <p:nvPicPr>
          <p:cNvPr id="5" name="图片 4"/>
          <p:cNvPicPr>
            <a:picLocks noChangeAspect="1"/>
          </p:cNvPicPr>
          <p:nvPr/>
        </p:nvPicPr>
        <p:blipFill>
          <a:blip r:embed="rId2"/>
          <a:stretch>
            <a:fillRect/>
          </a:stretch>
        </p:blipFill>
        <p:spPr>
          <a:xfrm>
            <a:off x="7118350" y="1208405"/>
            <a:ext cx="3771900" cy="4857750"/>
          </a:xfrm>
          <a:prstGeom prst="rect">
            <a:avLst/>
          </a:prstGeom>
        </p:spPr>
      </p:pic>
      <p:pic>
        <p:nvPicPr>
          <p:cNvPr id="7" name="图片 6"/>
          <p:cNvPicPr>
            <a:picLocks noChangeAspect="1"/>
          </p:cNvPicPr>
          <p:nvPr/>
        </p:nvPicPr>
        <p:blipFill>
          <a:blip r:embed="rId3"/>
          <a:stretch>
            <a:fillRect/>
          </a:stretch>
        </p:blipFill>
        <p:spPr>
          <a:xfrm>
            <a:off x="874395" y="3023235"/>
            <a:ext cx="5461000" cy="3345180"/>
          </a:xfrm>
          <a:prstGeom prst="rect">
            <a:avLst/>
          </a:prstGeom>
        </p:spPr>
      </p:pic>
      <p:grpSp>
        <p:nvGrpSpPr>
          <p:cNvPr id="14" name="组合 13"/>
          <p:cNvGrpSpPr/>
          <p:nvPr/>
        </p:nvGrpSpPr>
        <p:grpSpPr>
          <a:xfrm>
            <a:off x="226695" y="321945"/>
            <a:ext cx="11412855" cy="647700"/>
            <a:chOff x="357" y="168"/>
            <a:chExt cx="17973" cy="1020"/>
          </a:xfrm>
        </p:grpSpPr>
        <p:sp>
          <p:nvSpPr>
            <p:cNvPr id="15" name="矩形 14"/>
            <p:cNvSpPr/>
            <p:nvPr/>
          </p:nvSpPr>
          <p:spPr>
            <a:xfrm>
              <a:off x="357" y="168"/>
              <a:ext cx="340" cy="340"/>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6" name="矩形 15"/>
            <p:cNvSpPr/>
            <p:nvPr/>
          </p:nvSpPr>
          <p:spPr>
            <a:xfrm>
              <a:off x="527" y="394"/>
              <a:ext cx="680" cy="6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7" name="矩形 16"/>
            <p:cNvSpPr/>
            <p:nvPr/>
          </p:nvSpPr>
          <p:spPr>
            <a:xfrm>
              <a:off x="1037"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cxnSp>
          <p:nvCxnSpPr>
            <p:cNvPr id="18" name="直接连接符 17"/>
            <p:cNvCxnSpPr/>
            <p:nvPr/>
          </p:nvCxnSpPr>
          <p:spPr>
            <a:xfrm>
              <a:off x="1377" y="1018"/>
              <a:ext cx="16613"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17990"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grpSp>
      <p:sp>
        <p:nvSpPr>
          <p:cNvPr id="20" name="文本框 26"/>
          <p:cNvSpPr txBox="1"/>
          <p:nvPr/>
        </p:nvSpPr>
        <p:spPr>
          <a:xfrm>
            <a:off x="955675" y="321945"/>
            <a:ext cx="5029200" cy="460375"/>
          </a:xfrm>
          <a:prstGeom prst="rect">
            <a:avLst/>
          </a:prstGeom>
          <a:noFill/>
        </p:spPr>
        <p:txBody>
          <a:bodyPr wrap="square" rtlCol="0">
            <a:spAutoFit/>
          </a:bodyPr>
          <a:p>
            <a:r>
              <a:rPr lang="zh-CN" sz="2400" b="1" spc="100">
                <a:solidFill>
                  <a:schemeClr val="accent1"/>
                </a:solidFill>
                <a:latin typeface="微软雅黑" panose="020B0503020204020204" charset="-122"/>
                <a:ea typeface="微软雅黑" panose="020B0503020204020204" charset="-122"/>
                <a:sym typeface="+mn-ea"/>
              </a:rPr>
              <a:t>一、</a:t>
            </a:r>
            <a:r>
              <a:rPr lang="zh-CN" altLang="en-US" sz="2400">
                <a:solidFill>
                  <a:schemeClr val="accent1"/>
                </a:solidFill>
                <a:effectLst>
                  <a:outerShdw blurRad="38100" dist="25400" dir="5400000" algn="ctr" rotWithShape="0">
                    <a:srgbClr val="6E747A">
                      <a:alpha val="43000"/>
                    </a:srgbClr>
                  </a:outerShdw>
                </a:effectLst>
                <a:sym typeface="+mn-ea"/>
              </a:rPr>
              <a:t>下载含有慕测插件的</a:t>
            </a:r>
            <a:r>
              <a:rPr lang="en-US" altLang="zh-CN" sz="2400">
                <a:solidFill>
                  <a:schemeClr val="accent1"/>
                </a:solidFill>
                <a:effectLst>
                  <a:outerShdw blurRad="38100" dist="25400" dir="5400000" algn="ctr" rotWithShape="0">
                    <a:srgbClr val="6E747A">
                      <a:alpha val="43000"/>
                    </a:srgbClr>
                  </a:outerShdw>
                </a:effectLst>
                <a:sym typeface="+mn-ea"/>
              </a:rPr>
              <a:t>Eclipse</a:t>
            </a:r>
            <a:r>
              <a:rPr lang="zh-CN" altLang="en-US" sz="2400">
                <a:solidFill>
                  <a:schemeClr val="accent1"/>
                </a:solidFill>
                <a:effectLst>
                  <a:outerShdw blurRad="38100" dist="25400" dir="5400000" algn="ctr" rotWithShape="0">
                    <a:srgbClr val="6E747A">
                      <a:alpha val="43000"/>
                    </a:srgbClr>
                  </a:outerShdw>
                </a:effectLst>
                <a:sym typeface="+mn-ea"/>
              </a:rPr>
              <a:t>（</a:t>
            </a:r>
            <a:r>
              <a:rPr lang="en-US" altLang="zh-CN" sz="2400">
                <a:solidFill>
                  <a:schemeClr val="accent1"/>
                </a:solidFill>
                <a:effectLst>
                  <a:outerShdw blurRad="38100" dist="25400" dir="5400000" algn="ctr" rotWithShape="0">
                    <a:srgbClr val="6E747A">
                      <a:alpha val="43000"/>
                    </a:srgbClr>
                  </a:outerShdw>
                </a:effectLst>
                <a:sym typeface="+mn-ea"/>
              </a:rPr>
              <a:t>1</a:t>
            </a:r>
            <a:r>
              <a:rPr lang="zh-CN" altLang="en-US" sz="2400">
                <a:solidFill>
                  <a:schemeClr val="accent1"/>
                </a:solidFill>
                <a:effectLst>
                  <a:outerShdw blurRad="38100" dist="25400" dir="5400000" algn="ctr" rotWithShape="0">
                    <a:srgbClr val="6E747A">
                      <a:alpha val="43000"/>
                    </a:srgbClr>
                  </a:outerShdw>
                </a:effectLst>
                <a:sym typeface="+mn-ea"/>
              </a:rPr>
              <a:t>）</a:t>
            </a:r>
            <a:endParaRPr lang="zh-CN" altLang="en-US" sz="2400" b="1" spc="10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sym typeface="+mn-ea"/>
            </a:endParaRPr>
          </a:p>
        </p:txBody>
      </p:sp>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pic>
        <p:nvPicPr>
          <p:cNvPr id="8" name="图片 7" descr="图片1"/>
          <p:cNvPicPr>
            <a:picLocks noChangeAspect="1"/>
          </p:cNvPicPr>
          <p:nvPr/>
        </p:nvPicPr>
        <p:blipFill>
          <a:blip r:embed="rId1"/>
          <a:stretch>
            <a:fillRect/>
          </a:stretch>
        </p:blipFill>
        <p:spPr>
          <a:xfrm>
            <a:off x="-12065" y="0"/>
            <a:ext cx="12192000" cy="6858000"/>
          </a:xfrm>
          <a:prstGeom prst="rect">
            <a:avLst/>
          </a:prstGeom>
        </p:spPr>
      </p:pic>
      <p:sp>
        <p:nvSpPr>
          <p:cNvPr id="3" name="内容占位符 2"/>
          <p:cNvSpPr>
            <a:spLocks noGrp="1"/>
          </p:cNvSpPr>
          <p:nvPr>
            <p:ph idx="1"/>
          </p:nvPr>
        </p:nvSpPr>
        <p:spPr>
          <a:xfrm>
            <a:off x="874395" y="1039495"/>
            <a:ext cx="10515600" cy="1457960"/>
          </a:xfrm>
        </p:spPr>
        <p:txBody>
          <a:bodyPr/>
          <a:p>
            <a:pPr marL="0" algn="l">
              <a:lnSpc>
                <a:spcPct val="150000"/>
              </a:lnSpc>
              <a:buClrTx/>
              <a:buSzTx/>
              <a:buFontTx/>
              <a:buNone/>
            </a:pPr>
            <a:r>
              <a:rPr lang="zh-CN" altLang="en-US" sz="1600"/>
              <a:t>操作流程:</a:t>
            </a:r>
            <a:endParaRPr lang="zh-CN" altLang="en-US" sz="1600"/>
          </a:p>
          <a:p>
            <a:pPr marL="0" algn="l">
              <a:lnSpc>
                <a:spcPct val="150000"/>
              </a:lnSpc>
              <a:buClrTx/>
              <a:buSzTx/>
              <a:buNone/>
            </a:pPr>
            <a:r>
              <a:rPr lang="en-US" altLang="zh-CN" sz="1600"/>
              <a:t>4.下载完成后对其进行解压(禁止中文路径)</a:t>
            </a:r>
            <a:endParaRPr lang="en-US" altLang="zh-CN" sz="1600"/>
          </a:p>
          <a:p>
            <a:pPr marL="0" algn="l">
              <a:lnSpc>
                <a:spcPct val="100000"/>
              </a:lnSpc>
              <a:buClrTx/>
              <a:buSzTx/>
              <a:buNone/>
            </a:pPr>
            <a:endParaRPr lang="zh-CN" altLang="en-US" sz="2000">
              <a:solidFill>
                <a:srgbClr val="FF0000"/>
              </a:solidFill>
            </a:endParaRPr>
          </a:p>
        </p:txBody>
      </p:sp>
      <p:pic>
        <p:nvPicPr>
          <p:cNvPr id="4" name="图片 3"/>
          <p:cNvPicPr>
            <a:picLocks noChangeAspect="1"/>
          </p:cNvPicPr>
          <p:nvPr/>
        </p:nvPicPr>
        <p:blipFill>
          <a:blip r:embed="rId2"/>
          <a:stretch>
            <a:fillRect/>
          </a:stretch>
        </p:blipFill>
        <p:spPr>
          <a:xfrm>
            <a:off x="955675" y="2197100"/>
            <a:ext cx="8665845" cy="4385945"/>
          </a:xfrm>
          <a:prstGeom prst="rect">
            <a:avLst/>
          </a:prstGeom>
        </p:spPr>
      </p:pic>
      <p:grpSp>
        <p:nvGrpSpPr>
          <p:cNvPr id="14" name="组合 13"/>
          <p:cNvGrpSpPr/>
          <p:nvPr/>
        </p:nvGrpSpPr>
        <p:grpSpPr>
          <a:xfrm>
            <a:off x="226695" y="321945"/>
            <a:ext cx="11412855" cy="647700"/>
            <a:chOff x="357" y="168"/>
            <a:chExt cx="17973" cy="1020"/>
          </a:xfrm>
        </p:grpSpPr>
        <p:sp>
          <p:nvSpPr>
            <p:cNvPr id="15" name="矩形 14"/>
            <p:cNvSpPr/>
            <p:nvPr/>
          </p:nvSpPr>
          <p:spPr>
            <a:xfrm>
              <a:off x="357" y="168"/>
              <a:ext cx="340" cy="340"/>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6" name="矩形 15"/>
            <p:cNvSpPr/>
            <p:nvPr/>
          </p:nvSpPr>
          <p:spPr>
            <a:xfrm>
              <a:off x="527" y="394"/>
              <a:ext cx="680" cy="6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7" name="矩形 16"/>
            <p:cNvSpPr/>
            <p:nvPr/>
          </p:nvSpPr>
          <p:spPr>
            <a:xfrm>
              <a:off x="1037"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cxnSp>
          <p:nvCxnSpPr>
            <p:cNvPr id="18" name="直接连接符 17"/>
            <p:cNvCxnSpPr/>
            <p:nvPr/>
          </p:nvCxnSpPr>
          <p:spPr>
            <a:xfrm>
              <a:off x="1377" y="1018"/>
              <a:ext cx="16613"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17990"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grpSp>
      <p:sp>
        <p:nvSpPr>
          <p:cNvPr id="20" name="文本框 26"/>
          <p:cNvSpPr txBox="1"/>
          <p:nvPr/>
        </p:nvSpPr>
        <p:spPr>
          <a:xfrm>
            <a:off x="955675" y="321945"/>
            <a:ext cx="5029200" cy="460375"/>
          </a:xfrm>
          <a:prstGeom prst="rect">
            <a:avLst/>
          </a:prstGeom>
          <a:noFill/>
        </p:spPr>
        <p:txBody>
          <a:bodyPr wrap="square" rtlCol="0">
            <a:spAutoFit/>
          </a:bodyPr>
          <a:p>
            <a:r>
              <a:rPr lang="zh-CN" sz="2400" b="1" spc="100">
                <a:solidFill>
                  <a:schemeClr val="accent1"/>
                </a:solidFill>
                <a:latin typeface="微软雅黑" panose="020B0503020204020204" charset="-122"/>
                <a:ea typeface="微软雅黑" panose="020B0503020204020204" charset="-122"/>
                <a:sym typeface="+mn-ea"/>
              </a:rPr>
              <a:t>一、</a:t>
            </a:r>
            <a:r>
              <a:rPr lang="zh-CN" altLang="en-US" sz="2400">
                <a:solidFill>
                  <a:schemeClr val="accent1"/>
                </a:solidFill>
                <a:effectLst>
                  <a:outerShdw blurRad="38100" dist="25400" dir="5400000" algn="ctr" rotWithShape="0">
                    <a:srgbClr val="6E747A">
                      <a:alpha val="43000"/>
                    </a:srgbClr>
                  </a:outerShdw>
                </a:effectLst>
                <a:sym typeface="+mn-ea"/>
              </a:rPr>
              <a:t>下载含有慕测插件的</a:t>
            </a:r>
            <a:r>
              <a:rPr lang="en-US" altLang="zh-CN" sz="2400">
                <a:solidFill>
                  <a:schemeClr val="accent1"/>
                </a:solidFill>
                <a:effectLst>
                  <a:outerShdw blurRad="38100" dist="25400" dir="5400000" algn="ctr" rotWithShape="0">
                    <a:srgbClr val="6E747A">
                      <a:alpha val="43000"/>
                    </a:srgbClr>
                  </a:outerShdw>
                </a:effectLst>
                <a:sym typeface="+mn-ea"/>
              </a:rPr>
              <a:t>Eclipse</a:t>
            </a:r>
            <a:r>
              <a:rPr lang="zh-CN" altLang="en-US" sz="2400">
                <a:solidFill>
                  <a:schemeClr val="accent1"/>
                </a:solidFill>
                <a:effectLst>
                  <a:outerShdw blurRad="38100" dist="25400" dir="5400000" algn="ctr" rotWithShape="0">
                    <a:srgbClr val="6E747A">
                      <a:alpha val="43000"/>
                    </a:srgbClr>
                  </a:outerShdw>
                </a:effectLst>
                <a:sym typeface="+mn-ea"/>
              </a:rPr>
              <a:t>（</a:t>
            </a:r>
            <a:r>
              <a:rPr lang="en-US" altLang="zh-CN" sz="2400">
                <a:solidFill>
                  <a:schemeClr val="accent1"/>
                </a:solidFill>
                <a:effectLst>
                  <a:outerShdw blurRad="38100" dist="25400" dir="5400000" algn="ctr" rotWithShape="0">
                    <a:srgbClr val="6E747A">
                      <a:alpha val="43000"/>
                    </a:srgbClr>
                  </a:outerShdw>
                </a:effectLst>
                <a:sym typeface="+mn-ea"/>
              </a:rPr>
              <a:t>2</a:t>
            </a:r>
            <a:r>
              <a:rPr lang="zh-CN" altLang="en-US" sz="2400">
                <a:solidFill>
                  <a:schemeClr val="accent1"/>
                </a:solidFill>
                <a:effectLst>
                  <a:outerShdw blurRad="38100" dist="25400" dir="5400000" algn="ctr" rotWithShape="0">
                    <a:srgbClr val="6E747A">
                      <a:alpha val="43000"/>
                    </a:srgbClr>
                  </a:outerShdw>
                </a:effectLst>
                <a:sym typeface="+mn-ea"/>
              </a:rPr>
              <a:t>）</a:t>
            </a:r>
            <a:endParaRPr lang="zh-CN" altLang="en-US" sz="2400" b="1" spc="10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sym typeface="+mn-ea"/>
            </a:endParaRPr>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pic>
        <p:nvPicPr>
          <p:cNvPr id="8" name="图片 7" descr="图片1"/>
          <p:cNvPicPr>
            <a:picLocks noChangeAspect="1"/>
          </p:cNvPicPr>
          <p:nvPr/>
        </p:nvPicPr>
        <p:blipFill>
          <a:blip r:embed="rId1"/>
          <a:stretch>
            <a:fillRect/>
          </a:stretch>
        </p:blipFill>
        <p:spPr>
          <a:xfrm>
            <a:off x="-12065" y="0"/>
            <a:ext cx="12192000" cy="6858000"/>
          </a:xfrm>
          <a:prstGeom prst="rect">
            <a:avLst/>
          </a:prstGeom>
        </p:spPr>
      </p:pic>
      <p:sp>
        <p:nvSpPr>
          <p:cNvPr id="3" name="内容占位符 2"/>
          <p:cNvSpPr>
            <a:spLocks noGrp="1"/>
          </p:cNvSpPr>
          <p:nvPr>
            <p:ph idx="1"/>
          </p:nvPr>
        </p:nvSpPr>
        <p:spPr>
          <a:xfrm>
            <a:off x="874395" y="1174750"/>
            <a:ext cx="10515600" cy="1816100"/>
          </a:xfrm>
        </p:spPr>
        <p:txBody>
          <a:bodyPr/>
          <a:p>
            <a:pPr marL="0" algn="l">
              <a:lnSpc>
                <a:spcPct val="150000"/>
              </a:lnSpc>
              <a:buClrTx/>
              <a:buSzTx/>
              <a:buNone/>
            </a:pPr>
            <a:r>
              <a:rPr lang="en-US" altLang="zh-CN" sz="1600">
                <a:sym typeface="+mn-ea"/>
              </a:rPr>
              <a:t>操作流程:</a:t>
            </a:r>
            <a:endParaRPr lang="en-US" altLang="zh-CN" sz="1600"/>
          </a:p>
          <a:p>
            <a:pPr marL="0" algn="l">
              <a:lnSpc>
                <a:spcPct val="150000"/>
              </a:lnSpc>
              <a:buClrTx/>
              <a:buSzTx/>
              <a:buNone/>
            </a:pPr>
            <a:r>
              <a:rPr lang="en-US" altLang="zh-CN" sz="1600"/>
              <a:t>5.运行Eclipse.exe</a:t>
            </a:r>
            <a:endParaRPr lang="en-US" altLang="zh-CN" sz="1600"/>
          </a:p>
          <a:p>
            <a:pPr marL="0" indent="0">
              <a:buNone/>
            </a:pPr>
            <a:endParaRPr lang="en-US" altLang="zh-CN"/>
          </a:p>
        </p:txBody>
      </p:sp>
      <p:pic>
        <p:nvPicPr>
          <p:cNvPr id="4" name="图片 3"/>
          <p:cNvPicPr>
            <a:picLocks noChangeAspect="1"/>
          </p:cNvPicPr>
          <p:nvPr/>
        </p:nvPicPr>
        <p:blipFill>
          <a:blip r:embed="rId2"/>
          <a:stretch>
            <a:fillRect/>
          </a:stretch>
        </p:blipFill>
        <p:spPr>
          <a:xfrm>
            <a:off x="1021080" y="2428875"/>
            <a:ext cx="7204710" cy="4041140"/>
          </a:xfrm>
          <a:prstGeom prst="rect">
            <a:avLst/>
          </a:prstGeom>
        </p:spPr>
      </p:pic>
      <p:grpSp>
        <p:nvGrpSpPr>
          <p:cNvPr id="14" name="组合 13"/>
          <p:cNvGrpSpPr/>
          <p:nvPr/>
        </p:nvGrpSpPr>
        <p:grpSpPr>
          <a:xfrm>
            <a:off x="226695" y="321945"/>
            <a:ext cx="11412855" cy="647700"/>
            <a:chOff x="357" y="168"/>
            <a:chExt cx="17973" cy="1020"/>
          </a:xfrm>
        </p:grpSpPr>
        <p:sp>
          <p:nvSpPr>
            <p:cNvPr id="15" name="矩形 14"/>
            <p:cNvSpPr/>
            <p:nvPr/>
          </p:nvSpPr>
          <p:spPr>
            <a:xfrm>
              <a:off x="357" y="168"/>
              <a:ext cx="340" cy="340"/>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6" name="矩形 15"/>
            <p:cNvSpPr/>
            <p:nvPr/>
          </p:nvSpPr>
          <p:spPr>
            <a:xfrm>
              <a:off x="527" y="394"/>
              <a:ext cx="680" cy="6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7" name="矩形 16"/>
            <p:cNvSpPr/>
            <p:nvPr/>
          </p:nvSpPr>
          <p:spPr>
            <a:xfrm>
              <a:off x="1037"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cxnSp>
          <p:nvCxnSpPr>
            <p:cNvPr id="18" name="直接连接符 17"/>
            <p:cNvCxnSpPr/>
            <p:nvPr/>
          </p:nvCxnSpPr>
          <p:spPr>
            <a:xfrm>
              <a:off x="1377" y="1018"/>
              <a:ext cx="16613"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17990"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grpSp>
      <p:sp>
        <p:nvSpPr>
          <p:cNvPr id="20" name="文本框 26"/>
          <p:cNvSpPr txBox="1"/>
          <p:nvPr/>
        </p:nvSpPr>
        <p:spPr>
          <a:xfrm>
            <a:off x="955675" y="321945"/>
            <a:ext cx="5029200" cy="460375"/>
          </a:xfrm>
          <a:prstGeom prst="rect">
            <a:avLst/>
          </a:prstGeom>
          <a:noFill/>
        </p:spPr>
        <p:txBody>
          <a:bodyPr wrap="square" rtlCol="0">
            <a:spAutoFit/>
          </a:bodyPr>
          <a:p>
            <a:r>
              <a:rPr lang="zh-CN" sz="2400" b="1" spc="100">
                <a:solidFill>
                  <a:schemeClr val="accent1"/>
                </a:solidFill>
                <a:latin typeface="微软雅黑" panose="020B0503020204020204" charset="-122"/>
                <a:ea typeface="微软雅黑" panose="020B0503020204020204" charset="-122"/>
                <a:sym typeface="+mn-ea"/>
              </a:rPr>
              <a:t>一、</a:t>
            </a:r>
            <a:r>
              <a:rPr lang="zh-CN" altLang="en-US" sz="2400">
                <a:solidFill>
                  <a:schemeClr val="accent1"/>
                </a:solidFill>
                <a:effectLst>
                  <a:outerShdw blurRad="38100" dist="25400" dir="5400000" algn="ctr" rotWithShape="0">
                    <a:srgbClr val="6E747A">
                      <a:alpha val="43000"/>
                    </a:srgbClr>
                  </a:outerShdw>
                </a:effectLst>
                <a:sym typeface="+mn-ea"/>
              </a:rPr>
              <a:t>下载含有慕测插件的</a:t>
            </a:r>
            <a:r>
              <a:rPr lang="en-US" altLang="zh-CN" sz="2400">
                <a:solidFill>
                  <a:schemeClr val="accent1"/>
                </a:solidFill>
                <a:effectLst>
                  <a:outerShdw blurRad="38100" dist="25400" dir="5400000" algn="ctr" rotWithShape="0">
                    <a:srgbClr val="6E747A">
                      <a:alpha val="43000"/>
                    </a:srgbClr>
                  </a:outerShdw>
                </a:effectLst>
                <a:sym typeface="+mn-ea"/>
              </a:rPr>
              <a:t>Eclipse</a:t>
            </a:r>
            <a:r>
              <a:rPr lang="zh-CN" altLang="en-US" sz="2400">
                <a:solidFill>
                  <a:schemeClr val="accent1"/>
                </a:solidFill>
                <a:effectLst>
                  <a:outerShdw blurRad="38100" dist="25400" dir="5400000" algn="ctr" rotWithShape="0">
                    <a:srgbClr val="6E747A">
                      <a:alpha val="43000"/>
                    </a:srgbClr>
                  </a:outerShdw>
                </a:effectLst>
                <a:sym typeface="+mn-ea"/>
              </a:rPr>
              <a:t>（</a:t>
            </a:r>
            <a:r>
              <a:rPr lang="en-US" altLang="zh-CN" sz="2400">
                <a:solidFill>
                  <a:schemeClr val="accent1"/>
                </a:solidFill>
                <a:effectLst>
                  <a:outerShdw blurRad="38100" dist="25400" dir="5400000" algn="ctr" rotWithShape="0">
                    <a:srgbClr val="6E747A">
                      <a:alpha val="43000"/>
                    </a:srgbClr>
                  </a:outerShdw>
                </a:effectLst>
                <a:sym typeface="+mn-ea"/>
              </a:rPr>
              <a:t>3</a:t>
            </a:r>
            <a:r>
              <a:rPr lang="zh-CN" altLang="en-US" sz="2400">
                <a:solidFill>
                  <a:schemeClr val="accent1"/>
                </a:solidFill>
                <a:effectLst>
                  <a:outerShdw blurRad="38100" dist="25400" dir="5400000" algn="ctr" rotWithShape="0">
                    <a:srgbClr val="6E747A">
                      <a:alpha val="43000"/>
                    </a:srgbClr>
                  </a:outerShdw>
                </a:effectLst>
                <a:sym typeface="+mn-ea"/>
              </a:rPr>
              <a:t>）</a:t>
            </a:r>
            <a:endParaRPr lang="zh-CN" altLang="en-US" sz="2400" b="1" spc="10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sym typeface="+mn-ea"/>
            </a:endParaRPr>
          </a:p>
        </p:txBody>
      </p:sp>
    </p:spTree>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pic>
        <p:nvPicPr>
          <p:cNvPr id="8" name="图片 7" descr="图片1"/>
          <p:cNvPicPr>
            <a:picLocks noChangeAspect="1"/>
          </p:cNvPicPr>
          <p:nvPr/>
        </p:nvPicPr>
        <p:blipFill>
          <a:blip r:embed="rId1"/>
          <a:stretch>
            <a:fillRect/>
          </a:stretch>
        </p:blipFill>
        <p:spPr>
          <a:xfrm>
            <a:off x="-12065" y="0"/>
            <a:ext cx="12192000" cy="6858000"/>
          </a:xfrm>
          <a:prstGeom prst="rect">
            <a:avLst/>
          </a:prstGeom>
        </p:spPr>
      </p:pic>
      <p:sp>
        <p:nvSpPr>
          <p:cNvPr id="3" name="内容占位符 2"/>
          <p:cNvSpPr>
            <a:spLocks noGrp="1"/>
          </p:cNvSpPr>
          <p:nvPr>
            <p:ph idx="1"/>
          </p:nvPr>
        </p:nvSpPr>
        <p:spPr>
          <a:xfrm>
            <a:off x="838200" y="1487170"/>
            <a:ext cx="10515600" cy="1010920"/>
          </a:xfrm>
        </p:spPr>
        <p:txBody>
          <a:bodyPr/>
          <a:p>
            <a:pPr marL="0" algn="l">
              <a:lnSpc>
                <a:spcPct val="150000"/>
              </a:lnSpc>
              <a:buClrTx/>
              <a:buSzTx/>
              <a:buNone/>
            </a:pPr>
            <a:r>
              <a:rPr lang="en-US" altLang="zh-CN" sz="1600">
                <a:sym typeface="+mn-ea"/>
              </a:rPr>
              <a:t>操作流程:</a:t>
            </a:r>
            <a:endParaRPr lang="en-US" altLang="zh-CN" sz="1600"/>
          </a:p>
          <a:p>
            <a:pPr marL="0" algn="l">
              <a:lnSpc>
                <a:spcPct val="150000"/>
              </a:lnSpc>
              <a:buClrTx/>
              <a:buSzTx/>
              <a:buNone/>
            </a:pPr>
            <a:r>
              <a:rPr lang="en-US" altLang="zh-CN" sz="1600">
                <a:sym typeface="+mn-ea"/>
              </a:rPr>
              <a:t>6.选择项目默认路径</a:t>
            </a:r>
            <a:endParaRPr lang="en-US" altLang="zh-CN" sz="1600"/>
          </a:p>
          <a:p>
            <a:pPr marL="0" indent="0">
              <a:buNone/>
            </a:pPr>
            <a:endParaRPr lang="zh-CN" altLang="en-US"/>
          </a:p>
        </p:txBody>
      </p:sp>
      <p:pic>
        <p:nvPicPr>
          <p:cNvPr id="4" name="图片 3"/>
          <p:cNvPicPr>
            <a:picLocks noChangeAspect="1"/>
          </p:cNvPicPr>
          <p:nvPr/>
        </p:nvPicPr>
        <p:blipFill>
          <a:blip r:embed="rId2"/>
          <a:stretch>
            <a:fillRect/>
          </a:stretch>
        </p:blipFill>
        <p:spPr>
          <a:xfrm>
            <a:off x="955675" y="3123565"/>
            <a:ext cx="5989320" cy="3001645"/>
          </a:xfrm>
          <a:prstGeom prst="rect">
            <a:avLst/>
          </a:prstGeom>
        </p:spPr>
      </p:pic>
      <p:grpSp>
        <p:nvGrpSpPr>
          <p:cNvPr id="14" name="组合 13"/>
          <p:cNvGrpSpPr/>
          <p:nvPr/>
        </p:nvGrpSpPr>
        <p:grpSpPr>
          <a:xfrm>
            <a:off x="226695" y="321945"/>
            <a:ext cx="11412855" cy="647700"/>
            <a:chOff x="357" y="168"/>
            <a:chExt cx="17973" cy="1020"/>
          </a:xfrm>
        </p:grpSpPr>
        <p:sp>
          <p:nvSpPr>
            <p:cNvPr id="15" name="矩形 14"/>
            <p:cNvSpPr/>
            <p:nvPr/>
          </p:nvSpPr>
          <p:spPr>
            <a:xfrm>
              <a:off x="357" y="168"/>
              <a:ext cx="340" cy="340"/>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6" name="矩形 15"/>
            <p:cNvSpPr/>
            <p:nvPr/>
          </p:nvSpPr>
          <p:spPr>
            <a:xfrm>
              <a:off x="527" y="394"/>
              <a:ext cx="680" cy="6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7" name="矩形 16"/>
            <p:cNvSpPr/>
            <p:nvPr/>
          </p:nvSpPr>
          <p:spPr>
            <a:xfrm>
              <a:off x="1037"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cxnSp>
          <p:nvCxnSpPr>
            <p:cNvPr id="18" name="直接连接符 17"/>
            <p:cNvCxnSpPr/>
            <p:nvPr/>
          </p:nvCxnSpPr>
          <p:spPr>
            <a:xfrm>
              <a:off x="1377" y="1018"/>
              <a:ext cx="16613"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17990"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grpSp>
      <p:sp>
        <p:nvSpPr>
          <p:cNvPr id="20" name="文本框 26"/>
          <p:cNvSpPr txBox="1"/>
          <p:nvPr/>
        </p:nvSpPr>
        <p:spPr>
          <a:xfrm>
            <a:off x="955675" y="321945"/>
            <a:ext cx="5029200" cy="460375"/>
          </a:xfrm>
          <a:prstGeom prst="rect">
            <a:avLst/>
          </a:prstGeom>
          <a:noFill/>
        </p:spPr>
        <p:txBody>
          <a:bodyPr wrap="square" rtlCol="0">
            <a:spAutoFit/>
          </a:bodyPr>
          <a:p>
            <a:r>
              <a:rPr lang="zh-CN" sz="2400" b="1" spc="100">
                <a:solidFill>
                  <a:schemeClr val="accent1"/>
                </a:solidFill>
                <a:latin typeface="微软雅黑" panose="020B0503020204020204" charset="-122"/>
                <a:ea typeface="微软雅黑" panose="020B0503020204020204" charset="-122"/>
                <a:sym typeface="+mn-ea"/>
              </a:rPr>
              <a:t>一、</a:t>
            </a:r>
            <a:r>
              <a:rPr lang="zh-CN" altLang="en-US" sz="2400">
                <a:solidFill>
                  <a:schemeClr val="accent1"/>
                </a:solidFill>
                <a:effectLst>
                  <a:outerShdw blurRad="38100" dist="25400" dir="5400000" algn="ctr" rotWithShape="0">
                    <a:srgbClr val="6E747A">
                      <a:alpha val="43000"/>
                    </a:srgbClr>
                  </a:outerShdw>
                </a:effectLst>
                <a:sym typeface="+mn-ea"/>
              </a:rPr>
              <a:t>下载含有慕测插件的</a:t>
            </a:r>
            <a:r>
              <a:rPr lang="en-US" altLang="zh-CN" sz="2400">
                <a:solidFill>
                  <a:schemeClr val="accent1"/>
                </a:solidFill>
                <a:effectLst>
                  <a:outerShdw blurRad="38100" dist="25400" dir="5400000" algn="ctr" rotWithShape="0">
                    <a:srgbClr val="6E747A">
                      <a:alpha val="43000"/>
                    </a:srgbClr>
                  </a:outerShdw>
                </a:effectLst>
                <a:sym typeface="+mn-ea"/>
              </a:rPr>
              <a:t>Eclipse</a:t>
            </a:r>
            <a:r>
              <a:rPr lang="zh-CN" altLang="en-US" sz="2400">
                <a:solidFill>
                  <a:schemeClr val="accent1"/>
                </a:solidFill>
                <a:effectLst>
                  <a:outerShdw blurRad="38100" dist="25400" dir="5400000" algn="ctr" rotWithShape="0">
                    <a:srgbClr val="6E747A">
                      <a:alpha val="43000"/>
                    </a:srgbClr>
                  </a:outerShdw>
                </a:effectLst>
                <a:sym typeface="+mn-ea"/>
              </a:rPr>
              <a:t>（</a:t>
            </a:r>
            <a:r>
              <a:rPr lang="en-US" altLang="zh-CN" sz="2400">
                <a:solidFill>
                  <a:schemeClr val="accent1"/>
                </a:solidFill>
                <a:effectLst>
                  <a:outerShdw blurRad="38100" dist="25400" dir="5400000" algn="ctr" rotWithShape="0">
                    <a:srgbClr val="6E747A">
                      <a:alpha val="43000"/>
                    </a:srgbClr>
                  </a:outerShdw>
                </a:effectLst>
                <a:sym typeface="+mn-ea"/>
              </a:rPr>
              <a:t>4</a:t>
            </a:r>
            <a:r>
              <a:rPr lang="zh-CN" altLang="en-US" sz="2400">
                <a:solidFill>
                  <a:schemeClr val="accent1"/>
                </a:solidFill>
                <a:effectLst>
                  <a:outerShdw blurRad="38100" dist="25400" dir="5400000" algn="ctr" rotWithShape="0">
                    <a:srgbClr val="6E747A">
                      <a:alpha val="43000"/>
                    </a:srgbClr>
                  </a:outerShdw>
                </a:effectLst>
                <a:sym typeface="+mn-ea"/>
              </a:rPr>
              <a:t>）</a:t>
            </a:r>
            <a:endParaRPr lang="zh-CN" altLang="en-US" sz="2400" b="1" spc="10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sym typeface="+mn-ea"/>
            </a:endParaRPr>
          </a:p>
        </p:txBody>
      </p:sp>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pic>
        <p:nvPicPr>
          <p:cNvPr id="8" name="图片 7" descr="图片1"/>
          <p:cNvPicPr>
            <a:picLocks noChangeAspect="1"/>
          </p:cNvPicPr>
          <p:nvPr/>
        </p:nvPicPr>
        <p:blipFill>
          <a:blip r:embed="rId1"/>
          <a:stretch>
            <a:fillRect/>
          </a:stretch>
        </p:blipFill>
        <p:spPr>
          <a:xfrm>
            <a:off x="-12065" y="0"/>
            <a:ext cx="12192000" cy="6858000"/>
          </a:xfrm>
          <a:prstGeom prst="rect">
            <a:avLst/>
          </a:prstGeom>
        </p:spPr>
      </p:pic>
      <p:pic>
        <p:nvPicPr>
          <p:cNvPr id="4" name="图片 3"/>
          <p:cNvPicPr>
            <a:picLocks noChangeAspect="1"/>
          </p:cNvPicPr>
          <p:nvPr/>
        </p:nvPicPr>
        <p:blipFill>
          <a:blip r:embed="rId2"/>
          <a:stretch>
            <a:fillRect/>
          </a:stretch>
        </p:blipFill>
        <p:spPr>
          <a:xfrm>
            <a:off x="1377950" y="1116330"/>
            <a:ext cx="9145270" cy="5634990"/>
          </a:xfrm>
          <a:prstGeom prst="rect">
            <a:avLst/>
          </a:prstGeom>
        </p:spPr>
      </p:pic>
      <p:grpSp>
        <p:nvGrpSpPr>
          <p:cNvPr id="14" name="组合 13"/>
          <p:cNvGrpSpPr/>
          <p:nvPr/>
        </p:nvGrpSpPr>
        <p:grpSpPr>
          <a:xfrm>
            <a:off x="226695" y="321945"/>
            <a:ext cx="11412855" cy="647700"/>
            <a:chOff x="357" y="168"/>
            <a:chExt cx="17973" cy="1020"/>
          </a:xfrm>
        </p:grpSpPr>
        <p:sp>
          <p:nvSpPr>
            <p:cNvPr id="15" name="矩形 14"/>
            <p:cNvSpPr/>
            <p:nvPr/>
          </p:nvSpPr>
          <p:spPr>
            <a:xfrm>
              <a:off x="357" y="168"/>
              <a:ext cx="340" cy="340"/>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6" name="矩形 15"/>
            <p:cNvSpPr/>
            <p:nvPr/>
          </p:nvSpPr>
          <p:spPr>
            <a:xfrm>
              <a:off x="527" y="394"/>
              <a:ext cx="680" cy="6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7" name="矩形 16"/>
            <p:cNvSpPr/>
            <p:nvPr/>
          </p:nvSpPr>
          <p:spPr>
            <a:xfrm>
              <a:off x="1037"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cxnSp>
          <p:nvCxnSpPr>
            <p:cNvPr id="18" name="直接连接符 17"/>
            <p:cNvCxnSpPr/>
            <p:nvPr/>
          </p:nvCxnSpPr>
          <p:spPr>
            <a:xfrm>
              <a:off x="1377" y="1018"/>
              <a:ext cx="16613"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17990"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grpSp>
      <p:sp>
        <p:nvSpPr>
          <p:cNvPr id="20" name="文本框 26"/>
          <p:cNvSpPr txBox="1"/>
          <p:nvPr/>
        </p:nvSpPr>
        <p:spPr>
          <a:xfrm>
            <a:off x="955675" y="321945"/>
            <a:ext cx="5029200" cy="460375"/>
          </a:xfrm>
          <a:prstGeom prst="rect">
            <a:avLst/>
          </a:prstGeom>
          <a:noFill/>
        </p:spPr>
        <p:txBody>
          <a:bodyPr wrap="square" rtlCol="0">
            <a:spAutoFit/>
          </a:bodyPr>
          <a:p>
            <a:r>
              <a:rPr lang="zh-CN" sz="2400" b="1" spc="100">
                <a:solidFill>
                  <a:schemeClr val="accent1"/>
                </a:solidFill>
                <a:latin typeface="微软雅黑" panose="020B0503020204020204" charset="-122"/>
                <a:ea typeface="微软雅黑" panose="020B0503020204020204" charset="-122"/>
                <a:sym typeface="+mn-ea"/>
              </a:rPr>
              <a:t>一、</a:t>
            </a:r>
            <a:r>
              <a:rPr lang="zh-CN" altLang="en-US" sz="2400">
                <a:solidFill>
                  <a:schemeClr val="accent1"/>
                </a:solidFill>
                <a:effectLst>
                  <a:outerShdw blurRad="38100" dist="25400" dir="5400000" algn="ctr" rotWithShape="0">
                    <a:srgbClr val="6E747A">
                      <a:alpha val="43000"/>
                    </a:srgbClr>
                  </a:outerShdw>
                </a:effectLst>
                <a:sym typeface="+mn-ea"/>
              </a:rPr>
              <a:t>下载含有慕测插件的</a:t>
            </a:r>
            <a:r>
              <a:rPr lang="en-US" altLang="zh-CN" sz="2400">
                <a:solidFill>
                  <a:schemeClr val="accent1"/>
                </a:solidFill>
                <a:effectLst>
                  <a:outerShdw blurRad="38100" dist="25400" dir="5400000" algn="ctr" rotWithShape="0">
                    <a:srgbClr val="6E747A">
                      <a:alpha val="43000"/>
                    </a:srgbClr>
                  </a:outerShdw>
                </a:effectLst>
                <a:sym typeface="+mn-ea"/>
              </a:rPr>
              <a:t>Eclipse</a:t>
            </a:r>
            <a:r>
              <a:rPr lang="zh-CN" altLang="en-US" sz="2400">
                <a:solidFill>
                  <a:schemeClr val="accent1"/>
                </a:solidFill>
                <a:effectLst>
                  <a:outerShdw blurRad="38100" dist="25400" dir="5400000" algn="ctr" rotWithShape="0">
                    <a:srgbClr val="6E747A">
                      <a:alpha val="43000"/>
                    </a:srgbClr>
                  </a:outerShdw>
                </a:effectLst>
                <a:sym typeface="+mn-ea"/>
              </a:rPr>
              <a:t>（</a:t>
            </a:r>
            <a:r>
              <a:rPr lang="en-US" altLang="zh-CN" sz="2400">
                <a:solidFill>
                  <a:schemeClr val="accent1"/>
                </a:solidFill>
                <a:effectLst>
                  <a:outerShdw blurRad="38100" dist="25400" dir="5400000" algn="ctr" rotWithShape="0">
                    <a:srgbClr val="6E747A">
                      <a:alpha val="43000"/>
                    </a:srgbClr>
                  </a:outerShdw>
                </a:effectLst>
                <a:sym typeface="+mn-ea"/>
              </a:rPr>
              <a:t>5</a:t>
            </a:r>
            <a:r>
              <a:rPr lang="zh-CN" altLang="en-US" sz="2400">
                <a:solidFill>
                  <a:schemeClr val="accent1"/>
                </a:solidFill>
                <a:effectLst>
                  <a:outerShdw blurRad="38100" dist="25400" dir="5400000" algn="ctr" rotWithShape="0">
                    <a:srgbClr val="6E747A">
                      <a:alpha val="43000"/>
                    </a:srgbClr>
                  </a:outerShdw>
                </a:effectLst>
                <a:sym typeface="+mn-ea"/>
              </a:rPr>
              <a:t>）</a:t>
            </a:r>
            <a:endParaRPr lang="zh-CN" altLang="en-US" sz="2400" b="1" spc="10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sym typeface="+mn-ea"/>
            </a:endParaRPr>
          </a:p>
        </p:txBody>
      </p:sp>
    </p:spTree>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pic>
        <p:nvPicPr>
          <p:cNvPr id="8" name="图片 7" descr="图片1"/>
          <p:cNvPicPr>
            <a:picLocks noChangeAspect="1"/>
          </p:cNvPicPr>
          <p:nvPr/>
        </p:nvPicPr>
        <p:blipFill>
          <a:blip r:embed="rId1"/>
          <a:stretch>
            <a:fillRect/>
          </a:stretch>
        </p:blipFill>
        <p:spPr>
          <a:xfrm>
            <a:off x="-12065" y="0"/>
            <a:ext cx="12192000" cy="6858000"/>
          </a:xfrm>
          <a:prstGeom prst="rect">
            <a:avLst/>
          </a:prstGeom>
        </p:spPr>
      </p:pic>
      <p:sp>
        <p:nvSpPr>
          <p:cNvPr id="4" name="文本框 3"/>
          <p:cNvSpPr txBox="1"/>
          <p:nvPr/>
        </p:nvSpPr>
        <p:spPr>
          <a:xfrm>
            <a:off x="559435" y="1158875"/>
            <a:ext cx="5323840" cy="5201920"/>
          </a:xfrm>
          <a:prstGeom prst="rect">
            <a:avLst/>
          </a:prstGeom>
          <a:noFill/>
        </p:spPr>
        <p:txBody>
          <a:bodyPr wrap="square" rtlCol="0" anchor="t">
            <a:noAutofit/>
          </a:bodyPr>
          <a:p>
            <a:pPr marL="0" algn="l">
              <a:lnSpc>
                <a:spcPct val="150000"/>
              </a:lnSpc>
              <a:buClrTx/>
              <a:buSzTx/>
              <a:buNone/>
            </a:pPr>
            <a:r>
              <a:rPr lang="zh-CN" altLang="en-US" sz="1600">
                <a:sym typeface="+mn-ea"/>
              </a:rPr>
              <a:t>操作流程:</a:t>
            </a:r>
            <a:endParaRPr lang="zh-CN" altLang="en-US" sz="1600">
              <a:sym typeface="+mn-ea"/>
            </a:endParaRPr>
          </a:p>
          <a:p>
            <a:pPr marL="0" algn="l">
              <a:lnSpc>
                <a:spcPct val="150000"/>
              </a:lnSpc>
              <a:buClrTx/>
              <a:buSzTx/>
              <a:buNone/>
            </a:pPr>
            <a:r>
              <a:rPr lang="zh-CN" altLang="en-US" sz="1600">
                <a:sym typeface="+mn-ea"/>
              </a:rPr>
              <a:t>1.下载并安装java的JDK(要求1.8版本)</a:t>
            </a:r>
            <a:endParaRPr lang="zh-CN" altLang="en-US" sz="1600">
              <a:sym typeface="+mn-ea"/>
            </a:endParaRPr>
          </a:p>
          <a:p>
            <a:pPr marL="0" algn="l">
              <a:lnSpc>
                <a:spcPct val="150000"/>
              </a:lnSpc>
              <a:buClrTx/>
              <a:buSzTx/>
              <a:buNone/>
            </a:pPr>
            <a:r>
              <a:rPr lang="zh-CN" altLang="en-US" sz="1600">
                <a:sym typeface="+mn-ea"/>
              </a:rPr>
              <a:t>2.配置环境变量(此处不在做详细讲解)可以参考https://blog.csdn.net/Myx74270512/article/details/130413317</a:t>
            </a:r>
            <a:endParaRPr lang="zh-CN" altLang="en-US" sz="1600">
              <a:sym typeface="+mn-ea"/>
            </a:endParaRPr>
          </a:p>
          <a:p>
            <a:pPr marL="0" algn="l">
              <a:lnSpc>
                <a:spcPct val="150000"/>
              </a:lnSpc>
              <a:buClrTx/>
              <a:buSzTx/>
              <a:buNone/>
            </a:pPr>
            <a:r>
              <a:rPr lang="zh-CN" altLang="en-US" sz="1600">
                <a:sym typeface="+mn-ea"/>
              </a:rPr>
              <a:t>3.使用java -version、java、javac等命令验证是否配置成功</a:t>
            </a:r>
            <a:endParaRPr lang="zh-CN" altLang="en-US" sz="1600">
              <a:sym typeface="+mn-ea"/>
            </a:endParaRPr>
          </a:p>
        </p:txBody>
      </p:sp>
      <p:pic>
        <p:nvPicPr>
          <p:cNvPr id="5" name="图片 4"/>
          <p:cNvPicPr>
            <a:picLocks noChangeAspect="1"/>
          </p:cNvPicPr>
          <p:nvPr/>
        </p:nvPicPr>
        <p:blipFill>
          <a:blip r:embed="rId2"/>
          <a:stretch>
            <a:fillRect/>
          </a:stretch>
        </p:blipFill>
        <p:spPr>
          <a:xfrm>
            <a:off x="6654165" y="1549400"/>
            <a:ext cx="4390390" cy="4286885"/>
          </a:xfrm>
          <a:prstGeom prst="rect">
            <a:avLst/>
          </a:prstGeom>
        </p:spPr>
      </p:pic>
      <p:grpSp>
        <p:nvGrpSpPr>
          <p:cNvPr id="14" name="组合 13"/>
          <p:cNvGrpSpPr/>
          <p:nvPr/>
        </p:nvGrpSpPr>
        <p:grpSpPr>
          <a:xfrm>
            <a:off x="207645" y="331470"/>
            <a:ext cx="11412855" cy="647700"/>
            <a:chOff x="357" y="168"/>
            <a:chExt cx="17973" cy="1020"/>
          </a:xfrm>
        </p:grpSpPr>
        <p:sp>
          <p:nvSpPr>
            <p:cNvPr id="15" name="矩形 14"/>
            <p:cNvSpPr/>
            <p:nvPr/>
          </p:nvSpPr>
          <p:spPr>
            <a:xfrm>
              <a:off x="357" y="168"/>
              <a:ext cx="340" cy="340"/>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6" name="矩形 15"/>
            <p:cNvSpPr/>
            <p:nvPr/>
          </p:nvSpPr>
          <p:spPr>
            <a:xfrm>
              <a:off x="527" y="394"/>
              <a:ext cx="680" cy="6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7" name="矩形 16"/>
            <p:cNvSpPr/>
            <p:nvPr/>
          </p:nvSpPr>
          <p:spPr>
            <a:xfrm>
              <a:off x="1037"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cxnSp>
          <p:nvCxnSpPr>
            <p:cNvPr id="18" name="直接连接符 17"/>
            <p:cNvCxnSpPr/>
            <p:nvPr/>
          </p:nvCxnSpPr>
          <p:spPr>
            <a:xfrm>
              <a:off x="1377" y="1018"/>
              <a:ext cx="16613"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17990"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grpSp>
      <p:sp>
        <p:nvSpPr>
          <p:cNvPr id="20" name="文本框 26"/>
          <p:cNvSpPr txBox="1"/>
          <p:nvPr/>
        </p:nvSpPr>
        <p:spPr>
          <a:xfrm>
            <a:off x="936625" y="331470"/>
            <a:ext cx="7374890" cy="460375"/>
          </a:xfrm>
          <a:prstGeom prst="rect">
            <a:avLst/>
          </a:prstGeom>
          <a:noFill/>
        </p:spPr>
        <p:txBody>
          <a:bodyPr wrap="square" rtlCol="0">
            <a:spAutoFit/>
          </a:bodyPr>
          <a:p>
            <a:r>
              <a:rPr lang="zh-CN" sz="2400" b="1" spc="100">
                <a:solidFill>
                  <a:schemeClr val="accent1"/>
                </a:solidFill>
                <a:latin typeface="微软雅黑" panose="020B0503020204020204" charset="-122"/>
                <a:ea typeface="微软雅黑" panose="020B0503020204020204" charset="-122"/>
                <a:sym typeface="+mn-ea"/>
              </a:rPr>
              <a:t>二、配置自动化操作流程工具</a:t>
            </a:r>
            <a:r>
              <a:rPr lang="en-US" altLang="zh-CN" sz="2400" b="1" spc="100">
                <a:solidFill>
                  <a:schemeClr val="accent1"/>
                </a:solidFill>
                <a:latin typeface="微软雅黑" panose="020B0503020204020204" charset="-122"/>
                <a:ea typeface="微软雅黑" panose="020B0503020204020204" charset="-122"/>
                <a:sym typeface="+mn-ea"/>
              </a:rPr>
              <a:t>Selenium</a:t>
            </a:r>
            <a:r>
              <a:rPr lang="zh-CN" altLang="en-US" sz="2400">
                <a:solidFill>
                  <a:schemeClr val="accent1"/>
                </a:solidFill>
                <a:effectLst>
                  <a:outerShdw blurRad="38100" dist="25400" dir="5400000" algn="ctr" rotWithShape="0">
                    <a:srgbClr val="6E747A">
                      <a:alpha val="43000"/>
                    </a:srgbClr>
                  </a:outerShdw>
                </a:effectLst>
                <a:sym typeface="+mn-ea"/>
              </a:rPr>
              <a:t>（</a:t>
            </a:r>
            <a:r>
              <a:rPr lang="en-US" altLang="zh-CN" sz="2400">
                <a:solidFill>
                  <a:schemeClr val="accent1"/>
                </a:solidFill>
                <a:effectLst>
                  <a:outerShdw blurRad="38100" dist="25400" dir="5400000" algn="ctr" rotWithShape="0">
                    <a:srgbClr val="6E747A">
                      <a:alpha val="43000"/>
                    </a:srgbClr>
                  </a:outerShdw>
                </a:effectLst>
                <a:sym typeface="+mn-ea"/>
              </a:rPr>
              <a:t>1</a:t>
            </a:r>
            <a:r>
              <a:rPr lang="zh-CN" altLang="en-US" sz="2400">
                <a:solidFill>
                  <a:schemeClr val="accent1"/>
                </a:solidFill>
                <a:effectLst>
                  <a:outerShdw blurRad="38100" dist="25400" dir="5400000" algn="ctr" rotWithShape="0">
                    <a:srgbClr val="6E747A">
                      <a:alpha val="43000"/>
                    </a:srgbClr>
                  </a:outerShdw>
                </a:effectLst>
                <a:sym typeface="+mn-ea"/>
              </a:rPr>
              <a:t>）</a:t>
            </a:r>
            <a:endParaRPr lang="zh-CN" altLang="en-US" sz="2400" b="1" spc="10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sym typeface="+mn-ea"/>
            </a:endParaRPr>
          </a:p>
        </p:txBody>
      </p:sp>
    </p:spTree>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图片 7" descr="图片1"/>
          <p:cNvPicPr>
            <a:picLocks noChangeAspect="1"/>
          </p:cNvPicPr>
          <p:nvPr/>
        </p:nvPicPr>
        <p:blipFill>
          <a:blip r:embed="rId1"/>
          <a:stretch>
            <a:fillRect/>
          </a:stretch>
        </p:blipFill>
        <p:spPr>
          <a:xfrm>
            <a:off x="-12065" y="0"/>
            <a:ext cx="12192000" cy="6858000"/>
          </a:xfrm>
          <a:prstGeom prst="rect">
            <a:avLst/>
          </a:prstGeom>
        </p:spPr>
      </p:pic>
      <p:sp>
        <p:nvSpPr>
          <p:cNvPr id="3" name="内容占位符 2"/>
          <p:cNvSpPr>
            <a:spLocks noGrp="1"/>
          </p:cNvSpPr>
          <p:nvPr>
            <p:ph idx="1"/>
          </p:nvPr>
        </p:nvSpPr>
        <p:spPr>
          <a:xfrm>
            <a:off x="936625" y="993775"/>
            <a:ext cx="10515600" cy="2328545"/>
          </a:xfrm>
        </p:spPr>
        <p:txBody>
          <a:bodyPr/>
          <a:p>
            <a:pPr marL="0" algn="l">
              <a:lnSpc>
                <a:spcPct val="150000"/>
              </a:lnSpc>
              <a:buClrTx/>
              <a:buSzTx/>
              <a:buFontTx/>
              <a:buNone/>
            </a:pPr>
            <a:r>
              <a:rPr lang="zh-CN" altLang="en-US" sz="1600"/>
              <a:t>操作流程:</a:t>
            </a:r>
            <a:endParaRPr lang="zh-CN" altLang="en-US" sz="1600"/>
          </a:p>
          <a:p>
            <a:pPr marL="0" algn="l">
              <a:lnSpc>
                <a:spcPct val="150000"/>
              </a:lnSpc>
              <a:buClrTx/>
              <a:buSzTx/>
              <a:buFontTx/>
              <a:buNone/>
            </a:pPr>
            <a:r>
              <a:rPr lang="zh-CN" altLang="en-US" sz="1600"/>
              <a:t>4.下载selenium,http://selenium-release.storage.googleapis.com/3.9/selenium-server-standalone-3.9.1.jar</a:t>
            </a:r>
            <a:endParaRPr lang="zh-CN" altLang="en-US" sz="1600"/>
          </a:p>
          <a:p>
            <a:pPr marL="0" algn="l">
              <a:lnSpc>
                <a:spcPct val="150000"/>
              </a:lnSpc>
              <a:buClrTx/>
              <a:buSzTx/>
              <a:buFontTx/>
              <a:buNone/>
            </a:pPr>
            <a:r>
              <a:rPr lang="zh-CN" altLang="en-US" sz="1600">
                <a:solidFill>
                  <a:schemeClr val="tx1"/>
                </a:solidFill>
              </a:rPr>
              <a:t>5.将下载的selenium.jar重命名为selenium-standalone.jar并复制到</a:t>
            </a:r>
            <a:r>
              <a:rPr lang="zh-CN" altLang="en-US" sz="1600"/>
              <a:t>mooctest文件夹下（</a:t>
            </a:r>
            <a:r>
              <a:rPr lang="zh-CN" altLang="en-US" sz="1600">
                <a:solidFill>
                  <a:schemeClr val="tx1"/>
                </a:solidFill>
              </a:rPr>
              <a:t>下载了含有慕测插件的eclipse就会出现）</a:t>
            </a:r>
            <a:endParaRPr lang="zh-CN" altLang="en-US" sz="1600">
              <a:solidFill>
                <a:schemeClr val="tx1"/>
              </a:solidFill>
            </a:endParaRPr>
          </a:p>
          <a:p>
            <a:pPr marL="0" algn="l">
              <a:lnSpc>
                <a:spcPct val="150000"/>
              </a:lnSpc>
              <a:buClrTx/>
              <a:buSzTx/>
              <a:buFontTx/>
              <a:buNone/>
            </a:pPr>
            <a:r>
              <a:rPr lang="zh-CN" altLang="en-US" sz="1600"/>
              <a:t>注:</a:t>
            </a:r>
            <a:r>
              <a:rPr lang="zh-CN" altLang="en-US" sz="1600">
                <a:solidFill>
                  <a:srgbClr val="FF0000"/>
                </a:solidFill>
              </a:rPr>
              <a:t>Windows放在C:\mooctest,Mac OS放在/User/用户名/mooctest</a:t>
            </a:r>
            <a:endParaRPr lang="zh-CN" altLang="en-US" sz="1600"/>
          </a:p>
          <a:p>
            <a:pPr marL="0" algn="l">
              <a:lnSpc>
                <a:spcPct val="100000"/>
              </a:lnSpc>
              <a:buClrTx/>
              <a:buSzTx/>
              <a:buFontTx/>
              <a:buNone/>
            </a:pPr>
            <a:endParaRPr lang="en-US" altLang="zh-CN" sz="2000">
              <a:solidFill>
                <a:schemeClr val="accent6"/>
              </a:solidFill>
            </a:endParaRPr>
          </a:p>
        </p:txBody>
      </p:sp>
      <p:pic>
        <p:nvPicPr>
          <p:cNvPr id="4" name="图片 3"/>
          <p:cNvPicPr>
            <a:picLocks noChangeAspect="1"/>
          </p:cNvPicPr>
          <p:nvPr/>
        </p:nvPicPr>
        <p:blipFill>
          <a:blip r:embed="rId2"/>
          <a:stretch>
            <a:fillRect/>
          </a:stretch>
        </p:blipFill>
        <p:spPr>
          <a:xfrm>
            <a:off x="77470" y="4929505"/>
            <a:ext cx="2514600" cy="495300"/>
          </a:xfrm>
          <a:prstGeom prst="rect">
            <a:avLst/>
          </a:prstGeom>
        </p:spPr>
      </p:pic>
      <p:pic>
        <p:nvPicPr>
          <p:cNvPr id="5" name="图片 4"/>
          <p:cNvPicPr>
            <a:picLocks noChangeAspect="1"/>
          </p:cNvPicPr>
          <p:nvPr/>
        </p:nvPicPr>
        <p:blipFill>
          <a:blip r:embed="rId3"/>
          <a:stretch>
            <a:fillRect/>
          </a:stretch>
        </p:blipFill>
        <p:spPr>
          <a:xfrm>
            <a:off x="2819400" y="3322320"/>
            <a:ext cx="8585200" cy="3365500"/>
          </a:xfrm>
          <a:prstGeom prst="rect">
            <a:avLst/>
          </a:prstGeom>
        </p:spPr>
      </p:pic>
      <p:grpSp>
        <p:nvGrpSpPr>
          <p:cNvPr id="14" name="组合 13"/>
          <p:cNvGrpSpPr/>
          <p:nvPr/>
        </p:nvGrpSpPr>
        <p:grpSpPr>
          <a:xfrm>
            <a:off x="207645" y="331470"/>
            <a:ext cx="11412855" cy="647700"/>
            <a:chOff x="357" y="168"/>
            <a:chExt cx="17973" cy="1020"/>
          </a:xfrm>
        </p:grpSpPr>
        <p:sp>
          <p:nvSpPr>
            <p:cNvPr id="15" name="矩形 14"/>
            <p:cNvSpPr/>
            <p:nvPr/>
          </p:nvSpPr>
          <p:spPr>
            <a:xfrm>
              <a:off x="357" y="168"/>
              <a:ext cx="340" cy="340"/>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6" name="矩形 15"/>
            <p:cNvSpPr/>
            <p:nvPr/>
          </p:nvSpPr>
          <p:spPr>
            <a:xfrm>
              <a:off x="527" y="394"/>
              <a:ext cx="680" cy="6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7" name="矩形 16"/>
            <p:cNvSpPr/>
            <p:nvPr/>
          </p:nvSpPr>
          <p:spPr>
            <a:xfrm>
              <a:off x="1037"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cxnSp>
          <p:nvCxnSpPr>
            <p:cNvPr id="18" name="直接连接符 17"/>
            <p:cNvCxnSpPr/>
            <p:nvPr/>
          </p:nvCxnSpPr>
          <p:spPr>
            <a:xfrm>
              <a:off x="1377" y="1018"/>
              <a:ext cx="16613"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17990"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grpSp>
      <p:sp>
        <p:nvSpPr>
          <p:cNvPr id="20" name="文本框 26"/>
          <p:cNvSpPr txBox="1"/>
          <p:nvPr/>
        </p:nvSpPr>
        <p:spPr>
          <a:xfrm>
            <a:off x="936625" y="331470"/>
            <a:ext cx="7374890" cy="460375"/>
          </a:xfrm>
          <a:prstGeom prst="rect">
            <a:avLst/>
          </a:prstGeom>
          <a:noFill/>
        </p:spPr>
        <p:txBody>
          <a:bodyPr wrap="square" rtlCol="0">
            <a:spAutoFit/>
          </a:bodyPr>
          <a:p>
            <a:r>
              <a:rPr lang="zh-CN" sz="2400" b="1" spc="100">
                <a:solidFill>
                  <a:schemeClr val="accent1"/>
                </a:solidFill>
                <a:latin typeface="微软雅黑" panose="020B0503020204020204" charset="-122"/>
                <a:ea typeface="微软雅黑" panose="020B0503020204020204" charset="-122"/>
                <a:sym typeface="+mn-ea"/>
              </a:rPr>
              <a:t>二、配置自动化操作流程工具</a:t>
            </a:r>
            <a:r>
              <a:rPr lang="en-US" altLang="zh-CN" sz="2400" b="1" spc="100">
                <a:solidFill>
                  <a:schemeClr val="accent1"/>
                </a:solidFill>
                <a:latin typeface="微软雅黑" panose="020B0503020204020204" charset="-122"/>
                <a:ea typeface="微软雅黑" panose="020B0503020204020204" charset="-122"/>
                <a:sym typeface="+mn-ea"/>
              </a:rPr>
              <a:t>Selenium</a:t>
            </a:r>
            <a:r>
              <a:rPr lang="zh-CN" altLang="en-US" sz="2400">
                <a:solidFill>
                  <a:schemeClr val="accent1"/>
                </a:solidFill>
                <a:effectLst>
                  <a:outerShdw blurRad="38100" dist="25400" dir="5400000" algn="ctr" rotWithShape="0">
                    <a:srgbClr val="6E747A">
                      <a:alpha val="43000"/>
                    </a:srgbClr>
                  </a:outerShdw>
                </a:effectLst>
                <a:sym typeface="+mn-ea"/>
              </a:rPr>
              <a:t>（</a:t>
            </a:r>
            <a:r>
              <a:rPr lang="en-US" altLang="zh-CN" sz="2400">
                <a:solidFill>
                  <a:schemeClr val="accent1"/>
                </a:solidFill>
                <a:effectLst>
                  <a:outerShdw blurRad="38100" dist="25400" dir="5400000" algn="ctr" rotWithShape="0">
                    <a:srgbClr val="6E747A">
                      <a:alpha val="43000"/>
                    </a:srgbClr>
                  </a:outerShdw>
                </a:effectLst>
                <a:sym typeface="+mn-ea"/>
              </a:rPr>
              <a:t>2</a:t>
            </a:r>
            <a:r>
              <a:rPr lang="zh-CN" altLang="en-US" sz="2400">
                <a:solidFill>
                  <a:schemeClr val="accent1"/>
                </a:solidFill>
                <a:effectLst>
                  <a:outerShdw blurRad="38100" dist="25400" dir="5400000" algn="ctr" rotWithShape="0">
                    <a:srgbClr val="6E747A">
                      <a:alpha val="43000"/>
                    </a:srgbClr>
                  </a:outerShdw>
                </a:effectLst>
                <a:sym typeface="+mn-ea"/>
              </a:rPr>
              <a:t>）</a:t>
            </a:r>
            <a:endParaRPr lang="zh-CN" altLang="en-US" sz="2400" b="1" spc="10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pic>
        <p:nvPicPr>
          <p:cNvPr id="8" name="图片 7" descr="图片1"/>
          <p:cNvPicPr>
            <a:picLocks noChangeAspect="1"/>
          </p:cNvPicPr>
          <p:nvPr/>
        </p:nvPicPr>
        <p:blipFill>
          <a:blip r:embed="rId1"/>
          <a:stretch>
            <a:fillRect/>
          </a:stretch>
        </p:blipFill>
        <p:spPr>
          <a:xfrm>
            <a:off x="-12065" y="0"/>
            <a:ext cx="12192000" cy="6858000"/>
          </a:xfrm>
          <a:prstGeom prst="rect">
            <a:avLst/>
          </a:prstGeom>
        </p:spPr>
      </p:pic>
      <p:sp>
        <p:nvSpPr>
          <p:cNvPr id="3" name="内容占位符 2"/>
          <p:cNvSpPr>
            <a:spLocks noGrp="1"/>
          </p:cNvSpPr>
          <p:nvPr>
            <p:ph idx="1"/>
          </p:nvPr>
        </p:nvSpPr>
        <p:spPr>
          <a:xfrm>
            <a:off x="838200" y="1492250"/>
            <a:ext cx="10515600" cy="5019040"/>
          </a:xfrm>
        </p:spPr>
        <p:txBody>
          <a:bodyPr>
            <a:normAutofit lnSpcReduction="20000"/>
          </a:bodyPr>
          <a:p>
            <a:pPr marL="0" indent="0">
              <a:buNone/>
            </a:pPr>
            <a:r>
              <a:rPr lang="zh-CN" altLang="en-US" sz="2000"/>
              <a:t>配置ChromeDriver</a:t>
            </a:r>
            <a:endParaRPr lang="zh-CN" altLang="en-US" sz="2000"/>
          </a:p>
          <a:p>
            <a:pPr marL="0" algn="l">
              <a:lnSpc>
                <a:spcPct val="150000"/>
              </a:lnSpc>
              <a:buClrTx/>
              <a:buSzTx/>
              <a:buNone/>
            </a:pPr>
            <a:r>
              <a:rPr lang="zh-CN" altLang="en-US" sz="2000"/>
              <a:t>chromedriver下载地址</a:t>
            </a:r>
            <a:r>
              <a:rPr lang="en-US" altLang="zh-CN" sz="2000"/>
              <a:t>:</a:t>
            </a:r>
            <a:r>
              <a:rPr lang="zh-CN" altLang="en-US" sz="2000">
                <a:solidFill>
                  <a:schemeClr val="accent1"/>
                </a:solidFill>
                <a:effectLst>
                  <a:outerShdw blurRad="38100" dist="25400" dir="5400000" algn="ctr" rotWithShape="0">
                    <a:srgbClr val="6E747A">
                      <a:alpha val="43000"/>
                    </a:srgbClr>
                  </a:outerShdw>
                </a:effectLst>
              </a:rPr>
              <a:t>https://registry.npmmirror.com/binary.html?path=chrome-for-testing/</a:t>
            </a:r>
            <a:endParaRPr lang="zh-CN" altLang="en-US" sz="2000">
              <a:solidFill>
                <a:schemeClr val="accent1"/>
              </a:solidFill>
              <a:effectLst>
                <a:outerShdw blurRad="38100" dist="25400" dir="5400000" algn="ctr" rotWithShape="0">
                  <a:srgbClr val="6E747A">
                    <a:alpha val="43000"/>
                  </a:srgbClr>
                </a:outerShdw>
              </a:effectLst>
            </a:endParaRPr>
          </a:p>
          <a:p>
            <a:pPr marL="0" algn="l">
              <a:lnSpc>
                <a:spcPct val="150000"/>
              </a:lnSpc>
              <a:buClrTx/>
              <a:buSzTx/>
              <a:buNone/>
            </a:pPr>
            <a:r>
              <a:rPr lang="zh-CN" altLang="en-US" sz="2000"/>
              <a:t>注意</a:t>
            </a:r>
            <a:r>
              <a:rPr lang="en-US" altLang="zh-CN" sz="2000"/>
              <a:t>:</a:t>
            </a:r>
            <a:r>
              <a:rPr lang="zh-CN" altLang="en-US" sz="2000">
                <a:solidFill>
                  <a:srgbClr val="FF0000"/>
                </a:solidFill>
              </a:rPr>
              <a:t>chromedriver的版本要与目前你所使用的chrome浏览器版本匹配，不然会报错，建议下载最新版本的</a:t>
            </a:r>
            <a:r>
              <a:rPr lang="zh-CN" altLang="en-US" sz="2000"/>
              <a:t>。</a:t>
            </a:r>
            <a:endParaRPr lang="zh-CN" altLang="en-US" sz="2000"/>
          </a:p>
          <a:p>
            <a:pPr marL="0" algn="l">
              <a:lnSpc>
                <a:spcPct val="150000"/>
              </a:lnSpc>
              <a:buClrTx/>
              <a:buSzTx/>
              <a:buNone/>
            </a:pPr>
            <a:r>
              <a:rPr lang="zh-CN" altLang="en-US" sz="2000"/>
              <a:t>若chrome浏览器设置了自动更新，建议关掉，这样的话就不需要经常再去更换chromedriver的版本了。</a:t>
            </a:r>
            <a:endParaRPr lang="zh-CN" altLang="en-US" sz="2000"/>
          </a:p>
          <a:p>
            <a:pPr marL="0" indent="0">
              <a:lnSpc>
                <a:spcPct val="150000"/>
              </a:lnSpc>
              <a:buNone/>
            </a:pPr>
            <a:r>
              <a:rPr lang="zh-CN" altLang="en-US" sz="2000"/>
              <a:t>将chromedriver安装到chrome浏览器默认安装目录下(C:\Program Files\Google\Chrome\Application)，同时需要将该安装目录添加到环境变量Path中。</a:t>
            </a:r>
            <a:endParaRPr lang="zh-CN" altLang="en-US" sz="2000"/>
          </a:p>
          <a:p>
            <a:endParaRPr lang="zh-CN" altLang="en-US" sz="2000"/>
          </a:p>
        </p:txBody>
      </p:sp>
      <p:grpSp>
        <p:nvGrpSpPr>
          <p:cNvPr id="14" name="组合 13"/>
          <p:cNvGrpSpPr/>
          <p:nvPr/>
        </p:nvGrpSpPr>
        <p:grpSpPr>
          <a:xfrm>
            <a:off x="207645" y="331470"/>
            <a:ext cx="11412855" cy="647700"/>
            <a:chOff x="357" y="168"/>
            <a:chExt cx="17973" cy="1020"/>
          </a:xfrm>
        </p:grpSpPr>
        <p:sp>
          <p:nvSpPr>
            <p:cNvPr id="15" name="矩形 14"/>
            <p:cNvSpPr/>
            <p:nvPr/>
          </p:nvSpPr>
          <p:spPr>
            <a:xfrm>
              <a:off x="357" y="168"/>
              <a:ext cx="340" cy="340"/>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6" name="矩形 15"/>
            <p:cNvSpPr/>
            <p:nvPr/>
          </p:nvSpPr>
          <p:spPr>
            <a:xfrm>
              <a:off x="527" y="394"/>
              <a:ext cx="680" cy="6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7" name="矩形 16"/>
            <p:cNvSpPr/>
            <p:nvPr/>
          </p:nvSpPr>
          <p:spPr>
            <a:xfrm>
              <a:off x="1037"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cxnSp>
          <p:nvCxnSpPr>
            <p:cNvPr id="18" name="直接连接符 17"/>
            <p:cNvCxnSpPr/>
            <p:nvPr/>
          </p:nvCxnSpPr>
          <p:spPr>
            <a:xfrm>
              <a:off x="1377" y="1018"/>
              <a:ext cx="16613"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17990"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grpSp>
      <p:sp>
        <p:nvSpPr>
          <p:cNvPr id="20" name="文本框 26"/>
          <p:cNvSpPr txBox="1"/>
          <p:nvPr/>
        </p:nvSpPr>
        <p:spPr>
          <a:xfrm>
            <a:off x="936625" y="331470"/>
            <a:ext cx="7374890" cy="460375"/>
          </a:xfrm>
          <a:prstGeom prst="rect">
            <a:avLst/>
          </a:prstGeom>
          <a:noFill/>
        </p:spPr>
        <p:txBody>
          <a:bodyPr wrap="square" rtlCol="0">
            <a:spAutoFit/>
          </a:bodyPr>
          <a:p>
            <a:pPr algn="l">
              <a:buClrTx/>
              <a:buSzTx/>
              <a:buFontTx/>
            </a:pPr>
            <a:r>
              <a:rPr lang="zh-CN" sz="2400" b="1" spc="100">
                <a:solidFill>
                  <a:schemeClr val="accent1"/>
                </a:solidFill>
                <a:latin typeface="微软雅黑" panose="020B0503020204020204" charset="-122"/>
                <a:ea typeface="微软雅黑" panose="020B0503020204020204" charset="-122"/>
                <a:sym typeface="+mn-ea"/>
              </a:rPr>
              <a:t>三、配置ChromeDriver</a:t>
            </a:r>
            <a:endParaRPr lang="zh-CN" sz="2400" b="1" spc="100">
              <a:solidFill>
                <a:schemeClr val="accent1"/>
              </a:solidFill>
              <a:latin typeface="微软雅黑" panose="020B0503020204020204" charset="-122"/>
              <a:ea typeface="微软雅黑" panose="020B0503020204020204" charset="-122"/>
              <a:sym typeface="+mn-ea"/>
            </a:endParaRPr>
          </a:p>
        </p:txBody>
      </p:sp>
    </p:spTree>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pic>
        <p:nvPicPr>
          <p:cNvPr id="8" name="图片 7" descr="图片1"/>
          <p:cNvPicPr>
            <a:picLocks noChangeAspect="1"/>
          </p:cNvPicPr>
          <p:nvPr/>
        </p:nvPicPr>
        <p:blipFill>
          <a:blip r:embed="rId1"/>
          <a:stretch>
            <a:fillRect/>
          </a:stretch>
        </p:blipFill>
        <p:spPr>
          <a:xfrm>
            <a:off x="-12065" y="0"/>
            <a:ext cx="12192000" cy="6858000"/>
          </a:xfrm>
          <a:prstGeom prst="rect">
            <a:avLst/>
          </a:prstGeom>
        </p:spPr>
      </p:pic>
      <p:pic>
        <p:nvPicPr>
          <p:cNvPr id="4" name="图片 3"/>
          <p:cNvPicPr>
            <a:picLocks noChangeAspect="1"/>
          </p:cNvPicPr>
          <p:nvPr/>
        </p:nvPicPr>
        <p:blipFill>
          <a:blip r:embed="rId2"/>
          <a:stretch>
            <a:fillRect/>
          </a:stretch>
        </p:blipFill>
        <p:spPr>
          <a:xfrm>
            <a:off x="1666875" y="1527175"/>
            <a:ext cx="8590280" cy="4023995"/>
          </a:xfrm>
          <a:prstGeom prst="rect">
            <a:avLst/>
          </a:prstGeom>
        </p:spPr>
      </p:pic>
      <p:grpSp>
        <p:nvGrpSpPr>
          <p:cNvPr id="14" name="组合 13"/>
          <p:cNvGrpSpPr/>
          <p:nvPr/>
        </p:nvGrpSpPr>
        <p:grpSpPr>
          <a:xfrm>
            <a:off x="207645" y="331470"/>
            <a:ext cx="11412855" cy="647700"/>
            <a:chOff x="357" y="168"/>
            <a:chExt cx="17973" cy="1020"/>
          </a:xfrm>
        </p:grpSpPr>
        <p:sp>
          <p:nvSpPr>
            <p:cNvPr id="15" name="矩形 14"/>
            <p:cNvSpPr/>
            <p:nvPr/>
          </p:nvSpPr>
          <p:spPr>
            <a:xfrm>
              <a:off x="357" y="168"/>
              <a:ext cx="340" cy="340"/>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6" name="矩形 15"/>
            <p:cNvSpPr/>
            <p:nvPr/>
          </p:nvSpPr>
          <p:spPr>
            <a:xfrm>
              <a:off x="527" y="394"/>
              <a:ext cx="680" cy="6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7" name="矩形 16"/>
            <p:cNvSpPr/>
            <p:nvPr/>
          </p:nvSpPr>
          <p:spPr>
            <a:xfrm>
              <a:off x="1037"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cxnSp>
          <p:nvCxnSpPr>
            <p:cNvPr id="18" name="直接连接符 17"/>
            <p:cNvCxnSpPr/>
            <p:nvPr/>
          </p:nvCxnSpPr>
          <p:spPr>
            <a:xfrm>
              <a:off x="1377" y="1018"/>
              <a:ext cx="16613"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17990"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grpSp>
      <p:sp>
        <p:nvSpPr>
          <p:cNvPr id="20" name="文本框 26"/>
          <p:cNvSpPr txBox="1"/>
          <p:nvPr/>
        </p:nvSpPr>
        <p:spPr>
          <a:xfrm>
            <a:off x="936625" y="331470"/>
            <a:ext cx="7374890" cy="460375"/>
          </a:xfrm>
          <a:prstGeom prst="rect">
            <a:avLst/>
          </a:prstGeom>
          <a:noFill/>
        </p:spPr>
        <p:txBody>
          <a:bodyPr wrap="square" rtlCol="0">
            <a:spAutoFit/>
          </a:bodyPr>
          <a:p>
            <a:pPr algn="l">
              <a:buClrTx/>
              <a:buSzTx/>
              <a:buFontTx/>
            </a:pPr>
            <a:r>
              <a:rPr lang="zh-CN" sz="2400" b="1" spc="100">
                <a:solidFill>
                  <a:schemeClr val="accent1"/>
                </a:solidFill>
                <a:latin typeface="微软雅黑" panose="020B0503020204020204" charset="-122"/>
                <a:ea typeface="微软雅黑" panose="020B0503020204020204" charset="-122"/>
                <a:sym typeface="+mn-ea"/>
              </a:rPr>
              <a:t>三、配置ChromeDriver</a:t>
            </a:r>
            <a:endParaRPr lang="zh-CN" sz="2400" b="1" spc="100">
              <a:solidFill>
                <a:schemeClr val="accent1"/>
              </a:solidFill>
              <a:latin typeface="微软雅黑" panose="020B0503020204020204" charset="-122"/>
              <a:ea typeface="微软雅黑" panose="020B0503020204020204" charset="-122"/>
              <a:sym typeface="+mn-ea"/>
            </a:endParaRPr>
          </a:p>
        </p:txBody>
      </p:sp>
    </p:spTree>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pic>
        <p:nvPicPr>
          <p:cNvPr id="8" name="图片 7" descr="图片1"/>
          <p:cNvPicPr>
            <a:picLocks noChangeAspect="1"/>
          </p:cNvPicPr>
          <p:nvPr/>
        </p:nvPicPr>
        <p:blipFill>
          <a:blip r:embed="rId1"/>
          <a:stretch>
            <a:fillRect/>
          </a:stretch>
        </p:blipFill>
        <p:spPr>
          <a:xfrm>
            <a:off x="-12065" y="0"/>
            <a:ext cx="12192000" cy="6858000"/>
          </a:xfrm>
          <a:prstGeom prst="rect">
            <a:avLst/>
          </a:prstGeom>
        </p:spPr>
      </p:pic>
      <p:pic>
        <p:nvPicPr>
          <p:cNvPr id="5" name="图片 4"/>
          <p:cNvPicPr>
            <a:picLocks noChangeAspect="1"/>
          </p:cNvPicPr>
          <p:nvPr/>
        </p:nvPicPr>
        <p:blipFill>
          <a:blip r:embed="rId2"/>
          <a:stretch>
            <a:fillRect/>
          </a:stretch>
        </p:blipFill>
        <p:spPr>
          <a:xfrm>
            <a:off x="3086735" y="1458595"/>
            <a:ext cx="5467985" cy="5012055"/>
          </a:xfrm>
          <a:prstGeom prst="rect">
            <a:avLst/>
          </a:prstGeom>
        </p:spPr>
      </p:pic>
      <p:grpSp>
        <p:nvGrpSpPr>
          <p:cNvPr id="14" name="组合 13"/>
          <p:cNvGrpSpPr/>
          <p:nvPr/>
        </p:nvGrpSpPr>
        <p:grpSpPr>
          <a:xfrm>
            <a:off x="207645" y="331470"/>
            <a:ext cx="11412855" cy="647700"/>
            <a:chOff x="357" y="168"/>
            <a:chExt cx="17973" cy="1020"/>
          </a:xfrm>
        </p:grpSpPr>
        <p:sp>
          <p:nvSpPr>
            <p:cNvPr id="15" name="矩形 14"/>
            <p:cNvSpPr/>
            <p:nvPr/>
          </p:nvSpPr>
          <p:spPr>
            <a:xfrm>
              <a:off x="357" y="168"/>
              <a:ext cx="340" cy="340"/>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6" name="矩形 15"/>
            <p:cNvSpPr/>
            <p:nvPr/>
          </p:nvSpPr>
          <p:spPr>
            <a:xfrm>
              <a:off x="527" y="394"/>
              <a:ext cx="680" cy="6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7" name="矩形 16"/>
            <p:cNvSpPr/>
            <p:nvPr/>
          </p:nvSpPr>
          <p:spPr>
            <a:xfrm>
              <a:off x="1037"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cxnSp>
          <p:nvCxnSpPr>
            <p:cNvPr id="18" name="直接连接符 17"/>
            <p:cNvCxnSpPr/>
            <p:nvPr/>
          </p:nvCxnSpPr>
          <p:spPr>
            <a:xfrm>
              <a:off x="1377" y="1018"/>
              <a:ext cx="16613"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17990"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grpSp>
      <p:sp>
        <p:nvSpPr>
          <p:cNvPr id="20" name="文本框 26"/>
          <p:cNvSpPr txBox="1"/>
          <p:nvPr/>
        </p:nvSpPr>
        <p:spPr>
          <a:xfrm>
            <a:off x="936625" y="331470"/>
            <a:ext cx="7374890" cy="460375"/>
          </a:xfrm>
          <a:prstGeom prst="rect">
            <a:avLst/>
          </a:prstGeom>
          <a:noFill/>
        </p:spPr>
        <p:txBody>
          <a:bodyPr wrap="square" rtlCol="0">
            <a:spAutoFit/>
          </a:bodyPr>
          <a:p>
            <a:pPr algn="l">
              <a:buClrTx/>
              <a:buSzTx/>
              <a:buFontTx/>
            </a:pPr>
            <a:r>
              <a:rPr lang="zh-CN" sz="2400" b="1" spc="100">
                <a:solidFill>
                  <a:schemeClr val="accent1"/>
                </a:solidFill>
                <a:latin typeface="微软雅黑" panose="020B0503020204020204" charset="-122"/>
                <a:ea typeface="微软雅黑" panose="020B0503020204020204" charset="-122"/>
                <a:sym typeface="+mn-ea"/>
              </a:rPr>
              <a:t>三、配置ChromeDriver</a:t>
            </a:r>
            <a:endParaRPr lang="zh-CN" sz="2400" b="1" spc="100">
              <a:solidFill>
                <a:schemeClr val="accent1"/>
              </a:solidFill>
              <a:latin typeface="微软雅黑" panose="020B0503020204020204" charset="-122"/>
              <a:ea typeface="微软雅黑" panose="020B0503020204020204" charset="-122"/>
              <a:sym typeface="+mn-ea"/>
            </a:endParaRPr>
          </a:p>
        </p:txBody>
      </p:sp>
    </p:spTree>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图片 7" descr="图片1"/>
          <p:cNvPicPr>
            <a:picLocks noChangeAspect="1"/>
          </p:cNvPicPr>
          <p:nvPr/>
        </p:nvPicPr>
        <p:blipFill>
          <a:blip r:embed="rId1"/>
          <a:stretch>
            <a:fillRect/>
          </a:stretch>
        </p:blipFill>
        <p:spPr>
          <a:xfrm>
            <a:off x="-12065" y="0"/>
            <a:ext cx="12192000" cy="6858000"/>
          </a:xfrm>
          <a:prstGeom prst="rect">
            <a:avLst/>
          </a:prstGeom>
        </p:spPr>
      </p:pic>
      <p:grpSp>
        <p:nvGrpSpPr>
          <p:cNvPr id="14" name="组合 13"/>
          <p:cNvGrpSpPr/>
          <p:nvPr/>
        </p:nvGrpSpPr>
        <p:grpSpPr>
          <a:xfrm>
            <a:off x="207645" y="331470"/>
            <a:ext cx="11412855" cy="647700"/>
            <a:chOff x="357" y="168"/>
            <a:chExt cx="17973" cy="1020"/>
          </a:xfrm>
        </p:grpSpPr>
        <p:sp>
          <p:nvSpPr>
            <p:cNvPr id="15" name="矩形 14"/>
            <p:cNvSpPr/>
            <p:nvPr/>
          </p:nvSpPr>
          <p:spPr>
            <a:xfrm>
              <a:off x="357" y="168"/>
              <a:ext cx="340" cy="340"/>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6" name="矩形 15"/>
            <p:cNvSpPr/>
            <p:nvPr/>
          </p:nvSpPr>
          <p:spPr>
            <a:xfrm>
              <a:off x="527" y="394"/>
              <a:ext cx="680" cy="6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7" name="矩形 16"/>
            <p:cNvSpPr/>
            <p:nvPr/>
          </p:nvSpPr>
          <p:spPr>
            <a:xfrm>
              <a:off x="1037"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cxnSp>
          <p:nvCxnSpPr>
            <p:cNvPr id="18" name="直接连接符 17"/>
            <p:cNvCxnSpPr/>
            <p:nvPr/>
          </p:nvCxnSpPr>
          <p:spPr>
            <a:xfrm>
              <a:off x="1377" y="1018"/>
              <a:ext cx="16613"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17990"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grpSp>
      <p:sp>
        <p:nvSpPr>
          <p:cNvPr id="20" name="文本框 26"/>
          <p:cNvSpPr txBox="1"/>
          <p:nvPr/>
        </p:nvSpPr>
        <p:spPr>
          <a:xfrm>
            <a:off x="936625" y="331470"/>
            <a:ext cx="7374890" cy="460375"/>
          </a:xfrm>
          <a:prstGeom prst="rect">
            <a:avLst/>
          </a:prstGeom>
          <a:noFill/>
        </p:spPr>
        <p:txBody>
          <a:bodyPr wrap="square" rtlCol="0">
            <a:spAutoFit/>
          </a:bodyPr>
          <a:p>
            <a:pPr algn="l">
              <a:buClrTx/>
              <a:buSzTx/>
              <a:buFontTx/>
            </a:pPr>
            <a:r>
              <a:rPr lang="zh-CN" sz="2400" b="1" spc="100">
                <a:solidFill>
                  <a:schemeClr val="accent1"/>
                </a:solidFill>
                <a:latin typeface="微软雅黑" panose="020B0503020204020204" charset="-122"/>
                <a:ea typeface="微软雅黑" panose="020B0503020204020204" charset="-122"/>
                <a:sym typeface="+mn-ea"/>
              </a:rPr>
              <a:t>四、做题流程</a:t>
            </a:r>
            <a:endParaRPr lang="zh-CN" sz="2400" b="1" spc="100">
              <a:solidFill>
                <a:schemeClr val="accent1"/>
              </a:solidFill>
              <a:latin typeface="微软雅黑" panose="020B0503020204020204" charset="-122"/>
              <a:ea typeface="微软雅黑" panose="020B0503020204020204" charset="-122"/>
              <a:sym typeface="+mn-ea"/>
            </a:endParaRPr>
          </a:p>
        </p:txBody>
      </p:sp>
      <p:sp>
        <p:nvSpPr>
          <p:cNvPr id="4" name="文本框 3"/>
          <p:cNvSpPr txBox="1"/>
          <p:nvPr/>
        </p:nvSpPr>
        <p:spPr>
          <a:xfrm>
            <a:off x="936625" y="1054100"/>
            <a:ext cx="4331970" cy="368300"/>
          </a:xfrm>
          <a:prstGeom prst="rect">
            <a:avLst/>
          </a:prstGeom>
          <a:noFill/>
        </p:spPr>
        <p:txBody>
          <a:bodyPr wrap="square" rtlCol="0">
            <a:spAutoFit/>
          </a:bodyPr>
          <a:p>
            <a:r>
              <a:rPr lang="en-US" altLang="zh-CN"/>
              <a:t>1.</a:t>
            </a:r>
            <a:r>
              <a:rPr lang="zh-CN" altLang="en-US"/>
              <a:t>进入慕测官网，选择赛项进行报名</a:t>
            </a:r>
            <a:endParaRPr lang="zh-CN" altLang="en-US"/>
          </a:p>
        </p:txBody>
      </p:sp>
      <p:pic>
        <p:nvPicPr>
          <p:cNvPr id="5" name="图片 4"/>
          <p:cNvPicPr>
            <a:picLocks noChangeAspect="1"/>
          </p:cNvPicPr>
          <p:nvPr>
            <p:custDataLst>
              <p:tags r:id="rId2"/>
            </p:custDataLst>
          </p:nvPr>
        </p:nvPicPr>
        <p:blipFill>
          <a:blip r:embed="rId3"/>
          <a:stretch>
            <a:fillRect/>
          </a:stretch>
        </p:blipFill>
        <p:spPr>
          <a:xfrm>
            <a:off x="1066800" y="1684655"/>
            <a:ext cx="8425815" cy="429577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图片 7" descr="图片1"/>
          <p:cNvPicPr>
            <a:picLocks noChangeAspect="1"/>
          </p:cNvPicPr>
          <p:nvPr/>
        </p:nvPicPr>
        <p:blipFill>
          <a:blip r:embed="rId1"/>
          <a:stretch>
            <a:fillRect/>
          </a:stretch>
        </p:blipFill>
        <p:spPr>
          <a:xfrm>
            <a:off x="-12065" y="-86995"/>
            <a:ext cx="12192000" cy="6858000"/>
          </a:xfrm>
          <a:prstGeom prst="rect">
            <a:avLst/>
          </a:prstGeom>
        </p:spPr>
      </p:pic>
      <p:sp>
        <p:nvSpPr>
          <p:cNvPr id="4" name="文本框 3"/>
          <p:cNvSpPr txBox="1"/>
          <p:nvPr/>
        </p:nvSpPr>
        <p:spPr>
          <a:xfrm>
            <a:off x="936625" y="1133475"/>
            <a:ext cx="3564255" cy="368300"/>
          </a:xfrm>
          <a:prstGeom prst="rect">
            <a:avLst/>
          </a:prstGeom>
          <a:noFill/>
        </p:spPr>
        <p:txBody>
          <a:bodyPr wrap="square" rtlCol="0">
            <a:spAutoFit/>
          </a:bodyPr>
          <a:p>
            <a:r>
              <a:rPr lang="en-US" altLang="zh-CN"/>
              <a:t>2.</a:t>
            </a:r>
            <a:r>
              <a:rPr lang="zh-CN" altLang="en-US"/>
              <a:t>填写指导老师与邮箱并点击参赛</a:t>
            </a:r>
            <a:endParaRPr lang="zh-CN" altLang="en-US"/>
          </a:p>
        </p:txBody>
      </p:sp>
      <p:pic>
        <p:nvPicPr>
          <p:cNvPr id="5" name="图片 4"/>
          <p:cNvPicPr>
            <a:picLocks noChangeAspect="1"/>
          </p:cNvPicPr>
          <p:nvPr>
            <p:custDataLst>
              <p:tags r:id="rId2"/>
            </p:custDataLst>
          </p:nvPr>
        </p:nvPicPr>
        <p:blipFill>
          <a:blip r:embed="rId3"/>
          <a:stretch>
            <a:fillRect/>
          </a:stretch>
        </p:blipFill>
        <p:spPr>
          <a:xfrm>
            <a:off x="533400" y="1763395"/>
            <a:ext cx="10363200" cy="4556760"/>
          </a:xfrm>
          <a:prstGeom prst="rect">
            <a:avLst/>
          </a:prstGeom>
        </p:spPr>
      </p:pic>
      <p:grpSp>
        <p:nvGrpSpPr>
          <p:cNvPr id="14" name="组合 13"/>
          <p:cNvGrpSpPr/>
          <p:nvPr/>
        </p:nvGrpSpPr>
        <p:grpSpPr>
          <a:xfrm>
            <a:off x="207645" y="331470"/>
            <a:ext cx="11412855" cy="647700"/>
            <a:chOff x="357" y="168"/>
            <a:chExt cx="17973" cy="1020"/>
          </a:xfrm>
        </p:grpSpPr>
        <p:sp>
          <p:nvSpPr>
            <p:cNvPr id="15" name="矩形 14"/>
            <p:cNvSpPr/>
            <p:nvPr/>
          </p:nvSpPr>
          <p:spPr>
            <a:xfrm>
              <a:off x="357" y="168"/>
              <a:ext cx="340" cy="340"/>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6" name="矩形 15"/>
            <p:cNvSpPr/>
            <p:nvPr/>
          </p:nvSpPr>
          <p:spPr>
            <a:xfrm>
              <a:off x="527" y="394"/>
              <a:ext cx="680" cy="6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7" name="矩形 16"/>
            <p:cNvSpPr/>
            <p:nvPr/>
          </p:nvSpPr>
          <p:spPr>
            <a:xfrm>
              <a:off x="1037"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cxnSp>
          <p:nvCxnSpPr>
            <p:cNvPr id="18" name="直接连接符 17"/>
            <p:cNvCxnSpPr/>
            <p:nvPr/>
          </p:nvCxnSpPr>
          <p:spPr>
            <a:xfrm>
              <a:off x="1377" y="1018"/>
              <a:ext cx="16613"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17990"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grpSp>
      <p:sp>
        <p:nvSpPr>
          <p:cNvPr id="20" name="文本框 26"/>
          <p:cNvSpPr txBox="1"/>
          <p:nvPr/>
        </p:nvSpPr>
        <p:spPr>
          <a:xfrm>
            <a:off x="936625" y="331470"/>
            <a:ext cx="7374890" cy="460375"/>
          </a:xfrm>
          <a:prstGeom prst="rect">
            <a:avLst/>
          </a:prstGeom>
          <a:noFill/>
        </p:spPr>
        <p:txBody>
          <a:bodyPr wrap="square" rtlCol="0">
            <a:spAutoFit/>
          </a:bodyPr>
          <a:p>
            <a:pPr algn="l">
              <a:buClrTx/>
              <a:buSzTx/>
              <a:buFontTx/>
            </a:pPr>
            <a:r>
              <a:rPr lang="zh-CN" sz="2400" b="1" spc="100">
                <a:solidFill>
                  <a:schemeClr val="accent1"/>
                </a:solidFill>
                <a:latin typeface="微软雅黑" panose="020B0503020204020204" charset="-122"/>
                <a:ea typeface="微软雅黑" panose="020B0503020204020204" charset="-122"/>
                <a:sym typeface="+mn-ea"/>
              </a:rPr>
              <a:t>四、做题流程</a:t>
            </a:r>
            <a:endParaRPr lang="zh-CN" sz="2400" b="1" spc="100">
              <a:solidFill>
                <a:schemeClr val="accent1"/>
              </a:solidFill>
              <a:latin typeface="微软雅黑" panose="020B0503020204020204" charset="-122"/>
              <a:ea typeface="微软雅黑" panose="020B0503020204020204" charset="-122"/>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图片 7" descr="图片1"/>
          <p:cNvPicPr>
            <a:picLocks noChangeAspect="1"/>
          </p:cNvPicPr>
          <p:nvPr/>
        </p:nvPicPr>
        <p:blipFill>
          <a:blip r:embed="rId1"/>
          <a:stretch>
            <a:fillRect/>
          </a:stretch>
        </p:blipFill>
        <p:spPr>
          <a:xfrm>
            <a:off x="-12065" y="0"/>
            <a:ext cx="12192000" cy="6858000"/>
          </a:xfrm>
          <a:prstGeom prst="rect">
            <a:avLst/>
          </a:prstGeom>
        </p:spPr>
      </p:pic>
      <p:sp>
        <p:nvSpPr>
          <p:cNvPr id="4" name="文本框 3"/>
          <p:cNvSpPr txBox="1"/>
          <p:nvPr/>
        </p:nvSpPr>
        <p:spPr>
          <a:xfrm>
            <a:off x="774700" y="1270000"/>
            <a:ext cx="4304665" cy="368300"/>
          </a:xfrm>
          <a:prstGeom prst="rect">
            <a:avLst/>
          </a:prstGeom>
          <a:noFill/>
        </p:spPr>
        <p:txBody>
          <a:bodyPr wrap="square" rtlCol="0">
            <a:spAutoFit/>
          </a:bodyPr>
          <a:p>
            <a:r>
              <a:rPr lang="en-US" altLang="zh-CN"/>
              <a:t>3.</a:t>
            </a:r>
            <a:r>
              <a:rPr lang="zh-CN" altLang="en-US"/>
              <a:t>在参赛页面获取需求文档与做题秘钥</a:t>
            </a:r>
            <a:endParaRPr lang="zh-CN" altLang="en-US"/>
          </a:p>
        </p:txBody>
      </p:sp>
      <p:pic>
        <p:nvPicPr>
          <p:cNvPr id="5" name="图片 4"/>
          <p:cNvPicPr>
            <a:picLocks noChangeAspect="1"/>
          </p:cNvPicPr>
          <p:nvPr>
            <p:custDataLst>
              <p:tags r:id="rId2"/>
            </p:custDataLst>
          </p:nvPr>
        </p:nvPicPr>
        <p:blipFill>
          <a:blip r:embed="rId3"/>
          <a:stretch>
            <a:fillRect/>
          </a:stretch>
        </p:blipFill>
        <p:spPr>
          <a:xfrm>
            <a:off x="546100" y="1803400"/>
            <a:ext cx="9601200" cy="4411345"/>
          </a:xfrm>
          <a:prstGeom prst="rect">
            <a:avLst/>
          </a:prstGeom>
        </p:spPr>
      </p:pic>
      <p:grpSp>
        <p:nvGrpSpPr>
          <p:cNvPr id="14" name="组合 13"/>
          <p:cNvGrpSpPr/>
          <p:nvPr/>
        </p:nvGrpSpPr>
        <p:grpSpPr>
          <a:xfrm>
            <a:off x="207645" y="331470"/>
            <a:ext cx="11412855" cy="647700"/>
            <a:chOff x="357" y="168"/>
            <a:chExt cx="17973" cy="1020"/>
          </a:xfrm>
        </p:grpSpPr>
        <p:sp>
          <p:nvSpPr>
            <p:cNvPr id="15" name="矩形 14"/>
            <p:cNvSpPr/>
            <p:nvPr/>
          </p:nvSpPr>
          <p:spPr>
            <a:xfrm>
              <a:off x="357" y="168"/>
              <a:ext cx="340" cy="340"/>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6" name="矩形 15"/>
            <p:cNvSpPr/>
            <p:nvPr/>
          </p:nvSpPr>
          <p:spPr>
            <a:xfrm>
              <a:off x="527" y="394"/>
              <a:ext cx="680" cy="6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7" name="矩形 16"/>
            <p:cNvSpPr/>
            <p:nvPr/>
          </p:nvSpPr>
          <p:spPr>
            <a:xfrm>
              <a:off x="1037"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cxnSp>
          <p:nvCxnSpPr>
            <p:cNvPr id="18" name="直接连接符 17"/>
            <p:cNvCxnSpPr/>
            <p:nvPr/>
          </p:nvCxnSpPr>
          <p:spPr>
            <a:xfrm>
              <a:off x="1377" y="1018"/>
              <a:ext cx="16613"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17990"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grpSp>
      <p:sp>
        <p:nvSpPr>
          <p:cNvPr id="20" name="文本框 26"/>
          <p:cNvSpPr txBox="1"/>
          <p:nvPr/>
        </p:nvSpPr>
        <p:spPr>
          <a:xfrm>
            <a:off x="936625" y="331470"/>
            <a:ext cx="7374890" cy="460375"/>
          </a:xfrm>
          <a:prstGeom prst="rect">
            <a:avLst/>
          </a:prstGeom>
          <a:noFill/>
        </p:spPr>
        <p:txBody>
          <a:bodyPr wrap="square" rtlCol="0">
            <a:spAutoFit/>
          </a:bodyPr>
          <a:p>
            <a:pPr algn="l">
              <a:buClrTx/>
              <a:buSzTx/>
              <a:buFontTx/>
            </a:pPr>
            <a:r>
              <a:rPr lang="zh-CN" sz="2400" b="1" spc="100">
                <a:solidFill>
                  <a:schemeClr val="accent1"/>
                </a:solidFill>
                <a:latin typeface="微软雅黑" panose="020B0503020204020204" charset="-122"/>
                <a:ea typeface="微软雅黑" panose="020B0503020204020204" charset="-122"/>
                <a:sym typeface="+mn-ea"/>
              </a:rPr>
              <a:t>四、做题流程</a:t>
            </a:r>
            <a:endParaRPr lang="zh-CN" sz="2400" b="1" spc="100">
              <a:solidFill>
                <a:schemeClr val="accent1"/>
              </a:solidFill>
              <a:latin typeface="微软雅黑" panose="020B0503020204020204" charset="-122"/>
              <a:ea typeface="微软雅黑" panose="020B0503020204020204" charset="-122"/>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图片 7" descr="图片1"/>
          <p:cNvPicPr>
            <a:picLocks noChangeAspect="1"/>
          </p:cNvPicPr>
          <p:nvPr/>
        </p:nvPicPr>
        <p:blipFill>
          <a:blip r:embed="rId1"/>
          <a:stretch>
            <a:fillRect/>
          </a:stretch>
        </p:blipFill>
        <p:spPr>
          <a:xfrm>
            <a:off x="-12065" y="0"/>
            <a:ext cx="12192000" cy="6858000"/>
          </a:xfrm>
          <a:prstGeom prst="rect">
            <a:avLst/>
          </a:prstGeom>
        </p:spPr>
      </p:pic>
      <p:sp>
        <p:nvSpPr>
          <p:cNvPr id="4" name="文本框 3"/>
          <p:cNvSpPr txBox="1"/>
          <p:nvPr/>
        </p:nvSpPr>
        <p:spPr>
          <a:xfrm>
            <a:off x="774700" y="1270000"/>
            <a:ext cx="7306310" cy="368300"/>
          </a:xfrm>
          <a:prstGeom prst="rect">
            <a:avLst/>
          </a:prstGeom>
          <a:noFill/>
        </p:spPr>
        <p:txBody>
          <a:bodyPr wrap="square" rtlCol="0">
            <a:spAutoFit/>
          </a:bodyPr>
          <a:p>
            <a:r>
              <a:rPr lang="en-US" altLang="zh-CN"/>
              <a:t>4.</a:t>
            </a:r>
            <a:r>
              <a:rPr lang="zh-CN" altLang="en-US"/>
              <a:t>打开</a:t>
            </a:r>
            <a:r>
              <a:rPr lang="en-US" altLang="zh-CN"/>
              <a:t>Eclipse</a:t>
            </a:r>
            <a:r>
              <a:rPr lang="zh-CN" altLang="en-US"/>
              <a:t>，将所获取的秘钥输入至慕测插件中，进行考试登录</a:t>
            </a:r>
            <a:endParaRPr lang="zh-CN" altLang="en-US"/>
          </a:p>
        </p:txBody>
      </p:sp>
      <p:pic>
        <p:nvPicPr>
          <p:cNvPr id="5" name="图片 4"/>
          <p:cNvPicPr>
            <a:picLocks noChangeAspect="1"/>
          </p:cNvPicPr>
          <p:nvPr>
            <p:custDataLst>
              <p:tags r:id="rId2"/>
            </p:custDataLst>
          </p:nvPr>
        </p:nvPicPr>
        <p:blipFill>
          <a:blip r:embed="rId3"/>
          <a:stretch>
            <a:fillRect/>
          </a:stretch>
        </p:blipFill>
        <p:spPr>
          <a:xfrm>
            <a:off x="698500" y="1879600"/>
            <a:ext cx="9211310" cy="4490720"/>
          </a:xfrm>
          <a:prstGeom prst="rect">
            <a:avLst/>
          </a:prstGeom>
        </p:spPr>
      </p:pic>
      <p:grpSp>
        <p:nvGrpSpPr>
          <p:cNvPr id="14" name="组合 13"/>
          <p:cNvGrpSpPr/>
          <p:nvPr/>
        </p:nvGrpSpPr>
        <p:grpSpPr>
          <a:xfrm>
            <a:off x="207645" y="331470"/>
            <a:ext cx="11412855" cy="647700"/>
            <a:chOff x="357" y="168"/>
            <a:chExt cx="17973" cy="1020"/>
          </a:xfrm>
        </p:grpSpPr>
        <p:sp>
          <p:nvSpPr>
            <p:cNvPr id="15" name="矩形 14"/>
            <p:cNvSpPr/>
            <p:nvPr/>
          </p:nvSpPr>
          <p:spPr>
            <a:xfrm>
              <a:off x="357" y="168"/>
              <a:ext cx="340" cy="340"/>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6" name="矩形 15"/>
            <p:cNvSpPr/>
            <p:nvPr/>
          </p:nvSpPr>
          <p:spPr>
            <a:xfrm>
              <a:off x="527" y="394"/>
              <a:ext cx="680" cy="6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7" name="矩形 16"/>
            <p:cNvSpPr/>
            <p:nvPr/>
          </p:nvSpPr>
          <p:spPr>
            <a:xfrm>
              <a:off x="1037"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cxnSp>
          <p:nvCxnSpPr>
            <p:cNvPr id="18" name="直接连接符 17"/>
            <p:cNvCxnSpPr/>
            <p:nvPr/>
          </p:nvCxnSpPr>
          <p:spPr>
            <a:xfrm>
              <a:off x="1377" y="1018"/>
              <a:ext cx="16613"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17990"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grpSp>
      <p:sp>
        <p:nvSpPr>
          <p:cNvPr id="20" name="文本框 26"/>
          <p:cNvSpPr txBox="1"/>
          <p:nvPr/>
        </p:nvSpPr>
        <p:spPr>
          <a:xfrm>
            <a:off x="936625" y="331470"/>
            <a:ext cx="7374890" cy="460375"/>
          </a:xfrm>
          <a:prstGeom prst="rect">
            <a:avLst/>
          </a:prstGeom>
          <a:noFill/>
        </p:spPr>
        <p:txBody>
          <a:bodyPr wrap="square" rtlCol="0">
            <a:spAutoFit/>
          </a:bodyPr>
          <a:p>
            <a:pPr algn="l">
              <a:buClrTx/>
              <a:buSzTx/>
              <a:buFontTx/>
            </a:pPr>
            <a:r>
              <a:rPr lang="zh-CN" sz="2400" b="1" spc="100">
                <a:solidFill>
                  <a:schemeClr val="accent1"/>
                </a:solidFill>
                <a:latin typeface="微软雅黑" panose="020B0503020204020204" charset="-122"/>
                <a:ea typeface="微软雅黑" panose="020B0503020204020204" charset="-122"/>
                <a:sym typeface="+mn-ea"/>
              </a:rPr>
              <a:t>四、做题流程</a:t>
            </a:r>
            <a:endParaRPr lang="zh-CN" sz="2400" b="1" spc="100">
              <a:solidFill>
                <a:schemeClr val="accent1"/>
              </a:solidFill>
              <a:latin typeface="微软雅黑" panose="020B0503020204020204" charset="-122"/>
              <a:ea typeface="微软雅黑" panose="020B0503020204020204" charset="-122"/>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图片 7" descr="图片1"/>
          <p:cNvPicPr>
            <a:picLocks noChangeAspect="1"/>
          </p:cNvPicPr>
          <p:nvPr/>
        </p:nvPicPr>
        <p:blipFill>
          <a:blip r:embed="rId1"/>
          <a:stretch>
            <a:fillRect/>
          </a:stretch>
        </p:blipFill>
        <p:spPr>
          <a:xfrm>
            <a:off x="-12065" y="0"/>
            <a:ext cx="12192000" cy="6858000"/>
          </a:xfrm>
          <a:prstGeom prst="rect">
            <a:avLst/>
          </a:prstGeom>
        </p:spPr>
      </p:pic>
      <p:sp>
        <p:nvSpPr>
          <p:cNvPr id="4" name="文本框 3"/>
          <p:cNvSpPr txBox="1"/>
          <p:nvPr/>
        </p:nvSpPr>
        <p:spPr>
          <a:xfrm>
            <a:off x="774700" y="1270000"/>
            <a:ext cx="7306310" cy="368300"/>
          </a:xfrm>
          <a:prstGeom prst="rect">
            <a:avLst/>
          </a:prstGeom>
          <a:noFill/>
        </p:spPr>
        <p:txBody>
          <a:bodyPr wrap="square" rtlCol="0">
            <a:spAutoFit/>
          </a:bodyPr>
          <a:p>
            <a:r>
              <a:rPr lang="en-US" altLang="zh-CN"/>
              <a:t>4.</a:t>
            </a:r>
            <a:r>
              <a:rPr lang="zh-CN" altLang="en-US"/>
              <a:t>登录成功后下载题目</a:t>
            </a:r>
            <a:endParaRPr lang="zh-CN" altLang="en-US"/>
          </a:p>
        </p:txBody>
      </p:sp>
      <p:pic>
        <p:nvPicPr>
          <p:cNvPr id="6" name="图片 5"/>
          <p:cNvPicPr>
            <a:picLocks noChangeAspect="1"/>
          </p:cNvPicPr>
          <p:nvPr>
            <p:custDataLst>
              <p:tags r:id="rId2"/>
            </p:custDataLst>
          </p:nvPr>
        </p:nvPicPr>
        <p:blipFill>
          <a:blip r:embed="rId3"/>
          <a:stretch>
            <a:fillRect/>
          </a:stretch>
        </p:blipFill>
        <p:spPr>
          <a:xfrm>
            <a:off x="850900" y="2032000"/>
            <a:ext cx="8822055" cy="4173855"/>
          </a:xfrm>
          <a:prstGeom prst="rect">
            <a:avLst/>
          </a:prstGeom>
        </p:spPr>
      </p:pic>
      <p:grpSp>
        <p:nvGrpSpPr>
          <p:cNvPr id="14" name="组合 13"/>
          <p:cNvGrpSpPr/>
          <p:nvPr/>
        </p:nvGrpSpPr>
        <p:grpSpPr>
          <a:xfrm>
            <a:off x="207645" y="331470"/>
            <a:ext cx="11412855" cy="647700"/>
            <a:chOff x="357" y="168"/>
            <a:chExt cx="17973" cy="1020"/>
          </a:xfrm>
        </p:grpSpPr>
        <p:sp>
          <p:nvSpPr>
            <p:cNvPr id="15" name="矩形 14"/>
            <p:cNvSpPr/>
            <p:nvPr/>
          </p:nvSpPr>
          <p:spPr>
            <a:xfrm>
              <a:off x="357" y="168"/>
              <a:ext cx="340" cy="340"/>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6" name="矩形 15"/>
            <p:cNvSpPr/>
            <p:nvPr/>
          </p:nvSpPr>
          <p:spPr>
            <a:xfrm>
              <a:off x="527" y="394"/>
              <a:ext cx="680" cy="6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7" name="矩形 16"/>
            <p:cNvSpPr/>
            <p:nvPr/>
          </p:nvSpPr>
          <p:spPr>
            <a:xfrm>
              <a:off x="1037"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cxnSp>
          <p:nvCxnSpPr>
            <p:cNvPr id="18" name="直接连接符 17"/>
            <p:cNvCxnSpPr/>
            <p:nvPr/>
          </p:nvCxnSpPr>
          <p:spPr>
            <a:xfrm>
              <a:off x="1377" y="1018"/>
              <a:ext cx="16613"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17990"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grpSp>
      <p:sp>
        <p:nvSpPr>
          <p:cNvPr id="20" name="文本框 26"/>
          <p:cNvSpPr txBox="1"/>
          <p:nvPr/>
        </p:nvSpPr>
        <p:spPr>
          <a:xfrm>
            <a:off x="936625" y="331470"/>
            <a:ext cx="7374890" cy="460375"/>
          </a:xfrm>
          <a:prstGeom prst="rect">
            <a:avLst/>
          </a:prstGeom>
          <a:noFill/>
        </p:spPr>
        <p:txBody>
          <a:bodyPr wrap="square" rtlCol="0">
            <a:spAutoFit/>
          </a:bodyPr>
          <a:p>
            <a:pPr algn="l">
              <a:buClrTx/>
              <a:buSzTx/>
              <a:buFontTx/>
            </a:pPr>
            <a:r>
              <a:rPr lang="zh-CN" sz="2400" b="1" spc="100">
                <a:solidFill>
                  <a:schemeClr val="accent1"/>
                </a:solidFill>
                <a:latin typeface="微软雅黑" panose="020B0503020204020204" charset="-122"/>
                <a:ea typeface="微软雅黑" panose="020B0503020204020204" charset="-122"/>
                <a:sym typeface="+mn-ea"/>
              </a:rPr>
              <a:t>四、做题流程</a:t>
            </a:r>
            <a:endParaRPr lang="zh-CN" sz="2400" b="1" spc="100">
              <a:solidFill>
                <a:schemeClr val="accent1"/>
              </a:solidFill>
              <a:latin typeface="微软雅黑" panose="020B0503020204020204" charset="-122"/>
              <a:ea typeface="微软雅黑" panose="020B0503020204020204" charset="-122"/>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图片 7" descr="图片1"/>
          <p:cNvPicPr>
            <a:picLocks noChangeAspect="1"/>
          </p:cNvPicPr>
          <p:nvPr/>
        </p:nvPicPr>
        <p:blipFill>
          <a:blip r:embed="rId1"/>
          <a:stretch>
            <a:fillRect/>
          </a:stretch>
        </p:blipFill>
        <p:spPr>
          <a:xfrm>
            <a:off x="-12065" y="0"/>
            <a:ext cx="12192000" cy="6858000"/>
          </a:xfrm>
          <a:prstGeom prst="rect">
            <a:avLst/>
          </a:prstGeom>
        </p:spPr>
      </p:pic>
      <p:sp>
        <p:nvSpPr>
          <p:cNvPr id="4" name="文本框 3"/>
          <p:cNvSpPr txBox="1"/>
          <p:nvPr/>
        </p:nvSpPr>
        <p:spPr>
          <a:xfrm>
            <a:off x="774700" y="1270000"/>
            <a:ext cx="7306310" cy="368300"/>
          </a:xfrm>
          <a:prstGeom prst="rect">
            <a:avLst/>
          </a:prstGeom>
          <a:noFill/>
        </p:spPr>
        <p:txBody>
          <a:bodyPr wrap="square" rtlCol="0">
            <a:spAutoFit/>
          </a:bodyPr>
          <a:p>
            <a:r>
              <a:rPr lang="en-US" altLang="zh-CN"/>
              <a:t>5.</a:t>
            </a:r>
            <a:r>
              <a:rPr lang="zh-CN" altLang="en-US"/>
              <a:t>打开题目下的</a:t>
            </a:r>
            <a:r>
              <a:rPr lang="en-US" altLang="zh-CN"/>
              <a:t>Example.java</a:t>
            </a:r>
            <a:r>
              <a:rPr lang="zh-CN" altLang="en-US"/>
              <a:t>文件开始做题</a:t>
            </a:r>
            <a:endParaRPr lang="zh-CN" altLang="en-US"/>
          </a:p>
        </p:txBody>
      </p:sp>
      <p:pic>
        <p:nvPicPr>
          <p:cNvPr id="5" name="图片 4"/>
          <p:cNvPicPr>
            <a:picLocks noChangeAspect="1"/>
          </p:cNvPicPr>
          <p:nvPr>
            <p:custDataLst>
              <p:tags r:id="rId2"/>
            </p:custDataLst>
          </p:nvPr>
        </p:nvPicPr>
        <p:blipFill>
          <a:blip r:embed="rId3"/>
          <a:stretch>
            <a:fillRect/>
          </a:stretch>
        </p:blipFill>
        <p:spPr>
          <a:xfrm>
            <a:off x="850900" y="1955800"/>
            <a:ext cx="9088755" cy="4392930"/>
          </a:xfrm>
          <a:prstGeom prst="rect">
            <a:avLst/>
          </a:prstGeom>
        </p:spPr>
      </p:pic>
      <p:grpSp>
        <p:nvGrpSpPr>
          <p:cNvPr id="14" name="组合 13"/>
          <p:cNvGrpSpPr/>
          <p:nvPr/>
        </p:nvGrpSpPr>
        <p:grpSpPr>
          <a:xfrm>
            <a:off x="207645" y="331470"/>
            <a:ext cx="11412855" cy="647700"/>
            <a:chOff x="357" y="168"/>
            <a:chExt cx="17973" cy="1020"/>
          </a:xfrm>
        </p:grpSpPr>
        <p:sp>
          <p:nvSpPr>
            <p:cNvPr id="15" name="矩形 14"/>
            <p:cNvSpPr/>
            <p:nvPr/>
          </p:nvSpPr>
          <p:spPr>
            <a:xfrm>
              <a:off x="357" y="168"/>
              <a:ext cx="340" cy="340"/>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6" name="矩形 15"/>
            <p:cNvSpPr/>
            <p:nvPr/>
          </p:nvSpPr>
          <p:spPr>
            <a:xfrm>
              <a:off x="527" y="394"/>
              <a:ext cx="680" cy="6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7" name="矩形 16"/>
            <p:cNvSpPr/>
            <p:nvPr/>
          </p:nvSpPr>
          <p:spPr>
            <a:xfrm>
              <a:off x="1037"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cxnSp>
          <p:nvCxnSpPr>
            <p:cNvPr id="18" name="直接连接符 17"/>
            <p:cNvCxnSpPr/>
            <p:nvPr/>
          </p:nvCxnSpPr>
          <p:spPr>
            <a:xfrm>
              <a:off x="1377" y="1018"/>
              <a:ext cx="16613"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17990"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grpSp>
      <p:sp>
        <p:nvSpPr>
          <p:cNvPr id="20" name="文本框 26"/>
          <p:cNvSpPr txBox="1"/>
          <p:nvPr/>
        </p:nvSpPr>
        <p:spPr>
          <a:xfrm>
            <a:off x="936625" y="331470"/>
            <a:ext cx="7374890" cy="460375"/>
          </a:xfrm>
          <a:prstGeom prst="rect">
            <a:avLst/>
          </a:prstGeom>
          <a:noFill/>
        </p:spPr>
        <p:txBody>
          <a:bodyPr wrap="square" rtlCol="0">
            <a:spAutoFit/>
          </a:bodyPr>
          <a:p>
            <a:pPr algn="l">
              <a:buClrTx/>
              <a:buSzTx/>
              <a:buFontTx/>
            </a:pPr>
            <a:r>
              <a:rPr lang="zh-CN" sz="2400" b="1" spc="100">
                <a:solidFill>
                  <a:schemeClr val="accent1"/>
                </a:solidFill>
                <a:latin typeface="微软雅黑" panose="020B0503020204020204" charset="-122"/>
                <a:ea typeface="微软雅黑" panose="020B0503020204020204" charset="-122"/>
                <a:sym typeface="+mn-ea"/>
              </a:rPr>
              <a:t>四、做题流程</a:t>
            </a:r>
            <a:endParaRPr lang="zh-CN" sz="2400" b="1" spc="100">
              <a:solidFill>
                <a:schemeClr val="accent1"/>
              </a:solidFill>
              <a:latin typeface="微软雅黑" panose="020B0503020204020204" charset="-122"/>
              <a:ea typeface="微软雅黑" panose="020B0503020204020204" charset="-122"/>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图片 7" descr="图片1"/>
          <p:cNvPicPr>
            <a:picLocks noChangeAspect="1"/>
          </p:cNvPicPr>
          <p:nvPr/>
        </p:nvPicPr>
        <p:blipFill>
          <a:blip r:embed="rId1"/>
          <a:stretch>
            <a:fillRect/>
          </a:stretch>
        </p:blipFill>
        <p:spPr>
          <a:xfrm>
            <a:off x="-12065" y="0"/>
            <a:ext cx="12192000" cy="6858000"/>
          </a:xfrm>
          <a:prstGeom prst="rect">
            <a:avLst/>
          </a:prstGeom>
        </p:spPr>
      </p:pic>
      <p:sp>
        <p:nvSpPr>
          <p:cNvPr id="5" name="文本框 4"/>
          <p:cNvSpPr txBox="1"/>
          <p:nvPr/>
        </p:nvSpPr>
        <p:spPr>
          <a:xfrm>
            <a:off x="1125855" y="1661160"/>
            <a:ext cx="8007985" cy="1492885"/>
          </a:xfrm>
          <a:prstGeom prst="rect">
            <a:avLst/>
          </a:prstGeom>
          <a:noFill/>
        </p:spPr>
        <p:txBody>
          <a:bodyPr wrap="square" rtlCol="0" anchor="t">
            <a:noAutofit/>
          </a:bodyPr>
          <a:p>
            <a:pPr indent="457200">
              <a:lnSpc>
                <a:spcPct val="150000"/>
              </a:lnSpc>
            </a:pPr>
            <a:r>
              <a:rPr lang="en-US" altLang="zh-CN" dirty="0">
                <a:latin typeface="Times New Roman" panose="02020603050405020304" pitchFamily="18" charset="0"/>
                <a:ea typeface="微软雅黑" panose="020B0503020204020204" charset="-122"/>
                <a:sym typeface="Times New Roman" panose="02020603050405020304" pitchFamily="18" charset="0"/>
              </a:rPr>
              <a:t>Web</a:t>
            </a:r>
            <a:r>
              <a:rPr lang="zh-CN" altLang="en-US" dirty="0">
                <a:latin typeface="Times New Roman" panose="02020603050405020304" pitchFamily="18" charset="0"/>
                <a:ea typeface="微软雅黑" panose="020B0503020204020204" charset="-122"/>
                <a:sym typeface="Times New Roman" panose="02020603050405020304" pitchFamily="18" charset="0"/>
              </a:rPr>
              <a:t>功能测试是为了考察大家对</a:t>
            </a:r>
            <a:r>
              <a:rPr lang="en-US" altLang="zh-CN" dirty="0">
                <a:latin typeface="Times New Roman" panose="02020603050405020304" pitchFamily="18" charset="0"/>
                <a:ea typeface="微软雅黑" panose="020B0503020204020204" charset="-122"/>
                <a:sym typeface="Times New Roman" panose="02020603050405020304" pitchFamily="18" charset="0"/>
              </a:rPr>
              <a:t>Selenium</a:t>
            </a:r>
            <a:r>
              <a:rPr lang="zh-CN" altLang="en-US" dirty="0">
                <a:latin typeface="Times New Roman" panose="02020603050405020304" pitchFamily="18" charset="0"/>
                <a:ea typeface="微软雅黑" panose="020B0503020204020204" charset="-122"/>
                <a:sym typeface="Times New Roman" panose="02020603050405020304" pitchFamily="18" charset="0"/>
              </a:rPr>
              <a:t>自动化工具的使用情况，我们从（</a:t>
            </a:r>
            <a:r>
              <a:rPr lang="en-US" altLang="zh-CN" dirty="0">
                <a:latin typeface="Times New Roman" panose="02020603050405020304" pitchFamily="18" charset="0"/>
                <a:ea typeface="微软雅黑" panose="020B0503020204020204" charset="-122"/>
                <a:sym typeface="Times New Roman" panose="02020603050405020304" pitchFamily="18" charset="0"/>
              </a:rPr>
              <a:t>1</a:t>
            </a:r>
            <a:r>
              <a:rPr lang="zh-CN" altLang="en-US" dirty="0">
                <a:latin typeface="Times New Roman" panose="02020603050405020304" pitchFamily="18" charset="0"/>
                <a:ea typeface="微软雅黑" panose="020B0503020204020204" charset="-122"/>
                <a:sym typeface="Times New Roman" panose="02020603050405020304" pitchFamily="18" charset="0"/>
              </a:rPr>
              <a:t>）元素定位覆盖、（</a:t>
            </a:r>
            <a:r>
              <a:rPr lang="en-US" altLang="zh-CN" dirty="0">
                <a:latin typeface="Times New Roman" panose="02020603050405020304" pitchFamily="18" charset="0"/>
                <a:ea typeface="微软雅黑" panose="020B0503020204020204" charset="-122"/>
                <a:sym typeface="Times New Roman" panose="02020603050405020304" pitchFamily="18" charset="0"/>
              </a:rPr>
              <a:t>2</a:t>
            </a:r>
            <a:r>
              <a:rPr lang="zh-CN" altLang="en-US" dirty="0">
                <a:latin typeface="Times New Roman" panose="02020603050405020304" pitchFamily="18" charset="0"/>
                <a:ea typeface="微软雅黑" panose="020B0503020204020204" charset="-122"/>
                <a:sym typeface="Times New Roman" panose="02020603050405020304" pitchFamily="18" charset="0"/>
              </a:rPr>
              <a:t>）元素操作等方面等方面作为得分点，来检测大家对生成测试脚本的测试能力。</a:t>
            </a:r>
            <a:endParaRPr lang="zh-CN" altLang="en-US" dirty="0">
              <a:latin typeface="Times New Roman" panose="02020603050405020304" pitchFamily="18" charset="0"/>
              <a:ea typeface="微软雅黑" panose="020B0503020204020204" charset="-122"/>
              <a:sym typeface="Times New Roman" panose="02020603050405020304" pitchFamily="18" charset="0"/>
            </a:endParaRPr>
          </a:p>
          <a:p>
            <a:pPr indent="457200">
              <a:lnSpc>
                <a:spcPct val="150000"/>
              </a:lnSpc>
            </a:pPr>
            <a:endParaRPr lang="zh-CN" altLang="en-US" dirty="0">
              <a:latin typeface="Times New Roman" panose="02020603050405020304" pitchFamily="18" charset="0"/>
              <a:ea typeface="微软雅黑" panose="020B0503020204020204" charset="-122"/>
              <a:sym typeface="Times New Roman" panose="02020603050405020304" pitchFamily="18" charset="0"/>
            </a:endParaRPr>
          </a:p>
        </p:txBody>
      </p:sp>
      <p:sp>
        <p:nvSpPr>
          <p:cNvPr id="7" name="文本框 6"/>
          <p:cNvSpPr txBox="1"/>
          <p:nvPr/>
        </p:nvSpPr>
        <p:spPr>
          <a:xfrm>
            <a:off x="347980" y="5384800"/>
            <a:ext cx="9564370" cy="829945"/>
          </a:xfrm>
          <a:prstGeom prst="rect">
            <a:avLst/>
          </a:prstGeom>
          <a:noFill/>
        </p:spPr>
        <p:txBody>
          <a:bodyPr wrap="square" rtlCol="0" anchor="t">
            <a:spAutoFit/>
          </a:bodyPr>
          <a:p>
            <a:pPr algn="ctr"/>
            <a:r>
              <a:rPr lang="zh-CN" altLang="en-US" sz="2400" b="1" dirty="0">
                <a:sym typeface="+mn-ea"/>
              </a:rPr>
              <a:t>总成绩 </a:t>
            </a:r>
            <a:r>
              <a:rPr lang="en-US" altLang="zh-CN" sz="2400" b="1" dirty="0">
                <a:sym typeface="+mn-ea"/>
              </a:rPr>
              <a:t>= </a:t>
            </a:r>
            <a:r>
              <a:rPr lang="zh-CN" altLang="en-US" sz="2400" b="1" dirty="0">
                <a:sym typeface="+mn-ea"/>
              </a:rPr>
              <a:t>元素定位</a:t>
            </a:r>
            <a:r>
              <a:rPr lang="en-US" altLang="zh-CN" sz="2400" b="1" dirty="0">
                <a:sym typeface="+mn-ea"/>
              </a:rPr>
              <a:t> * 50%  + </a:t>
            </a:r>
            <a:r>
              <a:rPr lang="zh-CN" altLang="en-US" sz="2400" b="1" dirty="0">
                <a:sym typeface="+mn-ea"/>
              </a:rPr>
              <a:t>元素操作</a:t>
            </a:r>
            <a:r>
              <a:rPr lang="en-US" altLang="zh-CN" sz="2400" b="1" dirty="0">
                <a:sym typeface="+mn-ea"/>
              </a:rPr>
              <a:t> * 50%</a:t>
            </a:r>
            <a:endParaRPr lang="en-US" altLang="zh-CN" sz="2400" b="1" dirty="0">
              <a:sym typeface="+mn-ea"/>
            </a:endParaRPr>
          </a:p>
          <a:p>
            <a:pPr algn="ctr"/>
            <a:r>
              <a:rPr lang="zh-CN" altLang="en-US" sz="2400" b="1" dirty="0">
                <a:sym typeface="+mn-ea"/>
              </a:rPr>
              <a:t>注：如果多人获得满分，按时间先后顺序排名</a:t>
            </a:r>
            <a:endParaRPr lang="zh-CN" altLang="en-US" sz="2400" b="1" dirty="0">
              <a:sym typeface="+mn-ea"/>
            </a:endParaRPr>
          </a:p>
        </p:txBody>
      </p:sp>
      <p:sp>
        <p:nvSpPr>
          <p:cNvPr id="4" name="文本框 3"/>
          <p:cNvSpPr txBox="1"/>
          <p:nvPr/>
        </p:nvSpPr>
        <p:spPr>
          <a:xfrm>
            <a:off x="1125855" y="3098800"/>
            <a:ext cx="8039735" cy="1753235"/>
          </a:xfrm>
          <a:prstGeom prst="rect">
            <a:avLst/>
          </a:prstGeom>
          <a:noFill/>
        </p:spPr>
        <p:txBody>
          <a:bodyPr wrap="square" rtlCol="0">
            <a:spAutoFit/>
          </a:bodyPr>
          <a:p>
            <a:pPr indent="457200">
              <a:lnSpc>
                <a:spcPct val="150000"/>
              </a:lnSpc>
            </a:pPr>
            <a:r>
              <a:rPr lang="zh-CN" altLang="en-US" dirty="0">
                <a:latin typeface="Times New Roman" panose="02020603050405020304" pitchFamily="18" charset="0"/>
                <a:ea typeface="微软雅黑" panose="020B0503020204020204" charset="-122"/>
                <a:sym typeface="Times New Roman" panose="02020603050405020304" pitchFamily="18" charset="0"/>
              </a:rPr>
              <a:t>（</a:t>
            </a:r>
            <a:r>
              <a:rPr lang="en-US" altLang="zh-CN" dirty="0">
                <a:latin typeface="Times New Roman" panose="02020603050405020304" pitchFamily="18" charset="0"/>
                <a:ea typeface="微软雅黑" panose="020B0503020204020204" charset="-122"/>
                <a:sym typeface="Times New Roman" panose="02020603050405020304" pitchFamily="18" charset="0"/>
              </a:rPr>
              <a:t>1</a:t>
            </a:r>
            <a:r>
              <a:rPr lang="zh-CN" altLang="en-US" dirty="0">
                <a:latin typeface="Times New Roman" panose="02020603050405020304" pitchFamily="18" charset="0"/>
                <a:ea typeface="微软雅黑" panose="020B0503020204020204" charset="-122"/>
                <a:sym typeface="Times New Roman" panose="02020603050405020304" pitchFamily="18" charset="0"/>
              </a:rPr>
              <a:t>）</a:t>
            </a:r>
            <a:r>
              <a:rPr lang="zh-CN" altLang="en-US" dirty="0">
                <a:latin typeface="Times New Roman" panose="02020603050405020304" pitchFamily="18" charset="0"/>
                <a:ea typeface="微软雅黑" panose="020B0503020204020204" charset="-122"/>
              </a:rPr>
              <a:t>元素定位覆盖：</a:t>
            </a:r>
            <a:r>
              <a:rPr lang="zh-CN" altLang="en-US" dirty="0">
                <a:latin typeface="Times New Roman" panose="02020603050405020304" pitchFamily="18" charset="0"/>
                <a:ea typeface="微软雅黑" panose="020B0503020204020204" charset="-122"/>
                <a:sym typeface="Times New Roman" panose="02020603050405020304" pitchFamily="18" charset="0"/>
              </a:rPr>
              <a:t>直接采用指定的元素作为测试的答案，学生代码中的定位元素覆盖测试答案中的元素即可获得该元素的得分点。</a:t>
            </a:r>
            <a:endParaRPr lang="zh-CN" altLang="en-US" dirty="0">
              <a:latin typeface="Times New Roman" panose="02020603050405020304" pitchFamily="18" charset="0"/>
              <a:ea typeface="微软雅黑" panose="020B0503020204020204" charset="-122"/>
              <a:sym typeface="Times New Roman" panose="02020603050405020304" pitchFamily="18" charset="0"/>
            </a:endParaRPr>
          </a:p>
          <a:p>
            <a:pPr indent="457200">
              <a:lnSpc>
                <a:spcPct val="150000"/>
              </a:lnSpc>
            </a:pPr>
            <a:r>
              <a:rPr lang="zh-CN" altLang="en-US" dirty="0">
                <a:latin typeface="Times New Roman" panose="02020603050405020304" pitchFamily="18" charset="0"/>
                <a:ea typeface="微软雅黑" panose="020B0503020204020204" charset="-122"/>
                <a:sym typeface="Times New Roman" panose="02020603050405020304" pitchFamily="18" charset="0"/>
              </a:rPr>
              <a:t>（</a:t>
            </a:r>
            <a:r>
              <a:rPr lang="en-US" altLang="zh-CN" dirty="0">
                <a:latin typeface="Times New Roman" panose="02020603050405020304" pitchFamily="18" charset="0"/>
                <a:ea typeface="微软雅黑" panose="020B0503020204020204" charset="-122"/>
                <a:sym typeface="Times New Roman" panose="02020603050405020304" pitchFamily="18" charset="0"/>
              </a:rPr>
              <a:t>2</a:t>
            </a:r>
            <a:r>
              <a:rPr lang="zh-CN" altLang="en-US" dirty="0">
                <a:latin typeface="Times New Roman" panose="02020603050405020304" pitchFamily="18" charset="0"/>
                <a:ea typeface="微软雅黑" panose="020B0503020204020204" charset="-122"/>
                <a:sym typeface="Times New Roman" panose="02020603050405020304" pitchFamily="18" charset="0"/>
              </a:rPr>
              <a:t>） </a:t>
            </a:r>
            <a:r>
              <a:rPr lang="zh-CN" altLang="en-US" dirty="0">
                <a:latin typeface="Times New Roman" panose="02020603050405020304" pitchFamily="18" charset="0"/>
                <a:ea typeface="微软雅黑" panose="020B0503020204020204" charset="-122"/>
                <a:sym typeface="+mn-ea"/>
              </a:rPr>
              <a:t>元素操作覆盖</a:t>
            </a:r>
            <a:r>
              <a:rPr lang="zh-CN" altLang="en-US" dirty="0">
                <a:latin typeface="Times New Roman" panose="02020603050405020304" pitchFamily="18" charset="0"/>
                <a:ea typeface="微软雅黑" panose="020B0503020204020204" charset="-122"/>
                <a:sym typeface="Times New Roman" panose="02020603050405020304" pitchFamily="18" charset="0"/>
              </a:rPr>
              <a:t>：直接采用制定的操作作为测试的答案，学生代码中的元素操作覆盖测试答案中的元素操作即可获得该操作的得分点。</a:t>
            </a:r>
            <a:endParaRPr lang="zh-CN" altLang="en-US" dirty="0">
              <a:latin typeface="Times New Roman" panose="02020603050405020304" pitchFamily="18" charset="0"/>
              <a:ea typeface="微软雅黑" panose="020B0503020204020204" charset="-122"/>
            </a:endParaRPr>
          </a:p>
        </p:txBody>
      </p:sp>
      <p:grpSp>
        <p:nvGrpSpPr>
          <p:cNvPr id="14" name="组合 13"/>
          <p:cNvGrpSpPr/>
          <p:nvPr/>
        </p:nvGrpSpPr>
        <p:grpSpPr>
          <a:xfrm>
            <a:off x="207645" y="331470"/>
            <a:ext cx="11412855" cy="647700"/>
            <a:chOff x="357" y="168"/>
            <a:chExt cx="17973" cy="1020"/>
          </a:xfrm>
        </p:grpSpPr>
        <p:sp>
          <p:nvSpPr>
            <p:cNvPr id="15" name="矩形 14"/>
            <p:cNvSpPr/>
            <p:nvPr/>
          </p:nvSpPr>
          <p:spPr>
            <a:xfrm>
              <a:off x="357" y="168"/>
              <a:ext cx="340" cy="340"/>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6" name="矩形 15"/>
            <p:cNvSpPr/>
            <p:nvPr/>
          </p:nvSpPr>
          <p:spPr>
            <a:xfrm>
              <a:off x="527" y="394"/>
              <a:ext cx="680" cy="6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7" name="矩形 16"/>
            <p:cNvSpPr/>
            <p:nvPr/>
          </p:nvSpPr>
          <p:spPr>
            <a:xfrm>
              <a:off x="1037"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cxnSp>
          <p:nvCxnSpPr>
            <p:cNvPr id="18" name="直接连接符 17"/>
            <p:cNvCxnSpPr/>
            <p:nvPr/>
          </p:nvCxnSpPr>
          <p:spPr>
            <a:xfrm>
              <a:off x="1377" y="1018"/>
              <a:ext cx="16613"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17990"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grpSp>
      <p:sp>
        <p:nvSpPr>
          <p:cNvPr id="20" name="文本框 26"/>
          <p:cNvSpPr txBox="1"/>
          <p:nvPr/>
        </p:nvSpPr>
        <p:spPr>
          <a:xfrm>
            <a:off x="936625" y="331470"/>
            <a:ext cx="7374890" cy="460375"/>
          </a:xfrm>
          <a:prstGeom prst="rect">
            <a:avLst/>
          </a:prstGeom>
          <a:noFill/>
        </p:spPr>
        <p:txBody>
          <a:bodyPr wrap="square" rtlCol="0">
            <a:spAutoFit/>
          </a:bodyPr>
          <a:p>
            <a:pPr algn="l">
              <a:buClrTx/>
              <a:buSzTx/>
              <a:buFontTx/>
            </a:pPr>
            <a:r>
              <a:rPr lang="zh-CN" sz="2400" b="1" spc="100">
                <a:solidFill>
                  <a:schemeClr val="accent1"/>
                </a:solidFill>
                <a:latin typeface="微软雅黑" panose="020B0503020204020204" charset="-122"/>
                <a:ea typeface="微软雅黑" panose="020B0503020204020204" charset="-122"/>
                <a:sym typeface="+mn-ea"/>
              </a:rPr>
              <a:t>五、得分说明</a:t>
            </a:r>
            <a:endParaRPr lang="zh-CN" sz="2400" b="1" spc="100">
              <a:solidFill>
                <a:schemeClr val="accent1"/>
              </a:solidFill>
              <a:latin typeface="微软雅黑" panose="020B0503020204020204" charset="-122"/>
              <a:ea typeface="微软雅黑" panose="020B0503020204020204" charset="-122"/>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图片 7" descr="图片1"/>
          <p:cNvPicPr>
            <a:picLocks noChangeAspect="1"/>
          </p:cNvPicPr>
          <p:nvPr/>
        </p:nvPicPr>
        <p:blipFill>
          <a:blip r:embed="rId1"/>
          <a:stretch>
            <a:fillRect/>
          </a:stretch>
        </p:blipFill>
        <p:spPr>
          <a:xfrm>
            <a:off x="-12065" y="0"/>
            <a:ext cx="12192000" cy="6858000"/>
          </a:xfrm>
          <a:prstGeom prst="rect">
            <a:avLst/>
          </a:prstGeom>
        </p:spPr>
      </p:pic>
      <p:pic>
        <p:nvPicPr>
          <p:cNvPr id="5" name="图片 4"/>
          <p:cNvPicPr>
            <a:picLocks noChangeAspect="1"/>
          </p:cNvPicPr>
          <p:nvPr>
            <p:custDataLst>
              <p:tags r:id="rId2"/>
            </p:custDataLst>
          </p:nvPr>
        </p:nvPicPr>
        <p:blipFill>
          <a:blip r:embed="rId3"/>
          <a:stretch>
            <a:fillRect/>
          </a:stretch>
        </p:blipFill>
        <p:spPr>
          <a:xfrm>
            <a:off x="850900" y="2184400"/>
            <a:ext cx="9174480" cy="3528060"/>
          </a:xfrm>
          <a:prstGeom prst="rect">
            <a:avLst/>
          </a:prstGeom>
        </p:spPr>
      </p:pic>
      <p:sp>
        <p:nvSpPr>
          <p:cNvPr id="6" name="文本框 5"/>
          <p:cNvSpPr txBox="1"/>
          <p:nvPr/>
        </p:nvSpPr>
        <p:spPr>
          <a:xfrm>
            <a:off x="759460" y="1574800"/>
            <a:ext cx="3564255" cy="368300"/>
          </a:xfrm>
          <a:prstGeom prst="rect">
            <a:avLst/>
          </a:prstGeom>
          <a:noFill/>
        </p:spPr>
        <p:txBody>
          <a:bodyPr wrap="square" rtlCol="0">
            <a:spAutoFit/>
          </a:bodyPr>
          <a:p>
            <a:r>
              <a:rPr lang="zh-CN" altLang="en-US"/>
              <a:t>元素定位选择</a:t>
            </a:r>
            <a:endParaRPr lang="zh-CN" altLang="en-US"/>
          </a:p>
        </p:txBody>
      </p:sp>
      <p:grpSp>
        <p:nvGrpSpPr>
          <p:cNvPr id="14" name="组合 13"/>
          <p:cNvGrpSpPr/>
          <p:nvPr/>
        </p:nvGrpSpPr>
        <p:grpSpPr>
          <a:xfrm>
            <a:off x="207645" y="331470"/>
            <a:ext cx="11412855" cy="647700"/>
            <a:chOff x="357" y="168"/>
            <a:chExt cx="17973" cy="1020"/>
          </a:xfrm>
        </p:grpSpPr>
        <p:sp>
          <p:nvSpPr>
            <p:cNvPr id="15" name="矩形 14"/>
            <p:cNvSpPr/>
            <p:nvPr/>
          </p:nvSpPr>
          <p:spPr>
            <a:xfrm>
              <a:off x="357" y="168"/>
              <a:ext cx="340" cy="340"/>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6" name="矩形 15"/>
            <p:cNvSpPr/>
            <p:nvPr/>
          </p:nvSpPr>
          <p:spPr>
            <a:xfrm>
              <a:off x="527" y="394"/>
              <a:ext cx="680" cy="6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7" name="矩形 16"/>
            <p:cNvSpPr/>
            <p:nvPr/>
          </p:nvSpPr>
          <p:spPr>
            <a:xfrm>
              <a:off x="1037"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cxnSp>
          <p:nvCxnSpPr>
            <p:cNvPr id="18" name="直接连接符 17"/>
            <p:cNvCxnSpPr/>
            <p:nvPr/>
          </p:nvCxnSpPr>
          <p:spPr>
            <a:xfrm>
              <a:off x="1377" y="1018"/>
              <a:ext cx="16613"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17990"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grpSp>
      <p:sp>
        <p:nvSpPr>
          <p:cNvPr id="20" name="文本框 26"/>
          <p:cNvSpPr txBox="1"/>
          <p:nvPr/>
        </p:nvSpPr>
        <p:spPr>
          <a:xfrm>
            <a:off x="936625" y="331470"/>
            <a:ext cx="7374890" cy="460375"/>
          </a:xfrm>
          <a:prstGeom prst="rect">
            <a:avLst/>
          </a:prstGeom>
          <a:noFill/>
        </p:spPr>
        <p:txBody>
          <a:bodyPr wrap="square" rtlCol="0">
            <a:spAutoFit/>
          </a:bodyPr>
          <a:p>
            <a:pPr algn="l">
              <a:buClrTx/>
              <a:buSzTx/>
              <a:buFontTx/>
            </a:pPr>
            <a:r>
              <a:rPr lang="zh-CN" sz="2400" b="1" spc="100">
                <a:solidFill>
                  <a:schemeClr val="accent1"/>
                </a:solidFill>
                <a:latin typeface="微软雅黑" panose="020B0503020204020204" charset="-122"/>
                <a:ea typeface="微软雅黑" panose="020B0503020204020204" charset="-122"/>
                <a:sym typeface="+mn-ea"/>
              </a:rPr>
              <a:t>五、注意事项</a:t>
            </a:r>
            <a:endParaRPr lang="en-US" altLang="zh-CN" sz="2400" b="1" spc="100">
              <a:solidFill>
                <a:schemeClr val="accent1"/>
              </a:solidFill>
              <a:latin typeface="微软雅黑" panose="020B0503020204020204" charset="-122"/>
              <a:ea typeface="微软雅黑" panose="020B0503020204020204" charset="-122"/>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图片 7" descr="图片1"/>
          <p:cNvPicPr>
            <a:picLocks noChangeAspect="1"/>
          </p:cNvPicPr>
          <p:nvPr/>
        </p:nvPicPr>
        <p:blipFill>
          <a:blip r:embed="rId1"/>
          <a:stretch>
            <a:fillRect/>
          </a:stretch>
        </p:blipFill>
        <p:spPr>
          <a:xfrm>
            <a:off x="-12065" y="0"/>
            <a:ext cx="12192000" cy="6858000"/>
          </a:xfrm>
          <a:prstGeom prst="rect">
            <a:avLst/>
          </a:prstGeom>
        </p:spPr>
      </p:pic>
      <p:sp>
        <p:nvSpPr>
          <p:cNvPr id="6" name="文本框 5"/>
          <p:cNvSpPr txBox="1"/>
          <p:nvPr/>
        </p:nvSpPr>
        <p:spPr>
          <a:xfrm>
            <a:off x="759460" y="1267460"/>
            <a:ext cx="3564255" cy="368300"/>
          </a:xfrm>
          <a:prstGeom prst="rect">
            <a:avLst/>
          </a:prstGeom>
          <a:noFill/>
        </p:spPr>
        <p:txBody>
          <a:bodyPr wrap="square" rtlCol="0">
            <a:spAutoFit/>
          </a:bodyPr>
          <a:lstStyle/>
          <a:p>
            <a:r>
              <a:rPr lang="en-US" altLang="zh-CN"/>
              <a:t>2.</a:t>
            </a:r>
            <a:r>
              <a:rPr lang="zh-CN" altLang="en-US"/>
              <a:t>每个步骤之间加一个时间等待</a:t>
            </a:r>
            <a:endParaRPr lang="zh-CN" altLang="en-US"/>
          </a:p>
        </p:txBody>
      </p:sp>
      <p:pic>
        <p:nvPicPr>
          <p:cNvPr id="4" name="图片 3"/>
          <p:cNvPicPr>
            <a:picLocks noChangeAspect="1"/>
          </p:cNvPicPr>
          <p:nvPr>
            <p:custDataLst>
              <p:tags r:id="rId2"/>
            </p:custDataLst>
          </p:nvPr>
        </p:nvPicPr>
        <p:blipFill>
          <a:blip r:embed="rId3"/>
          <a:stretch>
            <a:fillRect/>
          </a:stretch>
        </p:blipFill>
        <p:spPr>
          <a:xfrm>
            <a:off x="639445" y="1776095"/>
            <a:ext cx="9451340" cy="4533900"/>
          </a:xfrm>
          <a:prstGeom prst="rect">
            <a:avLst/>
          </a:prstGeom>
        </p:spPr>
      </p:pic>
      <p:grpSp>
        <p:nvGrpSpPr>
          <p:cNvPr id="14" name="组合 13"/>
          <p:cNvGrpSpPr/>
          <p:nvPr/>
        </p:nvGrpSpPr>
        <p:grpSpPr>
          <a:xfrm>
            <a:off x="207645" y="331470"/>
            <a:ext cx="11412855" cy="647700"/>
            <a:chOff x="357" y="168"/>
            <a:chExt cx="17973" cy="1020"/>
          </a:xfrm>
        </p:grpSpPr>
        <p:sp>
          <p:nvSpPr>
            <p:cNvPr id="15" name="矩形 14"/>
            <p:cNvSpPr/>
            <p:nvPr/>
          </p:nvSpPr>
          <p:spPr>
            <a:xfrm>
              <a:off x="357" y="168"/>
              <a:ext cx="340" cy="340"/>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6" name="矩形 15"/>
            <p:cNvSpPr/>
            <p:nvPr/>
          </p:nvSpPr>
          <p:spPr>
            <a:xfrm>
              <a:off x="527" y="394"/>
              <a:ext cx="680" cy="6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7" name="矩形 16"/>
            <p:cNvSpPr/>
            <p:nvPr/>
          </p:nvSpPr>
          <p:spPr>
            <a:xfrm>
              <a:off x="1037"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cxnSp>
          <p:nvCxnSpPr>
            <p:cNvPr id="18" name="直接连接符 17"/>
            <p:cNvCxnSpPr/>
            <p:nvPr/>
          </p:nvCxnSpPr>
          <p:spPr>
            <a:xfrm>
              <a:off x="1377" y="1018"/>
              <a:ext cx="16613"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17990"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grpSp>
      <p:sp>
        <p:nvSpPr>
          <p:cNvPr id="20" name="文本框 26"/>
          <p:cNvSpPr txBox="1"/>
          <p:nvPr/>
        </p:nvSpPr>
        <p:spPr>
          <a:xfrm>
            <a:off x="936625" y="331470"/>
            <a:ext cx="7374890" cy="460375"/>
          </a:xfrm>
          <a:prstGeom prst="rect">
            <a:avLst/>
          </a:prstGeom>
          <a:noFill/>
        </p:spPr>
        <p:txBody>
          <a:bodyPr wrap="square" rtlCol="0">
            <a:spAutoFit/>
          </a:bodyPr>
          <a:p>
            <a:pPr algn="l">
              <a:buClrTx/>
              <a:buSzTx/>
              <a:buFontTx/>
            </a:pPr>
            <a:r>
              <a:rPr lang="zh-CN" sz="2400" b="1" spc="100">
                <a:solidFill>
                  <a:schemeClr val="accent1"/>
                </a:solidFill>
                <a:latin typeface="微软雅黑" panose="020B0503020204020204" charset="-122"/>
                <a:ea typeface="微软雅黑" panose="020B0503020204020204" charset="-122"/>
                <a:sym typeface="+mn-ea"/>
              </a:rPr>
              <a:t>五、注意事项</a:t>
            </a:r>
            <a:endParaRPr lang="en-US" altLang="zh-CN" sz="2400" b="1" spc="100">
              <a:solidFill>
                <a:schemeClr val="accent1"/>
              </a:solidFill>
              <a:latin typeface="微软雅黑" panose="020B0503020204020204" charset="-122"/>
              <a:ea typeface="微软雅黑" panose="020B0503020204020204" charset="-122"/>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pic>
        <p:nvPicPr>
          <p:cNvPr id="8" name="图片 7" descr="图片1"/>
          <p:cNvPicPr>
            <a:picLocks noChangeAspect="1"/>
          </p:cNvPicPr>
          <p:nvPr/>
        </p:nvPicPr>
        <p:blipFill>
          <a:blip r:embed="rId1"/>
          <a:stretch>
            <a:fillRect/>
          </a:stretch>
        </p:blipFill>
        <p:spPr>
          <a:xfrm>
            <a:off x="-12065" y="0"/>
            <a:ext cx="12192000" cy="6858000"/>
          </a:xfrm>
          <a:prstGeom prst="rect">
            <a:avLst/>
          </a:prstGeom>
        </p:spPr>
      </p:pic>
      <p:sp>
        <p:nvSpPr>
          <p:cNvPr id="4" name="内容占位符 3"/>
          <p:cNvSpPr>
            <a:spLocks noGrp="1"/>
          </p:cNvSpPr>
          <p:nvPr>
            <p:ph idx="1"/>
          </p:nvPr>
        </p:nvSpPr>
        <p:spPr/>
        <p:txBody>
          <a:bodyPr/>
          <a:p>
            <a:pPr marL="0" indent="0" algn="ctr">
              <a:buNone/>
            </a:pPr>
            <a:r>
              <a:rPr lang="en-US" altLang="zh-CN" sz="540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PartTwo</a:t>
            </a:r>
            <a:r>
              <a:rPr lang="en-US" altLang="zh-CN" sz="5400">
                <a:solidFill>
                  <a:schemeClr val="accent1"/>
                </a:solidFill>
                <a:effectLst>
                  <a:outerShdw blurRad="38100" dist="25400" dir="5400000" algn="ctr" rotWithShape="0">
                    <a:srgbClr val="6E747A">
                      <a:alpha val="43000"/>
                    </a:srgbClr>
                  </a:outerShdw>
                </a:effectLst>
              </a:rPr>
              <a:t> </a:t>
            </a:r>
            <a:endParaRPr lang="en-US" altLang="zh-CN" sz="5400">
              <a:solidFill>
                <a:schemeClr val="accent1"/>
              </a:solidFill>
              <a:effectLst>
                <a:outerShdw blurRad="38100" dist="25400" dir="5400000" algn="ctr" rotWithShape="0">
                  <a:srgbClr val="6E747A">
                    <a:alpha val="43000"/>
                  </a:srgbClr>
                </a:outerShdw>
              </a:effectLst>
            </a:endParaRPr>
          </a:p>
          <a:p>
            <a:pPr marL="0" indent="0" algn="ctr">
              <a:buNone/>
            </a:pPr>
            <a:endParaRPr lang="en-US" altLang="zh-CN" sz="5400">
              <a:solidFill>
                <a:schemeClr val="accent1"/>
              </a:solidFill>
              <a:effectLst>
                <a:outerShdw blurRad="38100" dist="25400" dir="5400000" algn="ctr" rotWithShape="0">
                  <a:srgbClr val="6E747A">
                    <a:alpha val="43000"/>
                  </a:srgbClr>
                </a:outerShdw>
              </a:effectLst>
            </a:endParaRPr>
          </a:p>
          <a:p>
            <a:pPr marL="0" indent="0">
              <a:buNone/>
            </a:pPr>
            <a:r>
              <a:rPr lang="en-US" altLang="zh-CN" sz="5400">
                <a:solidFill>
                  <a:schemeClr val="accent1"/>
                </a:solidFill>
                <a:effectLst>
                  <a:outerShdw blurRad="38100" dist="25400" dir="5400000" algn="ctr" rotWithShape="0">
                    <a:srgbClr val="6E747A">
                      <a:alpha val="43000"/>
                    </a:srgbClr>
                  </a:outerShdw>
                </a:effectLst>
              </a:rPr>
              <a:t>         </a:t>
            </a:r>
            <a:r>
              <a:rPr lang="en-US" altLang="zh-CN" sz="540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rPr>
              <a:t>Web</a:t>
            </a:r>
            <a:r>
              <a:rPr lang="zh-CN" altLang="en-US" sz="540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rPr>
              <a:t>性能测试环境搭建</a:t>
            </a:r>
            <a:endParaRPr lang="zh-CN" altLang="en-US" sz="540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微软雅黑" panose="020B0503020204020204" charset="-122"/>
            </a:endParaRPr>
          </a:p>
        </p:txBody>
      </p:sp>
    </p:spTree>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图片 7" descr="图片1"/>
          <p:cNvPicPr>
            <a:picLocks noChangeAspect="1"/>
          </p:cNvPicPr>
          <p:nvPr/>
        </p:nvPicPr>
        <p:blipFill>
          <a:blip r:embed="rId1"/>
          <a:stretch>
            <a:fillRect/>
          </a:stretch>
        </p:blipFill>
        <p:spPr>
          <a:xfrm>
            <a:off x="-12065" y="0"/>
            <a:ext cx="12192000" cy="6858000"/>
          </a:xfrm>
          <a:prstGeom prst="rect">
            <a:avLst/>
          </a:prstGeom>
        </p:spPr>
      </p:pic>
      <p:sp>
        <p:nvSpPr>
          <p:cNvPr id="4" name="文本框 3"/>
          <p:cNvSpPr txBox="1"/>
          <p:nvPr/>
        </p:nvSpPr>
        <p:spPr>
          <a:xfrm>
            <a:off x="2315210" y="2035810"/>
            <a:ext cx="6096000" cy="2168525"/>
          </a:xfrm>
          <a:prstGeom prst="rect">
            <a:avLst/>
          </a:prstGeom>
          <a:noFill/>
        </p:spPr>
        <p:txBody>
          <a:bodyPr wrap="square" rtlCol="0" anchor="t">
            <a:spAutoFit/>
          </a:bodyPr>
          <a:p>
            <a:pPr algn="l">
              <a:lnSpc>
                <a:spcPct val="250000"/>
              </a:lnSpc>
              <a:buClrTx/>
              <a:buSzTx/>
              <a:buFontTx/>
            </a:pPr>
            <a:r>
              <a:rPr lang="en-US" altLang="zh-CN" sz="1800">
                <a:sym typeface="+mn-ea"/>
              </a:rPr>
              <a:t>1. 下载大赛专用的含有慕测插件的JMeter客户端</a:t>
            </a:r>
            <a:endParaRPr lang="en-US" altLang="zh-CN" sz="1800">
              <a:sym typeface="+mn-ea"/>
            </a:endParaRPr>
          </a:p>
          <a:p>
            <a:pPr algn="l">
              <a:lnSpc>
                <a:spcPct val="250000"/>
              </a:lnSpc>
              <a:buClrTx/>
              <a:buSzTx/>
              <a:buFontTx/>
            </a:pPr>
            <a:r>
              <a:rPr lang="en-US" altLang="zh-CN" sz="1800">
                <a:sym typeface="+mn-ea"/>
              </a:rPr>
              <a:t>2. 搭建java环境，要求JDK1.8版本</a:t>
            </a:r>
            <a:endParaRPr lang="en-US" altLang="zh-CN" sz="1800">
              <a:sym typeface="+mn-ea"/>
            </a:endParaRPr>
          </a:p>
          <a:p>
            <a:pPr algn="l">
              <a:lnSpc>
                <a:spcPct val="250000"/>
              </a:lnSpc>
              <a:buClrTx/>
              <a:buSzTx/>
              <a:buFontTx/>
            </a:pPr>
            <a:r>
              <a:rPr lang="en-US" altLang="zh-CN" sz="1800">
                <a:sym typeface="+mn-ea"/>
              </a:rPr>
              <a:t>3. 下载badboy录制工具</a:t>
            </a:r>
            <a:endParaRPr lang="en-US" altLang="zh-CN" sz="1800">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pic>
        <p:nvPicPr>
          <p:cNvPr id="8" name="图片 7" descr="图片1"/>
          <p:cNvPicPr>
            <a:picLocks noChangeAspect="1"/>
          </p:cNvPicPr>
          <p:nvPr/>
        </p:nvPicPr>
        <p:blipFill>
          <a:blip r:embed="rId1"/>
          <a:stretch>
            <a:fillRect/>
          </a:stretch>
        </p:blipFill>
        <p:spPr>
          <a:xfrm>
            <a:off x="-12065" y="0"/>
            <a:ext cx="12192000" cy="6858000"/>
          </a:xfrm>
          <a:prstGeom prst="rect">
            <a:avLst/>
          </a:prstGeom>
        </p:spPr>
      </p:pic>
      <p:sp>
        <p:nvSpPr>
          <p:cNvPr id="4" name="文本框 3"/>
          <p:cNvSpPr txBox="1"/>
          <p:nvPr/>
        </p:nvSpPr>
        <p:spPr>
          <a:xfrm>
            <a:off x="584835" y="1034415"/>
            <a:ext cx="7995920" cy="1614805"/>
          </a:xfrm>
          <a:prstGeom prst="rect">
            <a:avLst/>
          </a:prstGeom>
          <a:noFill/>
        </p:spPr>
        <p:txBody>
          <a:bodyPr wrap="square" rtlCol="0">
            <a:spAutoFit/>
          </a:bodyPr>
          <a:p>
            <a:pPr algn="l">
              <a:lnSpc>
                <a:spcPct val="150000"/>
              </a:lnSpc>
              <a:buClrTx/>
              <a:buSzTx/>
              <a:buNone/>
            </a:pPr>
            <a:r>
              <a:rPr lang="zh-CN" altLang="en-US" sz="1600"/>
              <a:t>操作流程:</a:t>
            </a:r>
            <a:endParaRPr lang="zh-CN" altLang="en-US" sz="1600"/>
          </a:p>
          <a:p>
            <a:pPr algn="l">
              <a:lnSpc>
                <a:spcPct val="150000"/>
              </a:lnSpc>
              <a:buClrTx/>
              <a:buSzTx/>
              <a:buNone/>
            </a:pPr>
            <a:r>
              <a:rPr lang="zh-CN" altLang="en-US" sz="1600"/>
              <a:t>1.登录慕测官网(http://www.mooctest.net)首页</a:t>
            </a:r>
            <a:endParaRPr lang="zh-CN" altLang="en-US" sz="1600"/>
          </a:p>
          <a:p>
            <a:pPr algn="l">
              <a:lnSpc>
                <a:spcPct val="150000"/>
              </a:lnSpc>
              <a:buClrTx/>
              <a:buSzTx/>
              <a:buNone/>
            </a:pPr>
            <a:r>
              <a:rPr lang="zh-CN" altLang="en-US" sz="1600"/>
              <a:t>2.选择插件下载</a:t>
            </a:r>
            <a:endParaRPr lang="zh-CN" altLang="en-US" sz="1600"/>
          </a:p>
          <a:p>
            <a:pPr algn="l">
              <a:lnSpc>
                <a:spcPct val="150000"/>
              </a:lnSpc>
              <a:buClrTx/>
              <a:buSzTx/>
              <a:buNone/>
            </a:pPr>
            <a:r>
              <a:rPr lang="zh-CN" altLang="en-US" sz="1600"/>
              <a:t>3.下载含有插件的Jmete</a:t>
            </a:r>
            <a:r>
              <a:rPr lang="en-US" altLang="zh-CN"/>
              <a:t>r</a:t>
            </a:r>
            <a:endParaRPr lang="en-US" altLang="zh-CN"/>
          </a:p>
        </p:txBody>
      </p:sp>
      <p:pic>
        <p:nvPicPr>
          <p:cNvPr id="5" name="图片 4"/>
          <p:cNvPicPr>
            <a:picLocks noChangeAspect="1"/>
          </p:cNvPicPr>
          <p:nvPr/>
        </p:nvPicPr>
        <p:blipFill>
          <a:blip r:embed="rId2"/>
          <a:stretch>
            <a:fillRect/>
          </a:stretch>
        </p:blipFill>
        <p:spPr>
          <a:xfrm>
            <a:off x="643255" y="2649220"/>
            <a:ext cx="9277350" cy="3724275"/>
          </a:xfrm>
          <a:prstGeom prst="rect">
            <a:avLst/>
          </a:prstGeom>
        </p:spPr>
      </p:pic>
      <p:grpSp>
        <p:nvGrpSpPr>
          <p:cNvPr id="14" name="组合 13"/>
          <p:cNvGrpSpPr/>
          <p:nvPr/>
        </p:nvGrpSpPr>
        <p:grpSpPr>
          <a:xfrm>
            <a:off x="226695" y="321945"/>
            <a:ext cx="11412855" cy="647700"/>
            <a:chOff x="357" y="168"/>
            <a:chExt cx="17973" cy="1020"/>
          </a:xfrm>
        </p:grpSpPr>
        <p:sp>
          <p:nvSpPr>
            <p:cNvPr id="15" name="矩形 14"/>
            <p:cNvSpPr/>
            <p:nvPr/>
          </p:nvSpPr>
          <p:spPr>
            <a:xfrm>
              <a:off x="357" y="168"/>
              <a:ext cx="340" cy="340"/>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6" name="矩形 15"/>
            <p:cNvSpPr/>
            <p:nvPr/>
          </p:nvSpPr>
          <p:spPr>
            <a:xfrm>
              <a:off x="527" y="394"/>
              <a:ext cx="680" cy="6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7" name="矩形 16"/>
            <p:cNvSpPr/>
            <p:nvPr/>
          </p:nvSpPr>
          <p:spPr>
            <a:xfrm>
              <a:off x="1037"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cxnSp>
          <p:nvCxnSpPr>
            <p:cNvPr id="18" name="直接连接符 17"/>
            <p:cNvCxnSpPr/>
            <p:nvPr/>
          </p:nvCxnSpPr>
          <p:spPr>
            <a:xfrm>
              <a:off x="1377" y="1018"/>
              <a:ext cx="16613"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17990"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grpSp>
      <p:sp>
        <p:nvSpPr>
          <p:cNvPr id="20" name="文本框 26"/>
          <p:cNvSpPr txBox="1"/>
          <p:nvPr/>
        </p:nvSpPr>
        <p:spPr>
          <a:xfrm>
            <a:off x="955675" y="321945"/>
            <a:ext cx="5029200" cy="460375"/>
          </a:xfrm>
          <a:prstGeom prst="rect">
            <a:avLst/>
          </a:prstGeom>
          <a:noFill/>
        </p:spPr>
        <p:txBody>
          <a:bodyPr wrap="square" rtlCol="0">
            <a:spAutoFit/>
          </a:bodyPr>
          <a:p>
            <a:r>
              <a:rPr lang="zh-CN" sz="2400" b="1" spc="100">
                <a:solidFill>
                  <a:schemeClr val="accent1"/>
                </a:solidFill>
                <a:latin typeface="微软雅黑" panose="020B0503020204020204" charset="-122"/>
                <a:ea typeface="微软雅黑" panose="020B0503020204020204" charset="-122"/>
                <a:sym typeface="+mn-ea"/>
              </a:rPr>
              <a:t>一、</a:t>
            </a:r>
            <a:r>
              <a:rPr lang="zh-CN" altLang="en-US" sz="2400">
                <a:solidFill>
                  <a:schemeClr val="accent1"/>
                </a:solidFill>
                <a:effectLst>
                  <a:outerShdw blurRad="38100" dist="25400" dir="5400000" algn="ctr" rotWithShape="0">
                    <a:srgbClr val="6E747A">
                      <a:alpha val="43000"/>
                    </a:srgbClr>
                  </a:outerShdw>
                </a:effectLst>
                <a:sym typeface="+mn-ea"/>
              </a:rPr>
              <a:t>下载含有慕测插件的</a:t>
            </a:r>
            <a:r>
              <a:rPr lang="en-US" altLang="zh-CN" sz="2400">
                <a:solidFill>
                  <a:schemeClr val="accent1"/>
                </a:solidFill>
                <a:effectLst>
                  <a:outerShdw blurRad="38100" dist="25400" dir="5400000" algn="ctr" rotWithShape="0">
                    <a:srgbClr val="6E747A">
                      <a:alpha val="43000"/>
                    </a:srgbClr>
                  </a:outerShdw>
                </a:effectLst>
                <a:sym typeface="+mn-ea"/>
              </a:rPr>
              <a:t>Jmeter</a:t>
            </a:r>
            <a:r>
              <a:rPr lang="zh-CN" altLang="en-US" sz="2400">
                <a:solidFill>
                  <a:schemeClr val="accent1"/>
                </a:solidFill>
                <a:effectLst>
                  <a:outerShdw blurRad="38100" dist="25400" dir="5400000" algn="ctr" rotWithShape="0">
                    <a:srgbClr val="6E747A">
                      <a:alpha val="43000"/>
                    </a:srgbClr>
                  </a:outerShdw>
                </a:effectLst>
                <a:sym typeface="+mn-ea"/>
              </a:rPr>
              <a:t>（</a:t>
            </a:r>
            <a:r>
              <a:rPr lang="en-US" altLang="zh-CN" sz="2400">
                <a:solidFill>
                  <a:schemeClr val="accent1"/>
                </a:solidFill>
                <a:effectLst>
                  <a:outerShdw blurRad="38100" dist="25400" dir="5400000" algn="ctr" rotWithShape="0">
                    <a:srgbClr val="6E747A">
                      <a:alpha val="43000"/>
                    </a:srgbClr>
                  </a:outerShdw>
                </a:effectLst>
                <a:sym typeface="+mn-ea"/>
              </a:rPr>
              <a:t>1</a:t>
            </a:r>
            <a:r>
              <a:rPr lang="zh-CN" altLang="en-US" sz="2400">
                <a:solidFill>
                  <a:schemeClr val="accent1"/>
                </a:solidFill>
                <a:effectLst>
                  <a:outerShdw blurRad="38100" dist="25400" dir="5400000" algn="ctr" rotWithShape="0">
                    <a:srgbClr val="6E747A">
                      <a:alpha val="43000"/>
                    </a:srgbClr>
                  </a:outerShdw>
                </a:effectLst>
                <a:sym typeface="+mn-ea"/>
              </a:rPr>
              <a:t>）</a:t>
            </a:r>
            <a:endParaRPr lang="zh-CN" altLang="en-US" sz="2400" b="1" spc="10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sym typeface="+mn-ea"/>
            </a:endParaRPr>
          </a:p>
        </p:txBody>
      </p:sp>
    </p:spTree>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图片 7" descr="图片1"/>
          <p:cNvPicPr>
            <a:picLocks noChangeAspect="1"/>
          </p:cNvPicPr>
          <p:nvPr/>
        </p:nvPicPr>
        <p:blipFill>
          <a:blip r:embed="rId1"/>
          <a:stretch>
            <a:fillRect/>
          </a:stretch>
        </p:blipFill>
        <p:spPr>
          <a:xfrm>
            <a:off x="-12065" y="0"/>
            <a:ext cx="12192000" cy="6858000"/>
          </a:xfrm>
          <a:prstGeom prst="rect">
            <a:avLst/>
          </a:prstGeom>
        </p:spPr>
      </p:pic>
      <p:sp>
        <p:nvSpPr>
          <p:cNvPr id="4" name="文本框 3"/>
          <p:cNvSpPr txBox="1"/>
          <p:nvPr/>
        </p:nvSpPr>
        <p:spPr>
          <a:xfrm>
            <a:off x="643255" y="1081405"/>
            <a:ext cx="7995920" cy="829945"/>
          </a:xfrm>
          <a:prstGeom prst="rect">
            <a:avLst/>
          </a:prstGeom>
          <a:noFill/>
        </p:spPr>
        <p:txBody>
          <a:bodyPr wrap="square" rtlCol="0">
            <a:spAutoFit/>
          </a:bodyPr>
          <a:p>
            <a:pPr algn="l">
              <a:lnSpc>
                <a:spcPct val="150000"/>
              </a:lnSpc>
              <a:buClrTx/>
              <a:buSzTx/>
              <a:buNone/>
            </a:pPr>
            <a:r>
              <a:rPr lang="zh-CN" altLang="en-US" sz="1600"/>
              <a:t>操作流程:</a:t>
            </a:r>
            <a:endParaRPr lang="zh-CN" altLang="en-US" sz="1600"/>
          </a:p>
          <a:p>
            <a:pPr algn="l">
              <a:lnSpc>
                <a:spcPct val="150000"/>
              </a:lnSpc>
              <a:buClrTx/>
              <a:buSzTx/>
              <a:buNone/>
            </a:pPr>
            <a:r>
              <a:rPr lang="zh-CN" altLang="en-US" sz="1600"/>
              <a:t>4.解压下载好的jmeter安装包</a:t>
            </a:r>
            <a:endParaRPr lang="zh-CN" altLang="en-US" sz="1600"/>
          </a:p>
        </p:txBody>
      </p:sp>
      <p:pic>
        <p:nvPicPr>
          <p:cNvPr id="5" name="图片 4"/>
          <p:cNvPicPr>
            <a:picLocks noChangeAspect="1"/>
          </p:cNvPicPr>
          <p:nvPr/>
        </p:nvPicPr>
        <p:blipFill>
          <a:blip r:embed="rId2"/>
          <a:stretch>
            <a:fillRect/>
          </a:stretch>
        </p:blipFill>
        <p:spPr>
          <a:xfrm>
            <a:off x="755015" y="2022475"/>
            <a:ext cx="8204835" cy="4545965"/>
          </a:xfrm>
          <a:prstGeom prst="rect">
            <a:avLst/>
          </a:prstGeom>
        </p:spPr>
      </p:pic>
      <p:grpSp>
        <p:nvGrpSpPr>
          <p:cNvPr id="14" name="组合 13"/>
          <p:cNvGrpSpPr/>
          <p:nvPr/>
        </p:nvGrpSpPr>
        <p:grpSpPr>
          <a:xfrm>
            <a:off x="226695" y="321945"/>
            <a:ext cx="11412855" cy="647700"/>
            <a:chOff x="357" y="168"/>
            <a:chExt cx="17973" cy="1020"/>
          </a:xfrm>
        </p:grpSpPr>
        <p:sp>
          <p:nvSpPr>
            <p:cNvPr id="15" name="矩形 14"/>
            <p:cNvSpPr/>
            <p:nvPr/>
          </p:nvSpPr>
          <p:spPr>
            <a:xfrm>
              <a:off x="357" y="168"/>
              <a:ext cx="340" cy="340"/>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6" name="矩形 15"/>
            <p:cNvSpPr/>
            <p:nvPr/>
          </p:nvSpPr>
          <p:spPr>
            <a:xfrm>
              <a:off x="527" y="394"/>
              <a:ext cx="680" cy="6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7" name="矩形 16"/>
            <p:cNvSpPr/>
            <p:nvPr/>
          </p:nvSpPr>
          <p:spPr>
            <a:xfrm>
              <a:off x="1037"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cxnSp>
          <p:nvCxnSpPr>
            <p:cNvPr id="18" name="直接连接符 17"/>
            <p:cNvCxnSpPr/>
            <p:nvPr/>
          </p:nvCxnSpPr>
          <p:spPr>
            <a:xfrm>
              <a:off x="1377" y="1018"/>
              <a:ext cx="16613"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17990"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grpSp>
      <p:sp>
        <p:nvSpPr>
          <p:cNvPr id="20" name="文本框 26"/>
          <p:cNvSpPr txBox="1"/>
          <p:nvPr/>
        </p:nvSpPr>
        <p:spPr>
          <a:xfrm>
            <a:off x="955675" y="321945"/>
            <a:ext cx="5029200" cy="460375"/>
          </a:xfrm>
          <a:prstGeom prst="rect">
            <a:avLst/>
          </a:prstGeom>
          <a:noFill/>
        </p:spPr>
        <p:txBody>
          <a:bodyPr wrap="square" rtlCol="0">
            <a:spAutoFit/>
          </a:bodyPr>
          <a:p>
            <a:r>
              <a:rPr lang="zh-CN" sz="2400" b="1" spc="100">
                <a:solidFill>
                  <a:schemeClr val="accent1"/>
                </a:solidFill>
                <a:latin typeface="微软雅黑" panose="020B0503020204020204" charset="-122"/>
                <a:ea typeface="微软雅黑" panose="020B0503020204020204" charset="-122"/>
                <a:sym typeface="+mn-ea"/>
              </a:rPr>
              <a:t>一、</a:t>
            </a:r>
            <a:r>
              <a:rPr lang="zh-CN" altLang="en-US" sz="2400">
                <a:solidFill>
                  <a:schemeClr val="accent1"/>
                </a:solidFill>
                <a:effectLst>
                  <a:outerShdw blurRad="38100" dist="25400" dir="5400000" algn="ctr" rotWithShape="0">
                    <a:srgbClr val="6E747A">
                      <a:alpha val="43000"/>
                    </a:srgbClr>
                  </a:outerShdw>
                </a:effectLst>
                <a:sym typeface="+mn-ea"/>
              </a:rPr>
              <a:t>下载含有慕测插件的</a:t>
            </a:r>
            <a:r>
              <a:rPr lang="en-US" altLang="zh-CN" sz="2400">
                <a:solidFill>
                  <a:schemeClr val="accent1"/>
                </a:solidFill>
                <a:effectLst>
                  <a:outerShdw blurRad="38100" dist="25400" dir="5400000" algn="ctr" rotWithShape="0">
                    <a:srgbClr val="6E747A">
                      <a:alpha val="43000"/>
                    </a:srgbClr>
                  </a:outerShdw>
                </a:effectLst>
                <a:sym typeface="+mn-ea"/>
              </a:rPr>
              <a:t>Jmeter</a:t>
            </a:r>
            <a:r>
              <a:rPr lang="zh-CN" altLang="en-US" sz="2400">
                <a:solidFill>
                  <a:schemeClr val="accent1"/>
                </a:solidFill>
                <a:effectLst>
                  <a:outerShdw blurRad="38100" dist="25400" dir="5400000" algn="ctr" rotWithShape="0">
                    <a:srgbClr val="6E747A">
                      <a:alpha val="43000"/>
                    </a:srgbClr>
                  </a:outerShdw>
                </a:effectLst>
                <a:sym typeface="+mn-ea"/>
              </a:rPr>
              <a:t>（</a:t>
            </a:r>
            <a:r>
              <a:rPr lang="en-US" altLang="zh-CN" sz="2400">
                <a:solidFill>
                  <a:schemeClr val="accent1"/>
                </a:solidFill>
                <a:effectLst>
                  <a:outerShdw blurRad="38100" dist="25400" dir="5400000" algn="ctr" rotWithShape="0">
                    <a:srgbClr val="6E747A">
                      <a:alpha val="43000"/>
                    </a:srgbClr>
                  </a:outerShdw>
                </a:effectLst>
                <a:sym typeface="+mn-ea"/>
              </a:rPr>
              <a:t>2</a:t>
            </a:r>
            <a:r>
              <a:rPr lang="zh-CN" altLang="en-US" sz="2400">
                <a:solidFill>
                  <a:schemeClr val="accent1"/>
                </a:solidFill>
                <a:effectLst>
                  <a:outerShdw blurRad="38100" dist="25400" dir="5400000" algn="ctr" rotWithShape="0">
                    <a:srgbClr val="6E747A">
                      <a:alpha val="43000"/>
                    </a:srgbClr>
                  </a:outerShdw>
                </a:effectLst>
                <a:sym typeface="+mn-ea"/>
              </a:rPr>
              <a:t>）</a:t>
            </a:r>
            <a:endParaRPr lang="zh-CN" altLang="en-US" sz="2400" b="1" spc="10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sym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图片 7" descr="图片1"/>
          <p:cNvPicPr>
            <a:picLocks noChangeAspect="1"/>
          </p:cNvPicPr>
          <p:nvPr/>
        </p:nvPicPr>
        <p:blipFill>
          <a:blip r:embed="rId1"/>
          <a:stretch>
            <a:fillRect/>
          </a:stretch>
        </p:blipFill>
        <p:spPr>
          <a:xfrm>
            <a:off x="-12065" y="0"/>
            <a:ext cx="12192000" cy="6858000"/>
          </a:xfrm>
          <a:prstGeom prst="rect">
            <a:avLst/>
          </a:prstGeom>
        </p:spPr>
      </p:pic>
      <p:sp>
        <p:nvSpPr>
          <p:cNvPr id="5" name="文本框 4"/>
          <p:cNvSpPr txBox="1"/>
          <p:nvPr/>
        </p:nvSpPr>
        <p:spPr>
          <a:xfrm>
            <a:off x="460375" y="1390650"/>
            <a:ext cx="3886200" cy="2306955"/>
          </a:xfrm>
          <a:prstGeom prst="rect">
            <a:avLst/>
          </a:prstGeom>
          <a:noFill/>
        </p:spPr>
        <p:txBody>
          <a:bodyPr wrap="square" rtlCol="0" anchor="t">
            <a:spAutoFit/>
          </a:bodyPr>
          <a:p>
            <a:pPr algn="l">
              <a:lnSpc>
                <a:spcPct val="150000"/>
              </a:lnSpc>
              <a:buClrTx/>
              <a:buSzTx/>
              <a:buNone/>
            </a:pPr>
            <a:r>
              <a:rPr lang="zh-CN" altLang="en-US" sz="1600">
                <a:sym typeface="+mn-ea"/>
              </a:rPr>
              <a:t>操作流程:</a:t>
            </a:r>
            <a:endParaRPr lang="zh-CN" altLang="en-US" sz="1600"/>
          </a:p>
          <a:p>
            <a:pPr algn="l">
              <a:lnSpc>
                <a:spcPct val="150000"/>
              </a:lnSpc>
              <a:buClrTx/>
              <a:buSzTx/>
              <a:buNone/>
            </a:pPr>
            <a:r>
              <a:rPr lang="zh-CN" altLang="en-US" sz="1600">
                <a:sym typeface="+mn-ea"/>
              </a:rPr>
              <a:t>5.运行Jemeter</a:t>
            </a:r>
            <a:endParaRPr lang="zh-CN" altLang="en-US" sz="1600">
              <a:sym typeface="+mn-ea"/>
            </a:endParaRPr>
          </a:p>
          <a:p>
            <a:pPr algn="l">
              <a:lnSpc>
                <a:spcPct val="150000"/>
              </a:lnSpc>
              <a:buClrTx/>
              <a:buSzTx/>
              <a:buNone/>
            </a:pPr>
            <a:r>
              <a:rPr lang="zh-CN" altLang="en-US" sz="1600">
                <a:sym typeface="+mn-ea"/>
              </a:rPr>
              <a:t>Windows用户:</a:t>
            </a:r>
            <a:endParaRPr lang="zh-CN" altLang="en-US" sz="1600">
              <a:sym typeface="+mn-ea"/>
            </a:endParaRPr>
          </a:p>
          <a:p>
            <a:pPr algn="l">
              <a:lnSpc>
                <a:spcPct val="150000"/>
              </a:lnSpc>
              <a:buClrTx/>
              <a:buSzTx/>
              <a:buNone/>
            </a:pPr>
            <a:r>
              <a:rPr lang="zh-CN" altLang="en-US" sz="1600">
                <a:sym typeface="+mn-ea"/>
              </a:rPr>
              <a:t>运行bin文件夹下的jmeter.bat文件</a:t>
            </a:r>
            <a:endParaRPr lang="zh-CN" altLang="en-US" sz="1600">
              <a:sym typeface="+mn-ea"/>
            </a:endParaRPr>
          </a:p>
          <a:p>
            <a:pPr algn="l">
              <a:lnSpc>
                <a:spcPct val="150000"/>
              </a:lnSpc>
              <a:buClrTx/>
              <a:buSzTx/>
              <a:buNone/>
            </a:pPr>
            <a:r>
              <a:rPr lang="zh-CN" altLang="en-US" sz="1600">
                <a:sym typeface="+mn-ea"/>
              </a:rPr>
              <a:t>Mac/Linux用户:</a:t>
            </a:r>
            <a:endParaRPr lang="zh-CN" altLang="en-US" sz="1600">
              <a:sym typeface="+mn-ea"/>
            </a:endParaRPr>
          </a:p>
          <a:p>
            <a:pPr algn="l">
              <a:lnSpc>
                <a:spcPct val="150000"/>
              </a:lnSpc>
              <a:buClrTx/>
              <a:buSzTx/>
              <a:buNone/>
            </a:pPr>
            <a:r>
              <a:rPr lang="zh-CN" altLang="en-US" sz="1600">
                <a:sym typeface="+mn-ea"/>
              </a:rPr>
              <a:t>运行bin文件夹下的jmeter文件</a:t>
            </a:r>
            <a:endParaRPr lang="zh-CN" altLang="en-US" sz="1600">
              <a:sym typeface="+mn-ea"/>
            </a:endParaRPr>
          </a:p>
        </p:txBody>
      </p:sp>
      <p:pic>
        <p:nvPicPr>
          <p:cNvPr id="6" name="图片 5"/>
          <p:cNvPicPr>
            <a:picLocks noChangeAspect="1"/>
          </p:cNvPicPr>
          <p:nvPr/>
        </p:nvPicPr>
        <p:blipFill>
          <a:blip r:embed="rId2"/>
          <a:stretch>
            <a:fillRect/>
          </a:stretch>
        </p:blipFill>
        <p:spPr>
          <a:xfrm>
            <a:off x="4147185" y="2265680"/>
            <a:ext cx="7938135" cy="4417695"/>
          </a:xfrm>
          <a:prstGeom prst="rect">
            <a:avLst/>
          </a:prstGeom>
        </p:spPr>
      </p:pic>
      <p:grpSp>
        <p:nvGrpSpPr>
          <p:cNvPr id="14" name="组合 13"/>
          <p:cNvGrpSpPr/>
          <p:nvPr/>
        </p:nvGrpSpPr>
        <p:grpSpPr>
          <a:xfrm>
            <a:off x="226695" y="321945"/>
            <a:ext cx="11412855" cy="647700"/>
            <a:chOff x="357" y="168"/>
            <a:chExt cx="17973" cy="1020"/>
          </a:xfrm>
        </p:grpSpPr>
        <p:sp>
          <p:nvSpPr>
            <p:cNvPr id="15" name="矩形 14"/>
            <p:cNvSpPr/>
            <p:nvPr/>
          </p:nvSpPr>
          <p:spPr>
            <a:xfrm>
              <a:off x="357" y="168"/>
              <a:ext cx="340" cy="340"/>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6" name="矩形 15"/>
            <p:cNvSpPr/>
            <p:nvPr/>
          </p:nvSpPr>
          <p:spPr>
            <a:xfrm>
              <a:off x="527" y="394"/>
              <a:ext cx="680" cy="6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7" name="矩形 16"/>
            <p:cNvSpPr/>
            <p:nvPr/>
          </p:nvSpPr>
          <p:spPr>
            <a:xfrm>
              <a:off x="1037"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cxnSp>
          <p:nvCxnSpPr>
            <p:cNvPr id="18" name="直接连接符 17"/>
            <p:cNvCxnSpPr/>
            <p:nvPr/>
          </p:nvCxnSpPr>
          <p:spPr>
            <a:xfrm>
              <a:off x="1377" y="1018"/>
              <a:ext cx="16613"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17990"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grpSp>
      <p:sp>
        <p:nvSpPr>
          <p:cNvPr id="20" name="文本框 26"/>
          <p:cNvSpPr txBox="1"/>
          <p:nvPr/>
        </p:nvSpPr>
        <p:spPr>
          <a:xfrm>
            <a:off x="955675" y="321945"/>
            <a:ext cx="5029200" cy="460375"/>
          </a:xfrm>
          <a:prstGeom prst="rect">
            <a:avLst/>
          </a:prstGeom>
          <a:noFill/>
        </p:spPr>
        <p:txBody>
          <a:bodyPr wrap="square" rtlCol="0">
            <a:spAutoFit/>
          </a:bodyPr>
          <a:p>
            <a:r>
              <a:rPr lang="zh-CN" sz="2400" b="1" spc="100">
                <a:solidFill>
                  <a:schemeClr val="accent1"/>
                </a:solidFill>
                <a:latin typeface="微软雅黑" panose="020B0503020204020204" charset="-122"/>
                <a:ea typeface="微软雅黑" panose="020B0503020204020204" charset="-122"/>
                <a:sym typeface="+mn-ea"/>
              </a:rPr>
              <a:t>一、</a:t>
            </a:r>
            <a:r>
              <a:rPr lang="zh-CN" altLang="en-US" sz="2400">
                <a:solidFill>
                  <a:schemeClr val="accent1"/>
                </a:solidFill>
                <a:effectLst>
                  <a:outerShdw blurRad="38100" dist="25400" dir="5400000" algn="ctr" rotWithShape="0">
                    <a:srgbClr val="6E747A">
                      <a:alpha val="43000"/>
                    </a:srgbClr>
                  </a:outerShdw>
                </a:effectLst>
                <a:sym typeface="+mn-ea"/>
              </a:rPr>
              <a:t>下载含有慕测插件的</a:t>
            </a:r>
            <a:r>
              <a:rPr lang="en-US" altLang="zh-CN" sz="2400">
                <a:solidFill>
                  <a:schemeClr val="accent1"/>
                </a:solidFill>
                <a:effectLst>
                  <a:outerShdw blurRad="38100" dist="25400" dir="5400000" algn="ctr" rotWithShape="0">
                    <a:srgbClr val="6E747A">
                      <a:alpha val="43000"/>
                    </a:srgbClr>
                  </a:outerShdw>
                </a:effectLst>
                <a:sym typeface="+mn-ea"/>
              </a:rPr>
              <a:t>Jmeter</a:t>
            </a:r>
            <a:r>
              <a:rPr lang="zh-CN" altLang="en-US" sz="2400">
                <a:solidFill>
                  <a:schemeClr val="accent1"/>
                </a:solidFill>
                <a:effectLst>
                  <a:outerShdw blurRad="38100" dist="25400" dir="5400000" algn="ctr" rotWithShape="0">
                    <a:srgbClr val="6E747A">
                      <a:alpha val="43000"/>
                    </a:srgbClr>
                  </a:outerShdw>
                </a:effectLst>
                <a:sym typeface="+mn-ea"/>
              </a:rPr>
              <a:t>（</a:t>
            </a:r>
            <a:r>
              <a:rPr lang="en-US" altLang="zh-CN" sz="2400">
                <a:solidFill>
                  <a:schemeClr val="accent1"/>
                </a:solidFill>
                <a:effectLst>
                  <a:outerShdw blurRad="38100" dist="25400" dir="5400000" algn="ctr" rotWithShape="0">
                    <a:srgbClr val="6E747A">
                      <a:alpha val="43000"/>
                    </a:srgbClr>
                  </a:outerShdw>
                </a:effectLst>
                <a:sym typeface="+mn-ea"/>
              </a:rPr>
              <a:t>3</a:t>
            </a:r>
            <a:r>
              <a:rPr lang="zh-CN" altLang="en-US" sz="2400">
                <a:solidFill>
                  <a:schemeClr val="accent1"/>
                </a:solidFill>
                <a:effectLst>
                  <a:outerShdw blurRad="38100" dist="25400" dir="5400000" algn="ctr" rotWithShape="0">
                    <a:srgbClr val="6E747A">
                      <a:alpha val="43000"/>
                    </a:srgbClr>
                  </a:outerShdw>
                </a:effectLst>
                <a:sym typeface="+mn-ea"/>
              </a:rPr>
              <a:t>）</a:t>
            </a:r>
            <a:endParaRPr lang="zh-CN" altLang="en-US" sz="2400" b="1" spc="10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图片 7" descr="图片1"/>
          <p:cNvPicPr>
            <a:picLocks noChangeAspect="1"/>
          </p:cNvPicPr>
          <p:nvPr/>
        </p:nvPicPr>
        <p:blipFill>
          <a:blip r:embed="rId1"/>
          <a:stretch>
            <a:fillRect/>
          </a:stretch>
        </p:blipFill>
        <p:spPr>
          <a:xfrm>
            <a:off x="-12065" y="0"/>
            <a:ext cx="12192000" cy="6858000"/>
          </a:xfrm>
          <a:prstGeom prst="rect">
            <a:avLst/>
          </a:prstGeom>
        </p:spPr>
      </p:pic>
      <p:sp>
        <p:nvSpPr>
          <p:cNvPr id="5" name="文本框 4"/>
          <p:cNvSpPr txBox="1"/>
          <p:nvPr/>
        </p:nvSpPr>
        <p:spPr>
          <a:xfrm>
            <a:off x="344805" y="1122045"/>
            <a:ext cx="6096000" cy="2306955"/>
          </a:xfrm>
          <a:prstGeom prst="rect">
            <a:avLst/>
          </a:prstGeom>
          <a:noFill/>
        </p:spPr>
        <p:txBody>
          <a:bodyPr wrap="square" rtlCol="0" anchor="t">
            <a:spAutoFit/>
          </a:bodyPr>
          <a:p>
            <a:pPr marL="0" algn="l">
              <a:lnSpc>
                <a:spcPct val="150000"/>
              </a:lnSpc>
              <a:buClrTx/>
              <a:buSzTx/>
              <a:buNone/>
            </a:pPr>
            <a:r>
              <a:rPr lang="zh-CN" altLang="en-US" sz="1600">
                <a:sym typeface="+mn-ea"/>
              </a:rPr>
              <a:t>操作流程:</a:t>
            </a:r>
            <a:endParaRPr lang="zh-CN" altLang="en-US" sz="1600">
              <a:sym typeface="+mn-ea"/>
            </a:endParaRPr>
          </a:p>
          <a:p>
            <a:pPr marL="0" algn="l">
              <a:lnSpc>
                <a:spcPct val="150000"/>
              </a:lnSpc>
              <a:buClrTx/>
              <a:buSzTx/>
              <a:buNone/>
            </a:pPr>
            <a:r>
              <a:rPr lang="zh-CN" altLang="en-US" sz="1600">
                <a:sym typeface="+mn-ea"/>
              </a:rPr>
              <a:t>1.下载并安装java的JDK(要求1.8版本)</a:t>
            </a:r>
            <a:endParaRPr lang="zh-CN" altLang="en-US" sz="1600">
              <a:sym typeface="+mn-ea"/>
            </a:endParaRPr>
          </a:p>
          <a:p>
            <a:pPr marL="0" algn="l">
              <a:lnSpc>
                <a:spcPct val="150000"/>
              </a:lnSpc>
              <a:buClrTx/>
              <a:buSzTx/>
              <a:buNone/>
            </a:pPr>
            <a:r>
              <a:rPr lang="zh-CN" altLang="en-US" sz="1600">
                <a:sym typeface="+mn-ea"/>
              </a:rPr>
              <a:t>2.配置环境变量(此处不在做详细讲解)可以参考https://blog.csdn.net/Myx74270512/article/details/130413317</a:t>
            </a:r>
            <a:endParaRPr lang="zh-CN" altLang="en-US" sz="1600">
              <a:sym typeface="+mn-ea"/>
            </a:endParaRPr>
          </a:p>
          <a:p>
            <a:pPr marL="0" algn="l">
              <a:lnSpc>
                <a:spcPct val="150000"/>
              </a:lnSpc>
              <a:buClrTx/>
              <a:buSzTx/>
              <a:buNone/>
            </a:pPr>
            <a:r>
              <a:rPr lang="zh-CN" altLang="en-US" sz="1600">
                <a:sym typeface="+mn-ea"/>
              </a:rPr>
              <a:t>3.使用java -version、java、javac等命令验证是否配置成功</a:t>
            </a:r>
            <a:endParaRPr lang="zh-CN" altLang="en-US" sz="1600">
              <a:sym typeface="+mn-ea"/>
            </a:endParaRPr>
          </a:p>
          <a:p>
            <a:pPr marL="0" algn="l">
              <a:lnSpc>
                <a:spcPct val="150000"/>
              </a:lnSpc>
              <a:buClrTx/>
              <a:buSzTx/>
              <a:buNone/>
            </a:pPr>
            <a:endParaRPr lang="zh-CN" altLang="en-US" sz="1600">
              <a:sym typeface="+mn-ea"/>
            </a:endParaRPr>
          </a:p>
        </p:txBody>
      </p:sp>
      <p:pic>
        <p:nvPicPr>
          <p:cNvPr id="2" name="图片 1"/>
          <p:cNvPicPr>
            <a:picLocks noChangeAspect="1"/>
          </p:cNvPicPr>
          <p:nvPr/>
        </p:nvPicPr>
        <p:blipFill>
          <a:blip r:embed="rId2"/>
          <a:stretch>
            <a:fillRect/>
          </a:stretch>
        </p:blipFill>
        <p:spPr>
          <a:xfrm>
            <a:off x="6992620" y="946785"/>
            <a:ext cx="4390390" cy="4286885"/>
          </a:xfrm>
          <a:prstGeom prst="rect">
            <a:avLst/>
          </a:prstGeom>
        </p:spPr>
      </p:pic>
      <p:grpSp>
        <p:nvGrpSpPr>
          <p:cNvPr id="14" name="组合 13"/>
          <p:cNvGrpSpPr/>
          <p:nvPr/>
        </p:nvGrpSpPr>
        <p:grpSpPr>
          <a:xfrm>
            <a:off x="226695" y="321945"/>
            <a:ext cx="11412855" cy="647700"/>
            <a:chOff x="357" y="168"/>
            <a:chExt cx="17973" cy="1020"/>
          </a:xfrm>
        </p:grpSpPr>
        <p:sp>
          <p:nvSpPr>
            <p:cNvPr id="15" name="矩形 14"/>
            <p:cNvSpPr/>
            <p:nvPr/>
          </p:nvSpPr>
          <p:spPr>
            <a:xfrm>
              <a:off x="357" y="168"/>
              <a:ext cx="340" cy="340"/>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6" name="矩形 15"/>
            <p:cNvSpPr/>
            <p:nvPr/>
          </p:nvSpPr>
          <p:spPr>
            <a:xfrm>
              <a:off x="527" y="394"/>
              <a:ext cx="680" cy="6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7" name="矩形 16"/>
            <p:cNvSpPr/>
            <p:nvPr/>
          </p:nvSpPr>
          <p:spPr>
            <a:xfrm>
              <a:off x="1037"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cxnSp>
          <p:nvCxnSpPr>
            <p:cNvPr id="18" name="直接连接符 17"/>
            <p:cNvCxnSpPr/>
            <p:nvPr/>
          </p:nvCxnSpPr>
          <p:spPr>
            <a:xfrm>
              <a:off x="1377" y="1018"/>
              <a:ext cx="16613"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17990"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grpSp>
      <p:sp>
        <p:nvSpPr>
          <p:cNvPr id="20" name="文本框 26"/>
          <p:cNvSpPr txBox="1"/>
          <p:nvPr/>
        </p:nvSpPr>
        <p:spPr>
          <a:xfrm>
            <a:off x="955675" y="321945"/>
            <a:ext cx="5029200" cy="460375"/>
          </a:xfrm>
          <a:prstGeom prst="rect">
            <a:avLst/>
          </a:prstGeom>
          <a:noFill/>
        </p:spPr>
        <p:txBody>
          <a:bodyPr wrap="square" rtlCol="0">
            <a:spAutoFit/>
          </a:bodyPr>
          <a:p>
            <a:r>
              <a:rPr lang="zh-CN" sz="2400" b="1" spc="100">
                <a:solidFill>
                  <a:schemeClr val="accent1"/>
                </a:solidFill>
                <a:latin typeface="微软雅黑" panose="020B0503020204020204" charset="-122"/>
                <a:ea typeface="微软雅黑" panose="020B0503020204020204" charset="-122"/>
                <a:sym typeface="+mn-ea"/>
              </a:rPr>
              <a:t>二、配置</a:t>
            </a:r>
            <a:r>
              <a:rPr lang="en-US" altLang="zh-CN" sz="2400" b="1" spc="100">
                <a:solidFill>
                  <a:schemeClr val="accent1"/>
                </a:solidFill>
                <a:latin typeface="微软雅黑" panose="020B0503020204020204" charset="-122"/>
                <a:ea typeface="微软雅黑" panose="020B0503020204020204" charset="-122"/>
                <a:sym typeface="+mn-ea"/>
              </a:rPr>
              <a:t>jdk</a:t>
            </a:r>
            <a:endParaRPr lang="en-US" altLang="zh-CN" sz="2400" b="1" spc="10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图片1"/>
          <p:cNvPicPr>
            <a:picLocks noChangeAspect="1"/>
          </p:cNvPicPr>
          <p:nvPr/>
        </p:nvPicPr>
        <p:blipFill>
          <a:blip r:embed="rId1"/>
          <a:stretch>
            <a:fillRect/>
          </a:stretch>
        </p:blipFill>
        <p:spPr>
          <a:xfrm>
            <a:off x="-12065" y="0"/>
            <a:ext cx="12192000" cy="6858000"/>
          </a:xfrm>
          <a:prstGeom prst="rect">
            <a:avLst/>
          </a:prstGeom>
        </p:spPr>
      </p:pic>
      <p:pic>
        <p:nvPicPr>
          <p:cNvPr id="2" name="图片 1"/>
          <p:cNvPicPr>
            <a:picLocks noChangeAspect="1"/>
          </p:cNvPicPr>
          <p:nvPr>
            <p:custDataLst>
              <p:tags r:id="rId2"/>
            </p:custDataLst>
          </p:nvPr>
        </p:nvPicPr>
        <p:blipFill>
          <a:blip r:embed="rId3"/>
          <a:stretch>
            <a:fillRect/>
          </a:stretch>
        </p:blipFill>
        <p:spPr>
          <a:xfrm>
            <a:off x="2367826" y="1841074"/>
            <a:ext cx="7634128" cy="3892145"/>
          </a:xfrm>
          <a:prstGeom prst="rect">
            <a:avLst/>
          </a:prstGeom>
        </p:spPr>
      </p:pic>
      <p:sp>
        <p:nvSpPr>
          <p:cNvPr id="3" name="文本框 2"/>
          <p:cNvSpPr txBox="1"/>
          <p:nvPr/>
        </p:nvSpPr>
        <p:spPr>
          <a:xfrm>
            <a:off x="2367826" y="1288752"/>
            <a:ext cx="3924939" cy="341630"/>
          </a:xfrm>
          <a:prstGeom prst="rect">
            <a:avLst/>
          </a:prstGeom>
          <a:noFill/>
        </p:spPr>
        <p:txBody>
          <a:bodyPr wrap="square" rtlCol="0">
            <a:spAutoFit/>
          </a:bodyPr>
          <a:lstStyle/>
          <a:p>
            <a:r>
              <a:rPr lang="en-US" altLang="zh-CN" sz="1630"/>
              <a:t>1.</a:t>
            </a:r>
            <a:r>
              <a:rPr lang="zh-CN" altLang="en-US" sz="1630"/>
              <a:t>进入慕测官网，选择赛项进行报名</a:t>
            </a:r>
            <a:endParaRPr lang="zh-CN" altLang="en-US" sz="1630"/>
          </a:p>
        </p:txBody>
      </p:sp>
      <p:grpSp>
        <p:nvGrpSpPr>
          <p:cNvPr id="14" name="组合 13"/>
          <p:cNvGrpSpPr/>
          <p:nvPr/>
        </p:nvGrpSpPr>
        <p:grpSpPr>
          <a:xfrm>
            <a:off x="226695" y="321945"/>
            <a:ext cx="11412855" cy="647700"/>
            <a:chOff x="357" y="168"/>
            <a:chExt cx="17973" cy="1020"/>
          </a:xfrm>
        </p:grpSpPr>
        <p:sp>
          <p:nvSpPr>
            <p:cNvPr id="15" name="矩形 14"/>
            <p:cNvSpPr/>
            <p:nvPr/>
          </p:nvSpPr>
          <p:spPr>
            <a:xfrm>
              <a:off x="357" y="168"/>
              <a:ext cx="340" cy="340"/>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6" name="矩形 15"/>
            <p:cNvSpPr/>
            <p:nvPr/>
          </p:nvSpPr>
          <p:spPr>
            <a:xfrm>
              <a:off x="527" y="394"/>
              <a:ext cx="680" cy="6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7" name="矩形 16"/>
            <p:cNvSpPr/>
            <p:nvPr/>
          </p:nvSpPr>
          <p:spPr>
            <a:xfrm>
              <a:off x="1037"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cxnSp>
          <p:nvCxnSpPr>
            <p:cNvPr id="18" name="直接连接符 17"/>
            <p:cNvCxnSpPr/>
            <p:nvPr/>
          </p:nvCxnSpPr>
          <p:spPr>
            <a:xfrm>
              <a:off x="1377" y="1018"/>
              <a:ext cx="16613"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17990"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grpSp>
      <p:sp>
        <p:nvSpPr>
          <p:cNvPr id="20" name="文本框 26"/>
          <p:cNvSpPr txBox="1"/>
          <p:nvPr/>
        </p:nvSpPr>
        <p:spPr>
          <a:xfrm>
            <a:off x="955675" y="321945"/>
            <a:ext cx="5029200" cy="460375"/>
          </a:xfrm>
          <a:prstGeom prst="rect">
            <a:avLst/>
          </a:prstGeom>
          <a:noFill/>
        </p:spPr>
        <p:txBody>
          <a:bodyPr wrap="square" rtlCol="0">
            <a:spAutoFit/>
          </a:bodyPr>
          <a:p>
            <a:r>
              <a:rPr lang="zh-CN" sz="2400" b="1" spc="100">
                <a:solidFill>
                  <a:schemeClr val="accent1"/>
                </a:solidFill>
                <a:latin typeface="微软雅黑" panose="020B0503020204020204" charset="-122"/>
                <a:ea typeface="微软雅黑" panose="020B0503020204020204" charset="-122"/>
                <a:sym typeface="+mn-ea"/>
              </a:rPr>
              <a:t>三、做题流程</a:t>
            </a:r>
            <a:endParaRPr lang="en-US" altLang="zh-CN" sz="2400" b="1" spc="10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图片1"/>
          <p:cNvPicPr>
            <a:picLocks noChangeAspect="1"/>
          </p:cNvPicPr>
          <p:nvPr/>
        </p:nvPicPr>
        <p:blipFill>
          <a:blip r:embed="rId1"/>
          <a:stretch>
            <a:fillRect/>
          </a:stretch>
        </p:blipFill>
        <p:spPr>
          <a:xfrm>
            <a:off x="-12065" y="0"/>
            <a:ext cx="12192000" cy="6858000"/>
          </a:xfrm>
          <a:prstGeom prst="rect">
            <a:avLst/>
          </a:prstGeom>
        </p:spPr>
      </p:pic>
      <p:sp>
        <p:nvSpPr>
          <p:cNvPr id="3" name="文本框 2"/>
          <p:cNvSpPr txBox="1"/>
          <p:nvPr/>
        </p:nvSpPr>
        <p:spPr>
          <a:xfrm>
            <a:off x="1401445" y="1110615"/>
            <a:ext cx="4114800" cy="341630"/>
          </a:xfrm>
          <a:prstGeom prst="rect">
            <a:avLst/>
          </a:prstGeom>
          <a:noFill/>
        </p:spPr>
        <p:txBody>
          <a:bodyPr wrap="square" rtlCol="0">
            <a:spAutoFit/>
          </a:bodyPr>
          <a:lstStyle/>
          <a:p>
            <a:r>
              <a:rPr lang="en-US" altLang="zh-CN" sz="1630"/>
              <a:t>2.</a:t>
            </a:r>
            <a:r>
              <a:rPr lang="zh-CN" altLang="en-US" sz="1630"/>
              <a:t>填写指导老师与邮箱并点击参赛</a:t>
            </a:r>
            <a:endParaRPr lang="zh-CN" altLang="en-US" sz="1630"/>
          </a:p>
        </p:txBody>
      </p:sp>
      <p:pic>
        <p:nvPicPr>
          <p:cNvPr id="5" name="图片 4"/>
          <p:cNvPicPr>
            <a:picLocks noChangeAspect="1"/>
          </p:cNvPicPr>
          <p:nvPr>
            <p:custDataLst>
              <p:tags r:id="rId2"/>
            </p:custDataLst>
          </p:nvPr>
        </p:nvPicPr>
        <p:blipFill>
          <a:blip r:embed="rId3"/>
          <a:stretch>
            <a:fillRect/>
          </a:stretch>
        </p:blipFill>
        <p:spPr>
          <a:xfrm>
            <a:off x="1401262" y="1702993"/>
            <a:ext cx="9389477" cy="4128608"/>
          </a:xfrm>
          <a:prstGeom prst="rect">
            <a:avLst/>
          </a:prstGeom>
        </p:spPr>
      </p:pic>
      <p:grpSp>
        <p:nvGrpSpPr>
          <p:cNvPr id="14" name="组合 13"/>
          <p:cNvGrpSpPr/>
          <p:nvPr/>
        </p:nvGrpSpPr>
        <p:grpSpPr>
          <a:xfrm>
            <a:off x="226695" y="321945"/>
            <a:ext cx="11412855" cy="647700"/>
            <a:chOff x="357" y="168"/>
            <a:chExt cx="17973" cy="1020"/>
          </a:xfrm>
        </p:grpSpPr>
        <p:sp>
          <p:nvSpPr>
            <p:cNvPr id="15" name="矩形 14"/>
            <p:cNvSpPr/>
            <p:nvPr/>
          </p:nvSpPr>
          <p:spPr>
            <a:xfrm>
              <a:off x="357" y="168"/>
              <a:ext cx="340" cy="340"/>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6" name="矩形 15"/>
            <p:cNvSpPr/>
            <p:nvPr/>
          </p:nvSpPr>
          <p:spPr>
            <a:xfrm>
              <a:off x="527" y="394"/>
              <a:ext cx="680" cy="6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7" name="矩形 16"/>
            <p:cNvSpPr/>
            <p:nvPr/>
          </p:nvSpPr>
          <p:spPr>
            <a:xfrm>
              <a:off x="1037"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cxnSp>
          <p:nvCxnSpPr>
            <p:cNvPr id="18" name="直接连接符 17"/>
            <p:cNvCxnSpPr/>
            <p:nvPr/>
          </p:nvCxnSpPr>
          <p:spPr>
            <a:xfrm>
              <a:off x="1377" y="1018"/>
              <a:ext cx="16613"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17990"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grpSp>
      <p:sp>
        <p:nvSpPr>
          <p:cNvPr id="20" name="文本框 26"/>
          <p:cNvSpPr txBox="1"/>
          <p:nvPr/>
        </p:nvSpPr>
        <p:spPr>
          <a:xfrm>
            <a:off x="955675" y="321945"/>
            <a:ext cx="5029200" cy="460375"/>
          </a:xfrm>
          <a:prstGeom prst="rect">
            <a:avLst/>
          </a:prstGeom>
          <a:noFill/>
        </p:spPr>
        <p:txBody>
          <a:bodyPr wrap="square" rtlCol="0">
            <a:spAutoFit/>
          </a:bodyPr>
          <a:p>
            <a:r>
              <a:rPr lang="zh-CN" sz="2400" b="1" spc="100">
                <a:solidFill>
                  <a:schemeClr val="accent1"/>
                </a:solidFill>
                <a:latin typeface="微软雅黑" panose="020B0503020204020204" charset="-122"/>
                <a:ea typeface="微软雅黑" panose="020B0503020204020204" charset="-122"/>
                <a:sym typeface="+mn-ea"/>
              </a:rPr>
              <a:t>三、做题流程</a:t>
            </a:r>
            <a:endParaRPr lang="en-US" altLang="zh-CN" sz="2400" b="1" spc="10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sym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图片1"/>
          <p:cNvPicPr>
            <a:picLocks noChangeAspect="1"/>
          </p:cNvPicPr>
          <p:nvPr/>
        </p:nvPicPr>
        <p:blipFill>
          <a:blip r:embed="rId1"/>
          <a:stretch>
            <a:fillRect/>
          </a:stretch>
        </p:blipFill>
        <p:spPr>
          <a:xfrm>
            <a:off x="-12065" y="0"/>
            <a:ext cx="12192000" cy="6858000"/>
          </a:xfrm>
          <a:prstGeom prst="rect">
            <a:avLst/>
          </a:prstGeom>
        </p:spPr>
      </p:pic>
      <p:sp>
        <p:nvSpPr>
          <p:cNvPr id="3" name="文本框 2"/>
          <p:cNvSpPr txBox="1"/>
          <p:nvPr/>
        </p:nvSpPr>
        <p:spPr>
          <a:xfrm>
            <a:off x="1323029" y="1150671"/>
            <a:ext cx="3900200" cy="341630"/>
          </a:xfrm>
          <a:prstGeom prst="rect">
            <a:avLst/>
          </a:prstGeom>
          <a:noFill/>
        </p:spPr>
        <p:txBody>
          <a:bodyPr wrap="square" rtlCol="0">
            <a:spAutoFit/>
          </a:bodyPr>
          <a:lstStyle/>
          <a:p>
            <a:r>
              <a:rPr lang="en-US" altLang="zh-CN" sz="1630"/>
              <a:t>3.</a:t>
            </a:r>
            <a:r>
              <a:rPr lang="zh-CN" altLang="en-US" sz="1630"/>
              <a:t>在参赛页面获取做题秘钥</a:t>
            </a:r>
            <a:endParaRPr lang="zh-CN" altLang="en-US" sz="1630"/>
          </a:p>
        </p:txBody>
      </p:sp>
      <p:pic>
        <p:nvPicPr>
          <p:cNvPr id="5" name="图片 4"/>
          <p:cNvPicPr>
            <a:picLocks noChangeAspect="1"/>
          </p:cNvPicPr>
          <p:nvPr>
            <p:custDataLst>
              <p:tags r:id="rId2"/>
            </p:custDataLst>
          </p:nvPr>
        </p:nvPicPr>
        <p:blipFill>
          <a:blip r:embed="rId3"/>
          <a:stretch>
            <a:fillRect/>
          </a:stretch>
        </p:blipFill>
        <p:spPr>
          <a:xfrm>
            <a:off x="1323378" y="1730933"/>
            <a:ext cx="8479296" cy="3926665"/>
          </a:xfrm>
          <a:prstGeom prst="rect">
            <a:avLst/>
          </a:prstGeom>
        </p:spPr>
      </p:pic>
      <p:grpSp>
        <p:nvGrpSpPr>
          <p:cNvPr id="14" name="组合 13"/>
          <p:cNvGrpSpPr/>
          <p:nvPr/>
        </p:nvGrpSpPr>
        <p:grpSpPr>
          <a:xfrm>
            <a:off x="226695" y="321945"/>
            <a:ext cx="11412855" cy="647700"/>
            <a:chOff x="357" y="168"/>
            <a:chExt cx="17973" cy="1020"/>
          </a:xfrm>
        </p:grpSpPr>
        <p:sp>
          <p:nvSpPr>
            <p:cNvPr id="15" name="矩形 14"/>
            <p:cNvSpPr/>
            <p:nvPr/>
          </p:nvSpPr>
          <p:spPr>
            <a:xfrm>
              <a:off x="357" y="168"/>
              <a:ext cx="340" cy="340"/>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6" name="矩形 15"/>
            <p:cNvSpPr/>
            <p:nvPr/>
          </p:nvSpPr>
          <p:spPr>
            <a:xfrm>
              <a:off x="527" y="394"/>
              <a:ext cx="680" cy="6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7" name="矩形 16"/>
            <p:cNvSpPr/>
            <p:nvPr/>
          </p:nvSpPr>
          <p:spPr>
            <a:xfrm>
              <a:off x="1037"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cxnSp>
          <p:nvCxnSpPr>
            <p:cNvPr id="18" name="直接连接符 17"/>
            <p:cNvCxnSpPr/>
            <p:nvPr/>
          </p:nvCxnSpPr>
          <p:spPr>
            <a:xfrm>
              <a:off x="1377" y="1018"/>
              <a:ext cx="16613"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17990"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grpSp>
      <p:sp>
        <p:nvSpPr>
          <p:cNvPr id="20" name="文本框 26"/>
          <p:cNvSpPr txBox="1"/>
          <p:nvPr/>
        </p:nvSpPr>
        <p:spPr>
          <a:xfrm>
            <a:off x="955675" y="321945"/>
            <a:ext cx="5029200" cy="460375"/>
          </a:xfrm>
          <a:prstGeom prst="rect">
            <a:avLst/>
          </a:prstGeom>
          <a:noFill/>
        </p:spPr>
        <p:txBody>
          <a:bodyPr wrap="square" rtlCol="0">
            <a:spAutoFit/>
          </a:bodyPr>
          <a:p>
            <a:r>
              <a:rPr lang="zh-CN" sz="2400" b="1" spc="100">
                <a:solidFill>
                  <a:schemeClr val="accent1"/>
                </a:solidFill>
                <a:latin typeface="微软雅黑" panose="020B0503020204020204" charset="-122"/>
                <a:ea typeface="微软雅黑" panose="020B0503020204020204" charset="-122"/>
                <a:sym typeface="+mn-ea"/>
              </a:rPr>
              <a:t>三、做题流程</a:t>
            </a:r>
            <a:endParaRPr lang="en-US" altLang="zh-CN" sz="2400" b="1" spc="10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图片1"/>
          <p:cNvPicPr>
            <a:picLocks noChangeAspect="1"/>
          </p:cNvPicPr>
          <p:nvPr/>
        </p:nvPicPr>
        <p:blipFill>
          <a:blip r:embed="rId1"/>
          <a:stretch>
            <a:fillRect/>
          </a:stretch>
        </p:blipFill>
        <p:spPr>
          <a:xfrm>
            <a:off x="-12065" y="0"/>
            <a:ext cx="12192000" cy="6858000"/>
          </a:xfrm>
          <a:prstGeom prst="rect">
            <a:avLst/>
          </a:prstGeom>
        </p:spPr>
      </p:pic>
      <p:sp>
        <p:nvSpPr>
          <p:cNvPr id="3" name="文本框 2"/>
          <p:cNvSpPr txBox="1"/>
          <p:nvPr/>
        </p:nvSpPr>
        <p:spPr>
          <a:xfrm>
            <a:off x="1199839" y="1150671"/>
            <a:ext cx="6619811" cy="341630"/>
          </a:xfrm>
          <a:prstGeom prst="rect">
            <a:avLst/>
          </a:prstGeom>
          <a:noFill/>
        </p:spPr>
        <p:txBody>
          <a:bodyPr wrap="square" rtlCol="0">
            <a:spAutoFit/>
          </a:bodyPr>
          <a:lstStyle/>
          <a:p>
            <a:r>
              <a:rPr lang="en-US" altLang="zh-CN" sz="1630"/>
              <a:t>4.</a:t>
            </a:r>
            <a:r>
              <a:rPr lang="zh-CN" altLang="en-US" sz="1630"/>
              <a:t>打开</a:t>
            </a:r>
            <a:r>
              <a:rPr lang="en-US" altLang="zh-CN" sz="1630"/>
              <a:t>Jmeter</a:t>
            </a:r>
            <a:r>
              <a:rPr lang="zh-CN" altLang="en-US" sz="1630"/>
              <a:t>工具，将所获取的秘钥输入至慕测插件中，进行考试登录</a:t>
            </a:r>
            <a:endParaRPr lang="zh-CN" altLang="en-US" sz="1630"/>
          </a:p>
        </p:txBody>
      </p:sp>
      <p:pic>
        <p:nvPicPr>
          <p:cNvPr id="2" name="图片 1"/>
          <p:cNvPicPr>
            <a:picLocks noChangeAspect="1"/>
          </p:cNvPicPr>
          <p:nvPr>
            <p:custDataLst>
              <p:tags r:id="rId2"/>
            </p:custDataLst>
          </p:nvPr>
        </p:nvPicPr>
        <p:blipFill>
          <a:blip r:embed="rId3"/>
          <a:stretch>
            <a:fillRect/>
          </a:stretch>
        </p:blipFill>
        <p:spPr>
          <a:xfrm>
            <a:off x="1200124" y="1781448"/>
            <a:ext cx="8127190" cy="4419728"/>
          </a:xfrm>
          <a:prstGeom prst="rect">
            <a:avLst/>
          </a:prstGeom>
        </p:spPr>
      </p:pic>
      <p:grpSp>
        <p:nvGrpSpPr>
          <p:cNvPr id="14" name="组合 13"/>
          <p:cNvGrpSpPr/>
          <p:nvPr/>
        </p:nvGrpSpPr>
        <p:grpSpPr>
          <a:xfrm>
            <a:off x="226695" y="321945"/>
            <a:ext cx="11412855" cy="647700"/>
            <a:chOff x="357" y="168"/>
            <a:chExt cx="17973" cy="1020"/>
          </a:xfrm>
        </p:grpSpPr>
        <p:sp>
          <p:nvSpPr>
            <p:cNvPr id="15" name="矩形 14"/>
            <p:cNvSpPr/>
            <p:nvPr/>
          </p:nvSpPr>
          <p:spPr>
            <a:xfrm>
              <a:off x="357" y="168"/>
              <a:ext cx="340" cy="340"/>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6" name="矩形 15"/>
            <p:cNvSpPr/>
            <p:nvPr/>
          </p:nvSpPr>
          <p:spPr>
            <a:xfrm>
              <a:off x="527" y="394"/>
              <a:ext cx="680" cy="6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7" name="矩形 16"/>
            <p:cNvSpPr/>
            <p:nvPr/>
          </p:nvSpPr>
          <p:spPr>
            <a:xfrm>
              <a:off x="1037"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cxnSp>
          <p:nvCxnSpPr>
            <p:cNvPr id="18" name="直接连接符 17"/>
            <p:cNvCxnSpPr/>
            <p:nvPr/>
          </p:nvCxnSpPr>
          <p:spPr>
            <a:xfrm>
              <a:off x="1377" y="1018"/>
              <a:ext cx="16613"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17990"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grpSp>
      <p:sp>
        <p:nvSpPr>
          <p:cNvPr id="20" name="文本框 26"/>
          <p:cNvSpPr txBox="1"/>
          <p:nvPr/>
        </p:nvSpPr>
        <p:spPr>
          <a:xfrm>
            <a:off x="955675" y="321945"/>
            <a:ext cx="5029200" cy="460375"/>
          </a:xfrm>
          <a:prstGeom prst="rect">
            <a:avLst/>
          </a:prstGeom>
          <a:noFill/>
        </p:spPr>
        <p:txBody>
          <a:bodyPr wrap="square" rtlCol="0">
            <a:spAutoFit/>
          </a:bodyPr>
          <a:p>
            <a:r>
              <a:rPr lang="zh-CN" sz="2400" b="1" spc="100">
                <a:solidFill>
                  <a:schemeClr val="accent1"/>
                </a:solidFill>
                <a:latin typeface="微软雅黑" panose="020B0503020204020204" charset="-122"/>
                <a:ea typeface="微软雅黑" panose="020B0503020204020204" charset="-122"/>
                <a:sym typeface="+mn-ea"/>
              </a:rPr>
              <a:t>三、做题流程</a:t>
            </a:r>
            <a:endParaRPr lang="en-US" altLang="zh-CN" sz="2400" b="1" spc="10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sym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图片1"/>
          <p:cNvPicPr>
            <a:picLocks noChangeAspect="1"/>
          </p:cNvPicPr>
          <p:nvPr/>
        </p:nvPicPr>
        <p:blipFill>
          <a:blip r:embed="rId1"/>
          <a:stretch>
            <a:fillRect/>
          </a:stretch>
        </p:blipFill>
        <p:spPr>
          <a:xfrm>
            <a:off x="-12065" y="0"/>
            <a:ext cx="12192000" cy="6858000"/>
          </a:xfrm>
          <a:prstGeom prst="rect">
            <a:avLst/>
          </a:prstGeom>
        </p:spPr>
      </p:pic>
      <p:sp>
        <p:nvSpPr>
          <p:cNvPr id="4" name="object 2"/>
          <p:cNvSpPr txBox="1"/>
          <p:nvPr/>
        </p:nvSpPr>
        <p:spPr>
          <a:xfrm>
            <a:off x="1677423" y="240178"/>
            <a:ext cx="7470465" cy="602333"/>
          </a:xfrm>
          <a:prstGeom prst="rect">
            <a:avLst/>
          </a:prstGeom>
        </p:spPr>
        <p:txBody>
          <a:bodyPr wrap="square" lIns="0" tIns="0" rIns="0" bIns="0">
            <a:noAutofit/>
          </a:bodyPr>
          <a:lstStyle>
            <a:lvl1pPr algn="l" defTabSz="914400" rtl="0" eaLnBrk="1" latinLnBrk="0" hangingPunct="1">
              <a:lnSpc>
                <a:spcPct val="90000"/>
              </a:lnSpc>
              <a:spcBef>
                <a:spcPct val="0"/>
              </a:spcBef>
              <a:buNone/>
              <a:defRPr sz="4800" kern="1200">
                <a:solidFill>
                  <a:srgbClr val="0070C0"/>
                </a:solidFill>
                <a:latin typeface="微软雅黑" panose="020B0503020204020204" charset="-122"/>
                <a:ea typeface="微软雅黑" panose="020B0503020204020204" charset="-122"/>
                <a:cs typeface="+mj-cs"/>
              </a:defRPr>
            </a:lvl1pPr>
          </a:lstStyle>
          <a:p>
            <a:endParaRPr lang="zh-CN" altLang="en-US" sz="4350" dirty="0">
              <a:sym typeface="Times New Roman" panose="02020603050405020304" pitchFamily="18" charset="0"/>
            </a:endParaRPr>
          </a:p>
        </p:txBody>
      </p:sp>
      <p:sp>
        <p:nvSpPr>
          <p:cNvPr id="3" name="文本框 2"/>
          <p:cNvSpPr txBox="1"/>
          <p:nvPr/>
        </p:nvSpPr>
        <p:spPr>
          <a:xfrm>
            <a:off x="1457014" y="1150671"/>
            <a:ext cx="6619811" cy="341630"/>
          </a:xfrm>
          <a:prstGeom prst="rect">
            <a:avLst/>
          </a:prstGeom>
          <a:noFill/>
        </p:spPr>
        <p:txBody>
          <a:bodyPr wrap="square" rtlCol="0">
            <a:spAutoFit/>
          </a:bodyPr>
          <a:lstStyle/>
          <a:p>
            <a:r>
              <a:rPr lang="en-US" altLang="zh-CN" sz="1630"/>
              <a:t>4.</a:t>
            </a:r>
            <a:r>
              <a:rPr lang="zh-CN" altLang="en-US" sz="1630"/>
              <a:t>登录成功后下载题目（</a:t>
            </a:r>
            <a:r>
              <a:rPr lang="en-US" altLang="zh-CN" sz="1630"/>
              <a:t>1</a:t>
            </a:r>
            <a:r>
              <a:rPr lang="zh-CN" altLang="en-US" sz="1630"/>
              <a:t>）</a:t>
            </a:r>
            <a:endParaRPr lang="zh-CN" altLang="en-US" sz="1630"/>
          </a:p>
        </p:txBody>
      </p:sp>
      <p:pic>
        <p:nvPicPr>
          <p:cNvPr id="2" name="图片 1"/>
          <p:cNvPicPr>
            <a:picLocks noChangeAspect="1"/>
          </p:cNvPicPr>
          <p:nvPr>
            <p:custDataLst>
              <p:tags r:id="rId2"/>
            </p:custDataLst>
          </p:nvPr>
        </p:nvPicPr>
        <p:blipFill>
          <a:blip r:embed="rId3"/>
          <a:stretch>
            <a:fillRect/>
          </a:stretch>
        </p:blipFill>
        <p:spPr>
          <a:xfrm>
            <a:off x="1457474" y="1650003"/>
            <a:ext cx="8277928" cy="4663670"/>
          </a:xfrm>
          <a:prstGeom prst="rect">
            <a:avLst/>
          </a:prstGeom>
        </p:spPr>
      </p:pic>
      <p:grpSp>
        <p:nvGrpSpPr>
          <p:cNvPr id="14" name="组合 13"/>
          <p:cNvGrpSpPr/>
          <p:nvPr/>
        </p:nvGrpSpPr>
        <p:grpSpPr>
          <a:xfrm>
            <a:off x="226695" y="321945"/>
            <a:ext cx="11412855" cy="647700"/>
            <a:chOff x="357" y="168"/>
            <a:chExt cx="17973" cy="1020"/>
          </a:xfrm>
        </p:grpSpPr>
        <p:sp>
          <p:nvSpPr>
            <p:cNvPr id="15" name="矩形 14"/>
            <p:cNvSpPr/>
            <p:nvPr/>
          </p:nvSpPr>
          <p:spPr>
            <a:xfrm>
              <a:off x="357" y="168"/>
              <a:ext cx="340" cy="340"/>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6" name="矩形 15"/>
            <p:cNvSpPr/>
            <p:nvPr/>
          </p:nvSpPr>
          <p:spPr>
            <a:xfrm>
              <a:off x="527" y="394"/>
              <a:ext cx="680" cy="6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7" name="矩形 16"/>
            <p:cNvSpPr/>
            <p:nvPr/>
          </p:nvSpPr>
          <p:spPr>
            <a:xfrm>
              <a:off x="1037"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cxnSp>
          <p:nvCxnSpPr>
            <p:cNvPr id="18" name="直接连接符 17"/>
            <p:cNvCxnSpPr/>
            <p:nvPr/>
          </p:nvCxnSpPr>
          <p:spPr>
            <a:xfrm>
              <a:off x="1377" y="1018"/>
              <a:ext cx="16613"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17990"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grpSp>
      <p:sp>
        <p:nvSpPr>
          <p:cNvPr id="20" name="文本框 26"/>
          <p:cNvSpPr txBox="1"/>
          <p:nvPr/>
        </p:nvSpPr>
        <p:spPr>
          <a:xfrm>
            <a:off x="955675" y="321945"/>
            <a:ext cx="5029200" cy="460375"/>
          </a:xfrm>
          <a:prstGeom prst="rect">
            <a:avLst/>
          </a:prstGeom>
          <a:noFill/>
        </p:spPr>
        <p:txBody>
          <a:bodyPr wrap="square" rtlCol="0">
            <a:spAutoFit/>
          </a:bodyPr>
          <a:p>
            <a:r>
              <a:rPr lang="zh-CN" sz="2400" b="1" spc="100">
                <a:solidFill>
                  <a:schemeClr val="accent1"/>
                </a:solidFill>
                <a:latin typeface="微软雅黑" panose="020B0503020204020204" charset="-122"/>
                <a:ea typeface="微软雅黑" panose="020B0503020204020204" charset="-122"/>
                <a:sym typeface="+mn-ea"/>
              </a:rPr>
              <a:t>三、做题流程</a:t>
            </a:r>
            <a:endParaRPr lang="en-US" altLang="zh-CN" sz="2400" b="1" spc="10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sym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图片1"/>
          <p:cNvPicPr>
            <a:picLocks noChangeAspect="1"/>
          </p:cNvPicPr>
          <p:nvPr/>
        </p:nvPicPr>
        <p:blipFill>
          <a:blip r:embed="rId1"/>
          <a:stretch>
            <a:fillRect/>
          </a:stretch>
        </p:blipFill>
        <p:spPr>
          <a:xfrm>
            <a:off x="-12065" y="0"/>
            <a:ext cx="12192000" cy="6858000"/>
          </a:xfrm>
          <a:prstGeom prst="rect">
            <a:avLst/>
          </a:prstGeom>
        </p:spPr>
      </p:pic>
      <p:sp>
        <p:nvSpPr>
          <p:cNvPr id="4" name="object 2"/>
          <p:cNvSpPr txBox="1"/>
          <p:nvPr/>
        </p:nvSpPr>
        <p:spPr>
          <a:xfrm>
            <a:off x="1677423" y="240178"/>
            <a:ext cx="7470465" cy="602333"/>
          </a:xfrm>
          <a:prstGeom prst="rect">
            <a:avLst/>
          </a:prstGeom>
        </p:spPr>
        <p:txBody>
          <a:bodyPr wrap="square" lIns="0" tIns="0" rIns="0" bIns="0">
            <a:noAutofit/>
          </a:bodyPr>
          <a:lstStyle>
            <a:lvl1pPr algn="l" defTabSz="914400" rtl="0" eaLnBrk="1" latinLnBrk="0" hangingPunct="1">
              <a:lnSpc>
                <a:spcPct val="90000"/>
              </a:lnSpc>
              <a:spcBef>
                <a:spcPct val="0"/>
              </a:spcBef>
              <a:buNone/>
              <a:defRPr sz="4800" kern="1200">
                <a:solidFill>
                  <a:srgbClr val="0070C0"/>
                </a:solidFill>
                <a:latin typeface="微软雅黑" panose="020B0503020204020204" charset="-122"/>
                <a:ea typeface="微软雅黑" panose="020B0503020204020204" charset="-122"/>
                <a:cs typeface="+mj-cs"/>
              </a:defRPr>
            </a:lvl1pPr>
          </a:lstStyle>
          <a:p>
            <a:endParaRPr lang="zh-CN" altLang="en-US" sz="4350" dirty="0">
              <a:sym typeface="Times New Roman" panose="02020603050405020304" pitchFamily="18" charset="0"/>
            </a:endParaRPr>
          </a:p>
        </p:txBody>
      </p:sp>
      <p:sp>
        <p:nvSpPr>
          <p:cNvPr id="3" name="文本框 2"/>
          <p:cNvSpPr txBox="1"/>
          <p:nvPr/>
        </p:nvSpPr>
        <p:spPr>
          <a:xfrm>
            <a:off x="1953584" y="1150671"/>
            <a:ext cx="6619811" cy="592455"/>
          </a:xfrm>
          <a:prstGeom prst="rect">
            <a:avLst/>
          </a:prstGeom>
          <a:noFill/>
        </p:spPr>
        <p:txBody>
          <a:bodyPr wrap="square" rtlCol="0">
            <a:spAutoFit/>
          </a:bodyPr>
          <a:lstStyle/>
          <a:p>
            <a:r>
              <a:rPr lang="en-US" altLang="zh-CN" sz="1630"/>
              <a:t>   4.</a:t>
            </a:r>
            <a:r>
              <a:rPr lang="zh-CN" altLang="en-US" sz="1630"/>
              <a:t>登录成功后下载题目（</a:t>
            </a:r>
            <a:r>
              <a:rPr lang="en-US" altLang="zh-CN" sz="1630"/>
              <a:t>2</a:t>
            </a:r>
            <a:r>
              <a:rPr lang="zh-CN" altLang="en-US" sz="1630"/>
              <a:t>）</a:t>
            </a:r>
            <a:r>
              <a:rPr lang="en-US" altLang="zh-CN" sz="1630"/>
              <a:t> </a:t>
            </a:r>
            <a:endParaRPr lang="en-US" altLang="zh-CN" sz="1630"/>
          </a:p>
          <a:p>
            <a:r>
              <a:rPr lang="en-US" altLang="zh-CN" sz="1630"/>
              <a:t>   </a:t>
            </a:r>
            <a:r>
              <a:rPr lang="zh-CN" altLang="en-US" sz="1630"/>
              <a:t>根据路径找到需求文档位置，根据文档进行做题</a:t>
            </a:r>
            <a:endParaRPr lang="zh-CN" altLang="en-US" sz="1630"/>
          </a:p>
        </p:txBody>
      </p:sp>
      <p:pic>
        <p:nvPicPr>
          <p:cNvPr id="5" name="图片 4"/>
          <p:cNvPicPr>
            <a:picLocks noChangeAspect="1"/>
          </p:cNvPicPr>
          <p:nvPr>
            <p:custDataLst>
              <p:tags r:id="rId2"/>
            </p:custDataLst>
          </p:nvPr>
        </p:nvPicPr>
        <p:blipFill>
          <a:blip r:embed="rId3"/>
          <a:stretch>
            <a:fillRect/>
          </a:stretch>
        </p:blipFill>
        <p:spPr>
          <a:xfrm>
            <a:off x="2226110" y="1735212"/>
            <a:ext cx="7116326" cy="4003185"/>
          </a:xfrm>
          <a:prstGeom prst="rect">
            <a:avLst/>
          </a:prstGeom>
        </p:spPr>
      </p:pic>
      <p:sp>
        <p:nvSpPr>
          <p:cNvPr id="6" name="文本框 5"/>
          <p:cNvSpPr txBox="1"/>
          <p:nvPr/>
        </p:nvSpPr>
        <p:spPr>
          <a:xfrm>
            <a:off x="2307415" y="5776369"/>
            <a:ext cx="7477636" cy="592455"/>
          </a:xfrm>
          <a:prstGeom prst="rect">
            <a:avLst/>
          </a:prstGeom>
          <a:noFill/>
        </p:spPr>
        <p:txBody>
          <a:bodyPr wrap="square" rtlCol="0" anchor="t">
            <a:spAutoFit/>
          </a:bodyPr>
          <a:lstStyle/>
          <a:p>
            <a:r>
              <a:rPr lang="zh-CN" altLang="en-US" sz="1630"/>
              <a:t>注：如果忘记了下载位置，可以在菜单MoocTest中重新点击Download，在下载成</a:t>
            </a:r>
            <a:endParaRPr lang="zh-CN" altLang="en-US" sz="1630"/>
          </a:p>
          <a:p>
            <a:r>
              <a:rPr lang="zh-CN" altLang="en-US" sz="1630"/>
              <a:t>功的提示信息中查看下载位置</a:t>
            </a:r>
            <a:endParaRPr lang="zh-CN" altLang="en-US" sz="1630"/>
          </a:p>
        </p:txBody>
      </p:sp>
      <p:grpSp>
        <p:nvGrpSpPr>
          <p:cNvPr id="14" name="组合 13"/>
          <p:cNvGrpSpPr/>
          <p:nvPr/>
        </p:nvGrpSpPr>
        <p:grpSpPr>
          <a:xfrm>
            <a:off x="226695" y="321945"/>
            <a:ext cx="11412855" cy="647700"/>
            <a:chOff x="357" y="168"/>
            <a:chExt cx="17973" cy="1020"/>
          </a:xfrm>
        </p:grpSpPr>
        <p:sp>
          <p:nvSpPr>
            <p:cNvPr id="15" name="矩形 14"/>
            <p:cNvSpPr/>
            <p:nvPr/>
          </p:nvSpPr>
          <p:spPr>
            <a:xfrm>
              <a:off x="357" y="168"/>
              <a:ext cx="340" cy="340"/>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6" name="矩形 15"/>
            <p:cNvSpPr/>
            <p:nvPr/>
          </p:nvSpPr>
          <p:spPr>
            <a:xfrm>
              <a:off x="527" y="394"/>
              <a:ext cx="680" cy="6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7" name="矩形 16"/>
            <p:cNvSpPr/>
            <p:nvPr/>
          </p:nvSpPr>
          <p:spPr>
            <a:xfrm>
              <a:off x="1037"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cxnSp>
          <p:nvCxnSpPr>
            <p:cNvPr id="18" name="直接连接符 17"/>
            <p:cNvCxnSpPr/>
            <p:nvPr/>
          </p:nvCxnSpPr>
          <p:spPr>
            <a:xfrm>
              <a:off x="1377" y="1018"/>
              <a:ext cx="16613"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17990"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grpSp>
      <p:sp>
        <p:nvSpPr>
          <p:cNvPr id="20" name="文本框 26"/>
          <p:cNvSpPr txBox="1"/>
          <p:nvPr/>
        </p:nvSpPr>
        <p:spPr>
          <a:xfrm>
            <a:off x="955675" y="321945"/>
            <a:ext cx="5029200" cy="460375"/>
          </a:xfrm>
          <a:prstGeom prst="rect">
            <a:avLst/>
          </a:prstGeom>
          <a:noFill/>
        </p:spPr>
        <p:txBody>
          <a:bodyPr wrap="square" rtlCol="0">
            <a:spAutoFit/>
          </a:bodyPr>
          <a:p>
            <a:r>
              <a:rPr lang="zh-CN" sz="2400" b="1" spc="100">
                <a:solidFill>
                  <a:schemeClr val="accent1"/>
                </a:solidFill>
                <a:latin typeface="微软雅黑" panose="020B0503020204020204" charset="-122"/>
                <a:ea typeface="微软雅黑" panose="020B0503020204020204" charset="-122"/>
                <a:sym typeface="+mn-ea"/>
              </a:rPr>
              <a:t>三、做题流程</a:t>
            </a:r>
            <a:endParaRPr lang="en-US" altLang="zh-CN" sz="2400" b="1" spc="10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sym typeface="+mn-e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图片1"/>
          <p:cNvPicPr>
            <a:picLocks noChangeAspect="1"/>
          </p:cNvPicPr>
          <p:nvPr/>
        </p:nvPicPr>
        <p:blipFill>
          <a:blip r:embed="rId1"/>
          <a:stretch>
            <a:fillRect/>
          </a:stretch>
        </p:blipFill>
        <p:spPr>
          <a:xfrm>
            <a:off x="-12065" y="0"/>
            <a:ext cx="12192000" cy="6858000"/>
          </a:xfrm>
          <a:prstGeom prst="rect">
            <a:avLst/>
          </a:prstGeom>
        </p:spPr>
      </p:pic>
      <p:sp>
        <p:nvSpPr>
          <p:cNvPr id="3" name="文本框 2"/>
          <p:cNvSpPr txBox="1"/>
          <p:nvPr/>
        </p:nvSpPr>
        <p:spPr>
          <a:xfrm>
            <a:off x="1953584" y="1150671"/>
            <a:ext cx="6619811" cy="592455"/>
          </a:xfrm>
          <a:prstGeom prst="rect">
            <a:avLst/>
          </a:prstGeom>
          <a:noFill/>
        </p:spPr>
        <p:txBody>
          <a:bodyPr wrap="square" rtlCol="0">
            <a:spAutoFit/>
          </a:bodyPr>
          <a:lstStyle/>
          <a:p>
            <a:r>
              <a:rPr lang="en-US" altLang="zh-CN" sz="1630"/>
              <a:t>4.</a:t>
            </a:r>
            <a:r>
              <a:rPr lang="zh-CN" altLang="en-US" sz="1630"/>
              <a:t>登录成功后下载题目（</a:t>
            </a:r>
            <a:r>
              <a:rPr lang="en-US" altLang="zh-CN" sz="1630"/>
              <a:t>3</a:t>
            </a:r>
            <a:r>
              <a:rPr lang="zh-CN" altLang="en-US" sz="1630"/>
              <a:t>）</a:t>
            </a:r>
            <a:r>
              <a:rPr lang="en-US" altLang="zh-CN" sz="1630"/>
              <a:t> </a:t>
            </a:r>
            <a:endParaRPr lang="en-US" altLang="zh-CN" sz="1630"/>
          </a:p>
          <a:p>
            <a:r>
              <a:rPr lang="en-US" altLang="zh-CN" sz="1630"/>
              <a:t>   </a:t>
            </a:r>
            <a:r>
              <a:rPr lang="zh-CN" altLang="en-US" sz="1630"/>
              <a:t>根据路径找到需求文档位置，根据文档进行做题</a:t>
            </a:r>
            <a:endParaRPr lang="zh-CN" altLang="en-US" sz="1630"/>
          </a:p>
        </p:txBody>
      </p:sp>
      <p:pic>
        <p:nvPicPr>
          <p:cNvPr id="2" name="图片 1"/>
          <p:cNvPicPr>
            <a:picLocks noChangeAspect="1"/>
          </p:cNvPicPr>
          <p:nvPr>
            <p:custDataLst>
              <p:tags r:id="rId2"/>
            </p:custDataLst>
          </p:nvPr>
        </p:nvPicPr>
        <p:blipFill>
          <a:blip r:embed="rId3"/>
          <a:stretch>
            <a:fillRect/>
          </a:stretch>
        </p:blipFill>
        <p:spPr>
          <a:xfrm>
            <a:off x="1629095" y="2417560"/>
            <a:ext cx="8933811" cy="2022880"/>
          </a:xfrm>
          <a:prstGeom prst="rect">
            <a:avLst/>
          </a:prstGeom>
        </p:spPr>
      </p:pic>
      <p:grpSp>
        <p:nvGrpSpPr>
          <p:cNvPr id="22" name="组合 21"/>
          <p:cNvGrpSpPr/>
          <p:nvPr/>
        </p:nvGrpSpPr>
        <p:grpSpPr>
          <a:xfrm>
            <a:off x="226695" y="321945"/>
            <a:ext cx="11412855" cy="647700"/>
            <a:chOff x="357" y="168"/>
            <a:chExt cx="17973" cy="1020"/>
          </a:xfrm>
        </p:grpSpPr>
        <p:sp>
          <p:nvSpPr>
            <p:cNvPr id="23" name="矩形 22"/>
            <p:cNvSpPr/>
            <p:nvPr/>
          </p:nvSpPr>
          <p:spPr>
            <a:xfrm>
              <a:off x="357" y="168"/>
              <a:ext cx="340" cy="340"/>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24" name="矩形 23"/>
            <p:cNvSpPr/>
            <p:nvPr/>
          </p:nvSpPr>
          <p:spPr>
            <a:xfrm>
              <a:off x="527" y="394"/>
              <a:ext cx="680" cy="6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25" name="矩形 24"/>
            <p:cNvSpPr/>
            <p:nvPr/>
          </p:nvSpPr>
          <p:spPr>
            <a:xfrm>
              <a:off x="1037"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cxnSp>
          <p:nvCxnSpPr>
            <p:cNvPr id="26" name="直接连接符 25"/>
            <p:cNvCxnSpPr/>
            <p:nvPr/>
          </p:nvCxnSpPr>
          <p:spPr>
            <a:xfrm>
              <a:off x="1377" y="1018"/>
              <a:ext cx="16613" cy="0"/>
            </a:xfrm>
            <a:prstGeom prst="line">
              <a:avLst/>
            </a:prstGeom>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17990"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grpSp>
      <p:sp>
        <p:nvSpPr>
          <p:cNvPr id="28" name="文本框 26"/>
          <p:cNvSpPr txBox="1"/>
          <p:nvPr/>
        </p:nvSpPr>
        <p:spPr>
          <a:xfrm>
            <a:off x="955675" y="321945"/>
            <a:ext cx="5029200" cy="460375"/>
          </a:xfrm>
          <a:prstGeom prst="rect">
            <a:avLst/>
          </a:prstGeom>
          <a:noFill/>
        </p:spPr>
        <p:txBody>
          <a:bodyPr wrap="square" rtlCol="0">
            <a:spAutoFit/>
          </a:bodyPr>
          <a:p>
            <a:r>
              <a:rPr lang="zh-CN" sz="2400" b="1" spc="100">
                <a:solidFill>
                  <a:schemeClr val="accent1"/>
                </a:solidFill>
                <a:latin typeface="微软雅黑" panose="020B0503020204020204" charset="-122"/>
                <a:ea typeface="微软雅黑" panose="020B0503020204020204" charset="-122"/>
                <a:sym typeface="+mn-ea"/>
              </a:rPr>
              <a:t>三、做题流程</a:t>
            </a:r>
            <a:endParaRPr lang="en-US" altLang="zh-CN" sz="2400" b="1" spc="10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sym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图片1"/>
          <p:cNvPicPr>
            <a:picLocks noChangeAspect="1"/>
          </p:cNvPicPr>
          <p:nvPr/>
        </p:nvPicPr>
        <p:blipFill>
          <a:blip r:embed="rId1"/>
          <a:stretch>
            <a:fillRect/>
          </a:stretch>
        </p:blipFill>
        <p:spPr>
          <a:xfrm>
            <a:off x="-12065" y="0"/>
            <a:ext cx="12192000" cy="6858000"/>
          </a:xfrm>
          <a:prstGeom prst="rect">
            <a:avLst/>
          </a:prstGeom>
        </p:spPr>
      </p:pic>
      <p:sp>
        <p:nvSpPr>
          <p:cNvPr id="3" name="文本框 2"/>
          <p:cNvSpPr txBox="1"/>
          <p:nvPr/>
        </p:nvSpPr>
        <p:spPr>
          <a:xfrm>
            <a:off x="1953584" y="1150671"/>
            <a:ext cx="7303885" cy="341630"/>
          </a:xfrm>
          <a:prstGeom prst="rect">
            <a:avLst/>
          </a:prstGeom>
          <a:noFill/>
        </p:spPr>
        <p:txBody>
          <a:bodyPr wrap="square" rtlCol="0">
            <a:spAutoFit/>
          </a:bodyPr>
          <a:lstStyle/>
          <a:p>
            <a:r>
              <a:rPr lang="en-US" altLang="zh-CN" sz="1630"/>
              <a:t>5.</a:t>
            </a:r>
            <a:r>
              <a:rPr lang="zh-CN" altLang="en-US" sz="1630"/>
              <a:t>根据需求文档进行脚本录制或者编写，编写完成后使用</a:t>
            </a:r>
            <a:r>
              <a:rPr lang="en-US" altLang="zh-CN" sz="1630"/>
              <a:t>run</a:t>
            </a:r>
            <a:r>
              <a:rPr lang="zh-CN" altLang="en-US" sz="1630"/>
              <a:t>功能提交得分</a:t>
            </a:r>
            <a:endParaRPr lang="zh-CN" altLang="en-US" sz="1630"/>
          </a:p>
        </p:txBody>
      </p:sp>
      <p:pic>
        <p:nvPicPr>
          <p:cNvPr id="6" name="图片 5"/>
          <p:cNvPicPr>
            <a:picLocks noChangeAspect="1"/>
          </p:cNvPicPr>
          <p:nvPr>
            <p:custDataLst>
              <p:tags r:id="rId2"/>
            </p:custDataLst>
          </p:nvPr>
        </p:nvPicPr>
        <p:blipFill>
          <a:blip r:embed="rId3"/>
          <a:stretch>
            <a:fillRect/>
          </a:stretch>
        </p:blipFill>
        <p:spPr>
          <a:xfrm>
            <a:off x="2091664" y="1772034"/>
            <a:ext cx="8337188" cy="4259209"/>
          </a:xfrm>
          <a:prstGeom prst="rect">
            <a:avLst/>
          </a:prstGeom>
        </p:spPr>
      </p:pic>
      <p:grpSp>
        <p:nvGrpSpPr>
          <p:cNvPr id="14" name="组合 13"/>
          <p:cNvGrpSpPr/>
          <p:nvPr/>
        </p:nvGrpSpPr>
        <p:grpSpPr>
          <a:xfrm>
            <a:off x="226695" y="321945"/>
            <a:ext cx="11412855" cy="647700"/>
            <a:chOff x="357" y="168"/>
            <a:chExt cx="17973" cy="1020"/>
          </a:xfrm>
        </p:grpSpPr>
        <p:sp>
          <p:nvSpPr>
            <p:cNvPr id="15" name="矩形 14"/>
            <p:cNvSpPr/>
            <p:nvPr/>
          </p:nvSpPr>
          <p:spPr>
            <a:xfrm>
              <a:off x="357" y="168"/>
              <a:ext cx="340" cy="340"/>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6" name="矩形 15"/>
            <p:cNvSpPr/>
            <p:nvPr/>
          </p:nvSpPr>
          <p:spPr>
            <a:xfrm>
              <a:off x="527" y="394"/>
              <a:ext cx="680" cy="6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7" name="矩形 16"/>
            <p:cNvSpPr/>
            <p:nvPr/>
          </p:nvSpPr>
          <p:spPr>
            <a:xfrm>
              <a:off x="1037"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cxnSp>
          <p:nvCxnSpPr>
            <p:cNvPr id="18" name="直接连接符 17"/>
            <p:cNvCxnSpPr/>
            <p:nvPr/>
          </p:nvCxnSpPr>
          <p:spPr>
            <a:xfrm>
              <a:off x="1377" y="1018"/>
              <a:ext cx="16613"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17990"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grpSp>
      <p:sp>
        <p:nvSpPr>
          <p:cNvPr id="20" name="文本框 26"/>
          <p:cNvSpPr txBox="1"/>
          <p:nvPr/>
        </p:nvSpPr>
        <p:spPr>
          <a:xfrm>
            <a:off x="955675" y="321945"/>
            <a:ext cx="5029200" cy="460375"/>
          </a:xfrm>
          <a:prstGeom prst="rect">
            <a:avLst/>
          </a:prstGeom>
          <a:noFill/>
        </p:spPr>
        <p:txBody>
          <a:bodyPr wrap="square" rtlCol="0">
            <a:spAutoFit/>
          </a:bodyPr>
          <a:p>
            <a:r>
              <a:rPr lang="zh-CN" sz="2400" b="1" spc="100">
                <a:solidFill>
                  <a:schemeClr val="accent1"/>
                </a:solidFill>
                <a:latin typeface="微软雅黑" panose="020B0503020204020204" charset="-122"/>
                <a:ea typeface="微软雅黑" panose="020B0503020204020204" charset="-122"/>
                <a:sym typeface="+mn-ea"/>
              </a:rPr>
              <a:t>三、做题流程</a:t>
            </a:r>
            <a:endParaRPr lang="en-US" altLang="zh-CN" sz="2400" b="1" spc="10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sym typeface="+mn-e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图片1"/>
          <p:cNvPicPr>
            <a:picLocks noChangeAspect="1"/>
          </p:cNvPicPr>
          <p:nvPr/>
        </p:nvPicPr>
        <p:blipFill>
          <a:blip r:embed="rId1"/>
          <a:stretch>
            <a:fillRect/>
          </a:stretch>
        </p:blipFill>
        <p:spPr>
          <a:xfrm>
            <a:off x="-12065" y="0"/>
            <a:ext cx="12192000" cy="6858000"/>
          </a:xfrm>
          <a:prstGeom prst="rect">
            <a:avLst/>
          </a:prstGeom>
        </p:spPr>
      </p:pic>
      <p:sp>
        <p:nvSpPr>
          <p:cNvPr id="4" name="object 2"/>
          <p:cNvSpPr txBox="1"/>
          <p:nvPr/>
        </p:nvSpPr>
        <p:spPr>
          <a:xfrm>
            <a:off x="1677423" y="240178"/>
            <a:ext cx="7470465" cy="602333"/>
          </a:xfrm>
          <a:prstGeom prst="rect">
            <a:avLst/>
          </a:prstGeom>
        </p:spPr>
        <p:txBody>
          <a:bodyPr wrap="square" lIns="0" tIns="0" rIns="0" bIns="0">
            <a:noAutofit/>
          </a:bodyPr>
          <a:lstStyle>
            <a:lvl1pPr algn="l" defTabSz="914400" rtl="0" eaLnBrk="1" latinLnBrk="0" hangingPunct="1">
              <a:lnSpc>
                <a:spcPct val="90000"/>
              </a:lnSpc>
              <a:spcBef>
                <a:spcPct val="0"/>
              </a:spcBef>
              <a:buNone/>
              <a:defRPr sz="4800" kern="1200">
                <a:solidFill>
                  <a:srgbClr val="0070C0"/>
                </a:solidFill>
                <a:latin typeface="微软雅黑" panose="020B0503020204020204" charset="-122"/>
                <a:ea typeface="微软雅黑" panose="020B0503020204020204" charset="-122"/>
                <a:cs typeface="+mj-cs"/>
              </a:defRPr>
            </a:lvl1pPr>
          </a:lstStyle>
          <a:p>
            <a:endParaRPr lang="zh-CN" altLang="en-US" sz="4350" dirty="0">
              <a:sym typeface="Times New Roman" panose="02020603050405020304" pitchFamily="18" charset="0"/>
            </a:endParaRPr>
          </a:p>
        </p:txBody>
      </p:sp>
      <p:sp>
        <p:nvSpPr>
          <p:cNvPr id="3" name="文本框 2"/>
          <p:cNvSpPr txBox="1"/>
          <p:nvPr/>
        </p:nvSpPr>
        <p:spPr>
          <a:xfrm>
            <a:off x="1953584" y="1150671"/>
            <a:ext cx="7303885" cy="341630"/>
          </a:xfrm>
          <a:prstGeom prst="rect">
            <a:avLst/>
          </a:prstGeom>
          <a:noFill/>
        </p:spPr>
        <p:txBody>
          <a:bodyPr wrap="square" rtlCol="0">
            <a:spAutoFit/>
          </a:bodyPr>
          <a:lstStyle/>
          <a:p>
            <a:r>
              <a:rPr lang="en-US" altLang="zh-CN" sz="1630"/>
              <a:t>6.</a:t>
            </a:r>
            <a:r>
              <a:rPr lang="zh-CN" altLang="en-US" sz="1630"/>
              <a:t>得到分数以后，使用</a:t>
            </a:r>
            <a:r>
              <a:rPr lang="en-US" altLang="zh-CN" sz="1630"/>
              <a:t>submit</a:t>
            </a:r>
            <a:r>
              <a:rPr lang="zh-CN" altLang="en-US" sz="1630"/>
              <a:t>进行分数提交至慕测平台（重要）</a:t>
            </a:r>
            <a:endParaRPr lang="zh-CN" altLang="en-US" sz="1630"/>
          </a:p>
        </p:txBody>
      </p:sp>
      <p:pic>
        <p:nvPicPr>
          <p:cNvPr id="2" name="图片 1"/>
          <p:cNvPicPr>
            <a:picLocks noChangeAspect="1"/>
          </p:cNvPicPr>
          <p:nvPr>
            <p:custDataLst>
              <p:tags r:id="rId2"/>
            </p:custDataLst>
          </p:nvPr>
        </p:nvPicPr>
        <p:blipFill>
          <a:blip r:embed="rId3"/>
          <a:stretch>
            <a:fillRect/>
          </a:stretch>
        </p:blipFill>
        <p:spPr>
          <a:xfrm>
            <a:off x="1815503" y="1564913"/>
            <a:ext cx="8153080" cy="4109047"/>
          </a:xfrm>
          <a:prstGeom prst="rect">
            <a:avLst/>
          </a:prstGeom>
        </p:spPr>
      </p:pic>
      <p:grpSp>
        <p:nvGrpSpPr>
          <p:cNvPr id="14" name="组合 13"/>
          <p:cNvGrpSpPr/>
          <p:nvPr/>
        </p:nvGrpSpPr>
        <p:grpSpPr>
          <a:xfrm>
            <a:off x="226695" y="321945"/>
            <a:ext cx="11412855" cy="647700"/>
            <a:chOff x="357" y="168"/>
            <a:chExt cx="17973" cy="1020"/>
          </a:xfrm>
        </p:grpSpPr>
        <p:sp>
          <p:nvSpPr>
            <p:cNvPr id="15" name="矩形 14"/>
            <p:cNvSpPr/>
            <p:nvPr/>
          </p:nvSpPr>
          <p:spPr>
            <a:xfrm>
              <a:off x="357" y="168"/>
              <a:ext cx="340" cy="340"/>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6" name="矩形 15"/>
            <p:cNvSpPr/>
            <p:nvPr/>
          </p:nvSpPr>
          <p:spPr>
            <a:xfrm>
              <a:off x="527" y="394"/>
              <a:ext cx="680" cy="6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7" name="矩形 16"/>
            <p:cNvSpPr/>
            <p:nvPr/>
          </p:nvSpPr>
          <p:spPr>
            <a:xfrm>
              <a:off x="1037"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cxnSp>
          <p:nvCxnSpPr>
            <p:cNvPr id="18" name="直接连接符 17"/>
            <p:cNvCxnSpPr/>
            <p:nvPr/>
          </p:nvCxnSpPr>
          <p:spPr>
            <a:xfrm>
              <a:off x="1377" y="1018"/>
              <a:ext cx="16613"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17990"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grpSp>
      <p:sp>
        <p:nvSpPr>
          <p:cNvPr id="20" name="文本框 26"/>
          <p:cNvSpPr txBox="1"/>
          <p:nvPr/>
        </p:nvSpPr>
        <p:spPr>
          <a:xfrm>
            <a:off x="955675" y="321945"/>
            <a:ext cx="5029200" cy="460375"/>
          </a:xfrm>
          <a:prstGeom prst="rect">
            <a:avLst/>
          </a:prstGeom>
          <a:noFill/>
        </p:spPr>
        <p:txBody>
          <a:bodyPr wrap="square" rtlCol="0">
            <a:spAutoFit/>
          </a:bodyPr>
          <a:p>
            <a:r>
              <a:rPr lang="zh-CN" sz="2400" b="1" spc="100">
                <a:solidFill>
                  <a:schemeClr val="accent1"/>
                </a:solidFill>
                <a:latin typeface="微软雅黑" panose="020B0503020204020204" charset="-122"/>
                <a:ea typeface="微软雅黑" panose="020B0503020204020204" charset="-122"/>
                <a:sym typeface="+mn-ea"/>
              </a:rPr>
              <a:t>三、做题流程</a:t>
            </a:r>
            <a:endParaRPr lang="en-US" altLang="zh-CN" sz="2400" b="1" spc="10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sym typeface="+mn-e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图片1"/>
          <p:cNvPicPr>
            <a:picLocks noChangeAspect="1"/>
          </p:cNvPicPr>
          <p:nvPr/>
        </p:nvPicPr>
        <p:blipFill>
          <a:blip r:embed="rId1"/>
          <a:stretch>
            <a:fillRect/>
          </a:stretch>
        </p:blipFill>
        <p:spPr>
          <a:xfrm>
            <a:off x="-12065" y="0"/>
            <a:ext cx="12192000" cy="6858000"/>
          </a:xfrm>
          <a:prstGeom prst="rect">
            <a:avLst/>
          </a:prstGeom>
        </p:spPr>
      </p:pic>
      <p:sp>
        <p:nvSpPr>
          <p:cNvPr id="3" name="文本框 2"/>
          <p:cNvSpPr txBox="1"/>
          <p:nvPr/>
        </p:nvSpPr>
        <p:spPr>
          <a:xfrm>
            <a:off x="1953584" y="1150671"/>
            <a:ext cx="7303885" cy="341630"/>
          </a:xfrm>
          <a:prstGeom prst="rect">
            <a:avLst/>
          </a:prstGeom>
          <a:noFill/>
        </p:spPr>
        <p:txBody>
          <a:bodyPr wrap="square" rtlCol="0">
            <a:spAutoFit/>
          </a:bodyPr>
          <a:lstStyle/>
          <a:p>
            <a:r>
              <a:rPr lang="en-US" altLang="zh-CN" sz="1630"/>
              <a:t>6.</a:t>
            </a:r>
            <a:r>
              <a:rPr lang="zh-CN" altLang="en-US" sz="1630"/>
              <a:t>得到分数以后，使用</a:t>
            </a:r>
            <a:r>
              <a:rPr lang="en-US" altLang="zh-CN" sz="1630"/>
              <a:t>submit</a:t>
            </a:r>
            <a:r>
              <a:rPr lang="zh-CN" altLang="en-US" sz="1630"/>
              <a:t>进行分数提交至慕测平台（重要）</a:t>
            </a:r>
            <a:endParaRPr lang="zh-CN" altLang="en-US" sz="1630"/>
          </a:p>
        </p:txBody>
      </p:sp>
      <p:pic>
        <p:nvPicPr>
          <p:cNvPr id="2" name="图片 1"/>
          <p:cNvPicPr>
            <a:picLocks noChangeAspect="1"/>
          </p:cNvPicPr>
          <p:nvPr>
            <p:custDataLst>
              <p:tags r:id="rId2"/>
            </p:custDataLst>
          </p:nvPr>
        </p:nvPicPr>
        <p:blipFill>
          <a:blip r:embed="rId3"/>
          <a:stretch>
            <a:fillRect/>
          </a:stretch>
        </p:blipFill>
        <p:spPr>
          <a:xfrm>
            <a:off x="1815503" y="1564913"/>
            <a:ext cx="8153080" cy="4109047"/>
          </a:xfrm>
          <a:prstGeom prst="rect">
            <a:avLst/>
          </a:prstGeom>
        </p:spPr>
      </p:pic>
      <p:grpSp>
        <p:nvGrpSpPr>
          <p:cNvPr id="14" name="组合 13"/>
          <p:cNvGrpSpPr/>
          <p:nvPr/>
        </p:nvGrpSpPr>
        <p:grpSpPr>
          <a:xfrm>
            <a:off x="226695" y="321945"/>
            <a:ext cx="11412855" cy="647700"/>
            <a:chOff x="357" y="168"/>
            <a:chExt cx="17973" cy="1020"/>
          </a:xfrm>
        </p:grpSpPr>
        <p:sp>
          <p:nvSpPr>
            <p:cNvPr id="15" name="矩形 14"/>
            <p:cNvSpPr/>
            <p:nvPr/>
          </p:nvSpPr>
          <p:spPr>
            <a:xfrm>
              <a:off x="357" y="168"/>
              <a:ext cx="340" cy="340"/>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6" name="矩形 15"/>
            <p:cNvSpPr/>
            <p:nvPr/>
          </p:nvSpPr>
          <p:spPr>
            <a:xfrm>
              <a:off x="527" y="394"/>
              <a:ext cx="680" cy="6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7" name="矩形 16"/>
            <p:cNvSpPr/>
            <p:nvPr/>
          </p:nvSpPr>
          <p:spPr>
            <a:xfrm>
              <a:off x="1037"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cxnSp>
          <p:nvCxnSpPr>
            <p:cNvPr id="18" name="直接连接符 17"/>
            <p:cNvCxnSpPr/>
            <p:nvPr/>
          </p:nvCxnSpPr>
          <p:spPr>
            <a:xfrm>
              <a:off x="1377" y="1018"/>
              <a:ext cx="16613"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17990"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grpSp>
      <p:sp>
        <p:nvSpPr>
          <p:cNvPr id="20" name="文本框 26"/>
          <p:cNvSpPr txBox="1"/>
          <p:nvPr/>
        </p:nvSpPr>
        <p:spPr>
          <a:xfrm>
            <a:off x="955675" y="321945"/>
            <a:ext cx="5029200" cy="460375"/>
          </a:xfrm>
          <a:prstGeom prst="rect">
            <a:avLst/>
          </a:prstGeom>
          <a:noFill/>
        </p:spPr>
        <p:txBody>
          <a:bodyPr wrap="square" rtlCol="0">
            <a:spAutoFit/>
          </a:bodyPr>
          <a:p>
            <a:r>
              <a:rPr lang="zh-CN" sz="2400" b="1" spc="100">
                <a:solidFill>
                  <a:schemeClr val="accent1"/>
                </a:solidFill>
                <a:latin typeface="微软雅黑" panose="020B0503020204020204" charset="-122"/>
                <a:ea typeface="微软雅黑" panose="020B0503020204020204" charset="-122"/>
                <a:sym typeface="+mn-ea"/>
              </a:rPr>
              <a:t>三、做题流程</a:t>
            </a:r>
            <a:endParaRPr lang="en-US" altLang="zh-CN" sz="2400" b="1" spc="10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sym typeface="+mn-e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图片1"/>
          <p:cNvPicPr>
            <a:picLocks noChangeAspect="1"/>
          </p:cNvPicPr>
          <p:nvPr/>
        </p:nvPicPr>
        <p:blipFill>
          <a:blip r:embed="rId1"/>
          <a:stretch>
            <a:fillRect/>
          </a:stretch>
        </p:blipFill>
        <p:spPr>
          <a:xfrm>
            <a:off x="0" y="0"/>
            <a:ext cx="12192000" cy="6858000"/>
          </a:xfrm>
          <a:prstGeom prst="rect">
            <a:avLst/>
          </a:prstGeom>
        </p:spPr>
      </p:pic>
      <p:sp>
        <p:nvSpPr>
          <p:cNvPr id="5" name="文本框 4"/>
          <p:cNvSpPr txBox="1"/>
          <p:nvPr/>
        </p:nvSpPr>
        <p:spPr>
          <a:xfrm>
            <a:off x="2271744" y="1505078"/>
            <a:ext cx="7255557" cy="2721610"/>
          </a:xfrm>
          <a:prstGeom prst="rect">
            <a:avLst/>
          </a:prstGeom>
          <a:noFill/>
        </p:spPr>
        <p:txBody>
          <a:bodyPr wrap="square" rtlCol="0" anchor="t">
            <a:spAutoFit/>
          </a:bodyPr>
          <a:lstStyle/>
          <a:p>
            <a:pPr indent="457200">
              <a:lnSpc>
                <a:spcPct val="150000"/>
              </a:lnSpc>
            </a:pPr>
            <a:r>
              <a:rPr lang="en-US" altLang="zh-CN" sz="1630" dirty="0">
                <a:latin typeface="Times New Roman" panose="02020603050405020304" pitchFamily="18" charset="0"/>
                <a:ea typeface="微软雅黑" panose="020B0503020204020204" charset="-122"/>
                <a:sym typeface="Times New Roman" panose="02020603050405020304" pitchFamily="18" charset="0"/>
              </a:rPr>
              <a:t>Web</a:t>
            </a:r>
            <a:r>
              <a:rPr lang="zh-CN" altLang="en-US" sz="1630" dirty="0">
                <a:latin typeface="Times New Roman" panose="02020603050405020304" pitchFamily="18" charset="0"/>
                <a:ea typeface="微软雅黑" panose="020B0503020204020204" charset="-122"/>
                <a:sym typeface="Times New Roman" panose="02020603050405020304" pitchFamily="18" charset="0"/>
              </a:rPr>
              <a:t>性能测试是为了考察大家对</a:t>
            </a:r>
            <a:r>
              <a:rPr lang="en-US" altLang="zh-CN" sz="1630" dirty="0">
                <a:latin typeface="Times New Roman" panose="02020603050405020304" pitchFamily="18" charset="0"/>
                <a:ea typeface="微软雅黑" panose="020B0503020204020204" charset="-122"/>
                <a:sym typeface="Times New Roman" panose="02020603050405020304" pitchFamily="18" charset="0"/>
              </a:rPr>
              <a:t>Jmeter</a:t>
            </a:r>
            <a:r>
              <a:rPr lang="zh-CN" altLang="en-US" sz="1630" dirty="0">
                <a:latin typeface="Times New Roman" panose="02020603050405020304" pitchFamily="18" charset="0"/>
                <a:ea typeface="微软雅黑" panose="020B0503020204020204" charset="-122"/>
                <a:sym typeface="Times New Roman" panose="02020603050405020304" pitchFamily="18" charset="0"/>
              </a:rPr>
              <a:t>工具的基础使用情况，我们从（</a:t>
            </a:r>
            <a:r>
              <a:rPr lang="en-US" altLang="zh-CN" sz="1630" dirty="0">
                <a:latin typeface="Times New Roman" panose="02020603050405020304" pitchFamily="18" charset="0"/>
                <a:ea typeface="微软雅黑" panose="020B0503020204020204" charset="-122"/>
                <a:sym typeface="Times New Roman" panose="02020603050405020304" pitchFamily="18" charset="0"/>
              </a:rPr>
              <a:t>1</a:t>
            </a:r>
            <a:r>
              <a:rPr lang="zh-CN" altLang="en-US" sz="1630" dirty="0">
                <a:latin typeface="Times New Roman" panose="02020603050405020304" pitchFamily="18" charset="0"/>
                <a:ea typeface="微软雅黑" panose="020B0503020204020204" charset="-122"/>
                <a:sym typeface="Times New Roman" panose="02020603050405020304" pitchFamily="18" charset="0"/>
              </a:rPr>
              <a:t>）线程名称、（</a:t>
            </a:r>
            <a:r>
              <a:rPr lang="en-US" altLang="zh-CN" sz="1630" dirty="0">
                <a:latin typeface="Times New Roman" panose="02020603050405020304" pitchFamily="18" charset="0"/>
                <a:ea typeface="微软雅黑" panose="020B0503020204020204" charset="-122"/>
                <a:sym typeface="Times New Roman" panose="02020603050405020304" pitchFamily="18" charset="0"/>
              </a:rPr>
              <a:t>2</a:t>
            </a:r>
            <a:r>
              <a:rPr lang="zh-CN" altLang="en-US" sz="1630" dirty="0">
                <a:latin typeface="Times New Roman" panose="02020603050405020304" pitchFamily="18" charset="0"/>
                <a:ea typeface="微软雅黑" panose="020B0503020204020204" charset="-122"/>
                <a:sym typeface="Times New Roman" panose="02020603050405020304" pitchFamily="18" charset="0"/>
              </a:rPr>
              <a:t>）线程数、（</a:t>
            </a:r>
            <a:r>
              <a:rPr lang="en-US" altLang="zh-CN" sz="1630" dirty="0">
                <a:latin typeface="Times New Roman" panose="02020603050405020304" pitchFamily="18" charset="0"/>
                <a:ea typeface="微软雅黑" panose="020B0503020204020204" charset="-122"/>
                <a:sym typeface="Times New Roman" panose="02020603050405020304" pitchFamily="18" charset="0"/>
              </a:rPr>
              <a:t>3</a:t>
            </a:r>
            <a:r>
              <a:rPr lang="zh-CN" altLang="en-US" sz="1630" dirty="0">
                <a:latin typeface="Times New Roman" panose="02020603050405020304" pitchFamily="18" charset="0"/>
                <a:ea typeface="微软雅黑" panose="020B0503020204020204" charset="-122"/>
                <a:sym typeface="Times New Roman" panose="02020603050405020304" pitchFamily="18" charset="0"/>
              </a:rPr>
              <a:t>）启动时间、（</a:t>
            </a:r>
            <a:r>
              <a:rPr lang="en-US" altLang="zh-CN" sz="1630" dirty="0">
                <a:latin typeface="Times New Roman" panose="02020603050405020304" pitchFamily="18" charset="0"/>
                <a:ea typeface="微软雅黑" panose="020B0503020204020204" charset="-122"/>
                <a:sym typeface="Times New Roman" panose="02020603050405020304" pitchFamily="18" charset="0"/>
              </a:rPr>
              <a:t>4</a:t>
            </a:r>
            <a:r>
              <a:rPr lang="zh-CN" altLang="en-US" sz="1630" dirty="0">
                <a:latin typeface="Times New Roman" panose="02020603050405020304" pitchFamily="18" charset="0"/>
                <a:ea typeface="微软雅黑" panose="020B0503020204020204" charset="-122"/>
                <a:sym typeface="Times New Roman" panose="02020603050405020304" pitchFamily="18" charset="0"/>
              </a:rPr>
              <a:t>）运行时间、（</a:t>
            </a:r>
            <a:r>
              <a:rPr lang="en-US" altLang="zh-CN" sz="1630" dirty="0">
                <a:latin typeface="Times New Roman" panose="02020603050405020304" pitchFamily="18" charset="0"/>
                <a:ea typeface="微软雅黑" panose="020B0503020204020204" charset="-122"/>
                <a:sym typeface="Times New Roman" panose="02020603050405020304" pitchFamily="18" charset="0"/>
              </a:rPr>
              <a:t>5</a:t>
            </a:r>
            <a:r>
              <a:rPr lang="zh-CN" altLang="en-US" sz="1630" dirty="0">
                <a:latin typeface="Times New Roman" panose="02020603050405020304" pitchFamily="18" charset="0"/>
                <a:ea typeface="微软雅黑" panose="020B0503020204020204" charset="-122"/>
                <a:sym typeface="Times New Roman" panose="02020603050405020304" pitchFamily="18" charset="0"/>
              </a:rPr>
              <a:t>）事务控制器（</a:t>
            </a:r>
            <a:r>
              <a:rPr lang="en-US" altLang="zh-CN" sz="1630" dirty="0">
                <a:latin typeface="Times New Roman" panose="02020603050405020304" pitchFamily="18" charset="0"/>
                <a:ea typeface="微软雅黑" panose="020B0503020204020204" charset="-122"/>
                <a:sym typeface="Times New Roman" panose="02020603050405020304" pitchFamily="18" charset="0"/>
              </a:rPr>
              <a:t>6</a:t>
            </a:r>
            <a:r>
              <a:rPr lang="zh-CN" altLang="en-US" sz="1630" dirty="0">
                <a:latin typeface="Times New Roman" panose="02020603050405020304" pitchFamily="18" charset="0"/>
                <a:ea typeface="微软雅黑" panose="020B0503020204020204" charset="-122"/>
                <a:sym typeface="Times New Roman" panose="02020603050405020304" pitchFamily="18" charset="0"/>
              </a:rPr>
              <a:t>）集合点、（</a:t>
            </a:r>
            <a:r>
              <a:rPr lang="en-US" altLang="zh-CN" sz="1630" dirty="0">
                <a:latin typeface="Times New Roman" panose="02020603050405020304" pitchFamily="18" charset="0"/>
                <a:ea typeface="微软雅黑" panose="020B0503020204020204" charset="-122"/>
                <a:sym typeface="Times New Roman" panose="02020603050405020304" pitchFamily="18" charset="0"/>
              </a:rPr>
              <a:t>7</a:t>
            </a:r>
            <a:r>
              <a:rPr lang="zh-CN" altLang="en-US" sz="1630" dirty="0">
                <a:latin typeface="Times New Roman" panose="02020603050405020304" pitchFamily="18" charset="0"/>
                <a:ea typeface="微软雅黑" panose="020B0503020204020204" charset="-122"/>
                <a:sym typeface="Times New Roman" panose="02020603050405020304" pitchFamily="18" charset="0"/>
              </a:rPr>
              <a:t>）参数化、（</a:t>
            </a:r>
            <a:r>
              <a:rPr lang="en-US" altLang="zh-CN" sz="1630" dirty="0">
                <a:latin typeface="Times New Roman" panose="02020603050405020304" pitchFamily="18" charset="0"/>
                <a:ea typeface="微软雅黑" panose="020B0503020204020204" charset="-122"/>
                <a:sym typeface="Times New Roman" panose="02020603050405020304" pitchFamily="18" charset="0"/>
              </a:rPr>
              <a:t>8</a:t>
            </a:r>
            <a:r>
              <a:rPr lang="zh-CN" altLang="en-US" sz="1630" dirty="0">
                <a:latin typeface="Times New Roman" panose="02020603050405020304" pitchFamily="18" charset="0"/>
                <a:ea typeface="微软雅黑" panose="020B0503020204020204" charset="-122"/>
                <a:sym typeface="Times New Roman" panose="02020603050405020304" pitchFamily="18" charset="0"/>
              </a:rPr>
              <a:t>）请求成功率等方面作为得分点，来检测大家对生成测试脚本的测试能力。</a:t>
            </a:r>
            <a:endParaRPr lang="zh-CN" altLang="en-US" sz="1630" dirty="0">
              <a:latin typeface="Times New Roman" panose="02020603050405020304" pitchFamily="18" charset="0"/>
              <a:ea typeface="微软雅黑" panose="020B0503020204020204" charset="-122"/>
              <a:sym typeface="Times New Roman" panose="02020603050405020304" pitchFamily="18" charset="0"/>
            </a:endParaRPr>
          </a:p>
          <a:p>
            <a:pPr indent="457200">
              <a:lnSpc>
                <a:spcPct val="150000"/>
              </a:lnSpc>
            </a:pPr>
            <a:r>
              <a:rPr sz="1630" dirty="0">
                <a:latin typeface="Times New Roman" panose="02020603050405020304" pitchFamily="18" charset="0"/>
                <a:ea typeface="微软雅黑" panose="020B0503020204020204" charset="-122"/>
                <a:sym typeface="Times New Roman" panose="02020603050405020304" pitchFamily="18" charset="0"/>
              </a:rPr>
              <a:t>性能测试总分共计100分，其中线程名称占比10%、线程数占比10%、启动时间占比10%、运行时间占比10%、事务控制器占比10%、集合点占比20%、参数化占比20%、请求成功率占比10%。</a:t>
            </a:r>
            <a:endParaRPr sz="1630" dirty="0">
              <a:latin typeface="Times New Roman" panose="02020603050405020304" pitchFamily="18" charset="0"/>
              <a:ea typeface="微软雅黑" panose="020B0503020204020204" charset="-122"/>
              <a:sym typeface="Times New Roman" panose="02020603050405020304" pitchFamily="18" charset="0"/>
            </a:endParaRPr>
          </a:p>
        </p:txBody>
      </p:sp>
      <p:sp>
        <p:nvSpPr>
          <p:cNvPr id="7" name="文本框 6"/>
          <p:cNvSpPr txBox="1"/>
          <p:nvPr/>
        </p:nvSpPr>
        <p:spPr>
          <a:xfrm>
            <a:off x="2367826" y="5776369"/>
            <a:ext cx="7371775" cy="762000"/>
          </a:xfrm>
          <a:prstGeom prst="rect">
            <a:avLst/>
          </a:prstGeom>
          <a:noFill/>
        </p:spPr>
        <p:txBody>
          <a:bodyPr wrap="square" rtlCol="0" anchor="t">
            <a:spAutoFit/>
          </a:bodyPr>
          <a:lstStyle/>
          <a:p>
            <a:pPr algn="ctr"/>
            <a:endParaRPr lang="en-US" altLang="zh-CN" sz="2175" b="1" dirty="0">
              <a:sym typeface="+mn-ea"/>
            </a:endParaRPr>
          </a:p>
          <a:p>
            <a:pPr algn="ctr"/>
            <a:r>
              <a:rPr lang="zh-CN" altLang="en-US" sz="2175" b="1" dirty="0">
                <a:sym typeface="+mn-ea"/>
              </a:rPr>
              <a:t>注：如果多人获得满分，按时间先后顺序排名</a:t>
            </a:r>
            <a:endParaRPr lang="zh-CN" altLang="en-US" sz="2175" b="1" dirty="0">
              <a:sym typeface="+mn-ea"/>
            </a:endParaRPr>
          </a:p>
        </p:txBody>
      </p:sp>
      <p:pic>
        <p:nvPicPr>
          <p:cNvPr id="3" name="图片 2"/>
          <p:cNvPicPr>
            <a:picLocks noChangeAspect="1"/>
          </p:cNvPicPr>
          <p:nvPr>
            <p:custDataLst>
              <p:tags r:id="rId2"/>
            </p:custDataLst>
          </p:nvPr>
        </p:nvPicPr>
        <p:blipFill>
          <a:blip r:embed="rId3"/>
          <a:stretch>
            <a:fillRect/>
          </a:stretch>
        </p:blipFill>
        <p:spPr>
          <a:xfrm>
            <a:off x="1815503" y="4449645"/>
            <a:ext cx="8765813" cy="1247328"/>
          </a:xfrm>
          <a:prstGeom prst="rect">
            <a:avLst/>
          </a:prstGeom>
        </p:spPr>
      </p:pic>
      <p:grpSp>
        <p:nvGrpSpPr>
          <p:cNvPr id="14" name="组合 13"/>
          <p:cNvGrpSpPr/>
          <p:nvPr/>
        </p:nvGrpSpPr>
        <p:grpSpPr>
          <a:xfrm>
            <a:off x="226695" y="321945"/>
            <a:ext cx="11412855" cy="647700"/>
            <a:chOff x="357" y="168"/>
            <a:chExt cx="17973" cy="1020"/>
          </a:xfrm>
        </p:grpSpPr>
        <p:sp>
          <p:nvSpPr>
            <p:cNvPr id="15" name="矩形 14"/>
            <p:cNvSpPr/>
            <p:nvPr/>
          </p:nvSpPr>
          <p:spPr>
            <a:xfrm>
              <a:off x="357" y="168"/>
              <a:ext cx="340" cy="340"/>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6" name="矩形 15"/>
            <p:cNvSpPr/>
            <p:nvPr/>
          </p:nvSpPr>
          <p:spPr>
            <a:xfrm>
              <a:off x="527" y="394"/>
              <a:ext cx="680" cy="6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7" name="矩形 16"/>
            <p:cNvSpPr/>
            <p:nvPr/>
          </p:nvSpPr>
          <p:spPr>
            <a:xfrm>
              <a:off x="1037"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cxnSp>
          <p:nvCxnSpPr>
            <p:cNvPr id="18" name="直接连接符 17"/>
            <p:cNvCxnSpPr/>
            <p:nvPr/>
          </p:nvCxnSpPr>
          <p:spPr>
            <a:xfrm>
              <a:off x="1377" y="1018"/>
              <a:ext cx="16613"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17990"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grpSp>
      <p:sp>
        <p:nvSpPr>
          <p:cNvPr id="20" name="文本框 26"/>
          <p:cNvSpPr txBox="1"/>
          <p:nvPr/>
        </p:nvSpPr>
        <p:spPr>
          <a:xfrm>
            <a:off x="955675" y="321945"/>
            <a:ext cx="5029200" cy="460375"/>
          </a:xfrm>
          <a:prstGeom prst="rect">
            <a:avLst/>
          </a:prstGeom>
          <a:noFill/>
        </p:spPr>
        <p:txBody>
          <a:bodyPr wrap="square" rtlCol="0">
            <a:spAutoFit/>
          </a:bodyPr>
          <a:p>
            <a:r>
              <a:rPr lang="zh-CN" sz="2400" b="1" spc="100">
                <a:solidFill>
                  <a:schemeClr val="accent1"/>
                </a:solidFill>
                <a:latin typeface="微软雅黑" panose="020B0503020204020204" charset="-122"/>
                <a:ea typeface="微软雅黑" panose="020B0503020204020204" charset="-122"/>
                <a:sym typeface="+mn-ea"/>
              </a:rPr>
              <a:t>四、得分说明</a:t>
            </a:r>
            <a:endParaRPr lang="en-US" altLang="zh-CN" sz="2400" b="1" spc="10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sym typeface="+mn-e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图片1"/>
          <p:cNvPicPr>
            <a:picLocks noChangeAspect="1"/>
          </p:cNvPicPr>
          <p:nvPr/>
        </p:nvPicPr>
        <p:blipFill>
          <a:blip r:embed="rId1"/>
          <a:stretch>
            <a:fillRect/>
          </a:stretch>
        </p:blipFill>
        <p:spPr>
          <a:xfrm>
            <a:off x="-12065" y="0"/>
            <a:ext cx="12192000" cy="6858000"/>
          </a:xfrm>
          <a:prstGeom prst="rect">
            <a:avLst/>
          </a:prstGeom>
        </p:spPr>
      </p:pic>
      <p:sp>
        <p:nvSpPr>
          <p:cNvPr id="4" name="文本框 3"/>
          <p:cNvSpPr txBox="1"/>
          <p:nvPr/>
        </p:nvSpPr>
        <p:spPr>
          <a:xfrm>
            <a:off x="1852930" y="1180465"/>
            <a:ext cx="4274185" cy="341630"/>
          </a:xfrm>
          <a:prstGeom prst="rect">
            <a:avLst/>
          </a:prstGeom>
          <a:noFill/>
        </p:spPr>
        <p:txBody>
          <a:bodyPr wrap="square" rtlCol="0">
            <a:spAutoFit/>
          </a:bodyPr>
          <a:lstStyle/>
          <a:p>
            <a:r>
              <a:rPr lang="en-US" altLang="zh-CN" sz="1630"/>
              <a:t>1.</a:t>
            </a:r>
            <a:r>
              <a:rPr lang="zh-CN" altLang="en-US" sz="1630"/>
              <a:t>做完题目后，记得做最后的提交</a:t>
            </a:r>
            <a:endParaRPr lang="en-US" altLang="zh-CN" sz="1630"/>
          </a:p>
        </p:txBody>
      </p:sp>
      <p:pic>
        <p:nvPicPr>
          <p:cNvPr id="6" name="图片 5"/>
          <p:cNvPicPr>
            <a:picLocks noChangeAspect="1"/>
          </p:cNvPicPr>
          <p:nvPr>
            <p:custDataLst>
              <p:tags r:id="rId2"/>
            </p:custDataLst>
          </p:nvPr>
        </p:nvPicPr>
        <p:blipFill>
          <a:blip r:embed="rId3"/>
          <a:stretch>
            <a:fillRect/>
          </a:stretch>
        </p:blipFill>
        <p:spPr>
          <a:xfrm>
            <a:off x="1853079" y="1840963"/>
            <a:ext cx="8705978" cy="4356441"/>
          </a:xfrm>
          <a:prstGeom prst="rect">
            <a:avLst/>
          </a:prstGeom>
        </p:spPr>
      </p:pic>
      <p:grpSp>
        <p:nvGrpSpPr>
          <p:cNvPr id="14" name="组合 13"/>
          <p:cNvGrpSpPr/>
          <p:nvPr/>
        </p:nvGrpSpPr>
        <p:grpSpPr>
          <a:xfrm>
            <a:off x="226695" y="321945"/>
            <a:ext cx="11412855" cy="647700"/>
            <a:chOff x="357" y="168"/>
            <a:chExt cx="17973" cy="1020"/>
          </a:xfrm>
        </p:grpSpPr>
        <p:sp>
          <p:nvSpPr>
            <p:cNvPr id="15" name="矩形 14"/>
            <p:cNvSpPr/>
            <p:nvPr/>
          </p:nvSpPr>
          <p:spPr>
            <a:xfrm>
              <a:off x="357" y="168"/>
              <a:ext cx="340" cy="340"/>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6" name="矩形 15"/>
            <p:cNvSpPr/>
            <p:nvPr/>
          </p:nvSpPr>
          <p:spPr>
            <a:xfrm>
              <a:off x="527" y="394"/>
              <a:ext cx="680" cy="6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7" name="矩形 16"/>
            <p:cNvSpPr/>
            <p:nvPr/>
          </p:nvSpPr>
          <p:spPr>
            <a:xfrm>
              <a:off x="1037"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cxnSp>
          <p:nvCxnSpPr>
            <p:cNvPr id="18" name="直接连接符 17"/>
            <p:cNvCxnSpPr/>
            <p:nvPr/>
          </p:nvCxnSpPr>
          <p:spPr>
            <a:xfrm>
              <a:off x="1377" y="1018"/>
              <a:ext cx="16613"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17990"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grpSp>
      <p:sp>
        <p:nvSpPr>
          <p:cNvPr id="20" name="文本框 26"/>
          <p:cNvSpPr txBox="1"/>
          <p:nvPr/>
        </p:nvSpPr>
        <p:spPr>
          <a:xfrm>
            <a:off x="955675" y="321945"/>
            <a:ext cx="5029200" cy="460375"/>
          </a:xfrm>
          <a:prstGeom prst="rect">
            <a:avLst/>
          </a:prstGeom>
          <a:noFill/>
        </p:spPr>
        <p:txBody>
          <a:bodyPr wrap="square" rtlCol="0">
            <a:spAutoFit/>
          </a:bodyPr>
          <a:p>
            <a:r>
              <a:rPr lang="zh-CN" sz="2400" b="1" spc="100">
                <a:solidFill>
                  <a:schemeClr val="accent1"/>
                </a:solidFill>
                <a:latin typeface="微软雅黑" panose="020B0503020204020204" charset="-122"/>
                <a:ea typeface="微软雅黑" panose="020B0503020204020204" charset="-122"/>
                <a:sym typeface="+mn-ea"/>
              </a:rPr>
              <a:t>五、注意事项</a:t>
            </a:r>
            <a:endParaRPr lang="en-US" altLang="zh-CN" sz="2400" b="1" spc="10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sym typeface="+mn-e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图片1"/>
          <p:cNvPicPr>
            <a:picLocks noChangeAspect="1"/>
          </p:cNvPicPr>
          <p:nvPr/>
        </p:nvPicPr>
        <p:blipFill>
          <a:blip r:embed="rId1"/>
          <a:stretch>
            <a:fillRect/>
          </a:stretch>
        </p:blipFill>
        <p:spPr>
          <a:xfrm>
            <a:off x="-12065" y="0"/>
            <a:ext cx="12192000" cy="6858000"/>
          </a:xfrm>
          <a:prstGeom prst="rect">
            <a:avLst/>
          </a:prstGeom>
        </p:spPr>
      </p:pic>
      <p:sp>
        <p:nvSpPr>
          <p:cNvPr id="4" name="文本框 3"/>
          <p:cNvSpPr txBox="1"/>
          <p:nvPr/>
        </p:nvSpPr>
        <p:spPr>
          <a:xfrm>
            <a:off x="2136541" y="1254232"/>
            <a:ext cx="4884599" cy="341630"/>
          </a:xfrm>
          <a:prstGeom prst="rect">
            <a:avLst/>
          </a:prstGeom>
          <a:noFill/>
        </p:spPr>
        <p:txBody>
          <a:bodyPr wrap="square" rtlCol="0">
            <a:spAutoFit/>
          </a:bodyPr>
          <a:lstStyle/>
          <a:p>
            <a:r>
              <a:rPr lang="en-US" altLang="zh-CN" sz="1630"/>
              <a:t>2.</a:t>
            </a:r>
            <a:r>
              <a:rPr lang="zh-CN" altLang="en-US" sz="1630"/>
              <a:t>优化脚本过程中，线程数不要设置太多</a:t>
            </a:r>
            <a:endParaRPr lang="zh-CN" altLang="en-US" sz="1630"/>
          </a:p>
        </p:txBody>
      </p:sp>
      <p:pic>
        <p:nvPicPr>
          <p:cNvPr id="3" name="图片 2"/>
          <p:cNvPicPr>
            <a:picLocks noChangeAspect="1"/>
          </p:cNvPicPr>
          <p:nvPr>
            <p:custDataLst>
              <p:tags r:id="rId2"/>
            </p:custDataLst>
          </p:nvPr>
        </p:nvPicPr>
        <p:blipFill>
          <a:blip r:embed="rId3"/>
          <a:stretch>
            <a:fillRect/>
          </a:stretch>
        </p:blipFill>
        <p:spPr>
          <a:xfrm>
            <a:off x="2701520" y="1685158"/>
            <a:ext cx="6984574" cy="4298332"/>
          </a:xfrm>
          <a:prstGeom prst="rect">
            <a:avLst/>
          </a:prstGeom>
        </p:spPr>
      </p:pic>
      <p:grpSp>
        <p:nvGrpSpPr>
          <p:cNvPr id="14" name="组合 13"/>
          <p:cNvGrpSpPr/>
          <p:nvPr/>
        </p:nvGrpSpPr>
        <p:grpSpPr>
          <a:xfrm>
            <a:off x="226695" y="321945"/>
            <a:ext cx="11412855" cy="647700"/>
            <a:chOff x="357" y="168"/>
            <a:chExt cx="17973" cy="1020"/>
          </a:xfrm>
        </p:grpSpPr>
        <p:sp>
          <p:nvSpPr>
            <p:cNvPr id="15" name="矩形 14"/>
            <p:cNvSpPr/>
            <p:nvPr/>
          </p:nvSpPr>
          <p:spPr>
            <a:xfrm>
              <a:off x="357" y="168"/>
              <a:ext cx="340" cy="340"/>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6" name="矩形 15"/>
            <p:cNvSpPr/>
            <p:nvPr/>
          </p:nvSpPr>
          <p:spPr>
            <a:xfrm>
              <a:off x="527" y="394"/>
              <a:ext cx="680" cy="6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7" name="矩形 16"/>
            <p:cNvSpPr/>
            <p:nvPr/>
          </p:nvSpPr>
          <p:spPr>
            <a:xfrm>
              <a:off x="1037"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cxnSp>
          <p:nvCxnSpPr>
            <p:cNvPr id="18" name="直接连接符 17"/>
            <p:cNvCxnSpPr/>
            <p:nvPr/>
          </p:nvCxnSpPr>
          <p:spPr>
            <a:xfrm>
              <a:off x="1377" y="1018"/>
              <a:ext cx="16613"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17990"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grpSp>
      <p:sp>
        <p:nvSpPr>
          <p:cNvPr id="20" name="文本框 26"/>
          <p:cNvSpPr txBox="1"/>
          <p:nvPr/>
        </p:nvSpPr>
        <p:spPr>
          <a:xfrm>
            <a:off x="955675" y="321945"/>
            <a:ext cx="5029200" cy="460375"/>
          </a:xfrm>
          <a:prstGeom prst="rect">
            <a:avLst/>
          </a:prstGeom>
          <a:noFill/>
        </p:spPr>
        <p:txBody>
          <a:bodyPr wrap="square" rtlCol="0">
            <a:spAutoFit/>
          </a:bodyPr>
          <a:p>
            <a:r>
              <a:rPr lang="zh-CN" sz="2400" b="1" spc="100">
                <a:solidFill>
                  <a:schemeClr val="accent1"/>
                </a:solidFill>
                <a:latin typeface="微软雅黑" panose="020B0503020204020204" charset="-122"/>
                <a:ea typeface="微软雅黑" panose="020B0503020204020204" charset="-122"/>
                <a:sym typeface="+mn-ea"/>
              </a:rPr>
              <a:t>五、注意事项</a:t>
            </a:r>
            <a:endParaRPr lang="en-US" altLang="zh-CN" sz="2400" b="1" spc="10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sym typeface="+mn-ea"/>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图片1"/>
          <p:cNvPicPr>
            <a:picLocks noChangeAspect="1"/>
          </p:cNvPicPr>
          <p:nvPr/>
        </p:nvPicPr>
        <p:blipFill>
          <a:blip r:embed="rId1"/>
          <a:stretch>
            <a:fillRect/>
          </a:stretch>
        </p:blipFill>
        <p:spPr>
          <a:xfrm>
            <a:off x="-12065" y="0"/>
            <a:ext cx="12192000" cy="6858000"/>
          </a:xfrm>
          <a:prstGeom prst="rect">
            <a:avLst/>
          </a:prstGeom>
        </p:spPr>
      </p:pic>
      <p:sp>
        <p:nvSpPr>
          <p:cNvPr id="4" name="文本框 3"/>
          <p:cNvSpPr txBox="1"/>
          <p:nvPr/>
        </p:nvSpPr>
        <p:spPr>
          <a:xfrm>
            <a:off x="2136541" y="1254232"/>
            <a:ext cx="4884599" cy="341630"/>
          </a:xfrm>
          <a:prstGeom prst="rect">
            <a:avLst/>
          </a:prstGeom>
          <a:noFill/>
        </p:spPr>
        <p:txBody>
          <a:bodyPr wrap="square" rtlCol="0">
            <a:spAutoFit/>
          </a:bodyPr>
          <a:lstStyle/>
          <a:p>
            <a:r>
              <a:rPr lang="en-US" altLang="zh-CN" sz="1630"/>
              <a:t>3.</a:t>
            </a:r>
            <a:r>
              <a:rPr lang="zh-CN" altLang="en-US" sz="1630"/>
              <a:t>脚本文件与参数文件放在同一个文件夹下</a:t>
            </a:r>
            <a:endParaRPr lang="zh-CN" altLang="en-US" sz="1630"/>
          </a:p>
        </p:txBody>
      </p:sp>
      <p:pic>
        <p:nvPicPr>
          <p:cNvPr id="5" name="图片 4"/>
          <p:cNvPicPr>
            <a:picLocks noChangeAspect="1"/>
          </p:cNvPicPr>
          <p:nvPr>
            <p:custDataLst>
              <p:tags r:id="rId2"/>
            </p:custDataLst>
          </p:nvPr>
        </p:nvPicPr>
        <p:blipFill>
          <a:blip r:embed="rId3"/>
          <a:stretch>
            <a:fillRect/>
          </a:stretch>
        </p:blipFill>
        <p:spPr>
          <a:xfrm>
            <a:off x="1608383" y="2165563"/>
            <a:ext cx="8735895" cy="2941691"/>
          </a:xfrm>
          <a:prstGeom prst="rect">
            <a:avLst/>
          </a:prstGeom>
        </p:spPr>
      </p:pic>
      <p:grpSp>
        <p:nvGrpSpPr>
          <p:cNvPr id="14" name="组合 13"/>
          <p:cNvGrpSpPr/>
          <p:nvPr/>
        </p:nvGrpSpPr>
        <p:grpSpPr>
          <a:xfrm>
            <a:off x="226695" y="321945"/>
            <a:ext cx="11412855" cy="647700"/>
            <a:chOff x="357" y="168"/>
            <a:chExt cx="17973" cy="1020"/>
          </a:xfrm>
        </p:grpSpPr>
        <p:sp>
          <p:nvSpPr>
            <p:cNvPr id="15" name="矩形 14"/>
            <p:cNvSpPr/>
            <p:nvPr/>
          </p:nvSpPr>
          <p:spPr>
            <a:xfrm>
              <a:off x="357" y="168"/>
              <a:ext cx="340" cy="340"/>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6" name="矩形 15"/>
            <p:cNvSpPr/>
            <p:nvPr/>
          </p:nvSpPr>
          <p:spPr>
            <a:xfrm>
              <a:off x="527" y="394"/>
              <a:ext cx="680" cy="6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sp>
          <p:nvSpPr>
            <p:cNvPr id="17" name="矩形 16"/>
            <p:cNvSpPr/>
            <p:nvPr/>
          </p:nvSpPr>
          <p:spPr>
            <a:xfrm>
              <a:off x="1037"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cxnSp>
          <p:nvCxnSpPr>
            <p:cNvPr id="18" name="直接连接符 17"/>
            <p:cNvCxnSpPr/>
            <p:nvPr/>
          </p:nvCxnSpPr>
          <p:spPr>
            <a:xfrm>
              <a:off x="1377" y="1018"/>
              <a:ext cx="16613"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17990" y="848"/>
              <a:ext cx="340" cy="34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endParaRPr>
            </a:p>
          </p:txBody>
        </p:sp>
      </p:grpSp>
      <p:sp>
        <p:nvSpPr>
          <p:cNvPr id="20" name="文本框 26"/>
          <p:cNvSpPr txBox="1"/>
          <p:nvPr/>
        </p:nvSpPr>
        <p:spPr>
          <a:xfrm>
            <a:off x="955675" y="321945"/>
            <a:ext cx="5029200" cy="460375"/>
          </a:xfrm>
          <a:prstGeom prst="rect">
            <a:avLst/>
          </a:prstGeom>
          <a:noFill/>
        </p:spPr>
        <p:txBody>
          <a:bodyPr wrap="square" rtlCol="0">
            <a:spAutoFit/>
          </a:bodyPr>
          <a:p>
            <a:r>
              <a:rPr lang="zh-CN" sz="2400" b="1" spc="100">
                <a:solidFill>
                  <a:schemeClr val="accent1"/>
                </a:solidFill>
                <a:latin typeface="微软雅黑" panose="020B0503020204020204" charset="-122"/>
                <a:ea typeface="微软雅黑" panose="020B0503020204020204" charset="-122"/>
                <a:sym typeface="+mn-ea"/>
              </a:rPr>
              <a:t>五、注意事项</a:t>
            </a:r>
            <a:endParaRPr lang="en-US" altLang="zh-CN" sz="2400" b="1" spc="10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sym typeface="+mn-ea"/>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2" name="图片 141"/>
          <p:cNvPicPr>
            <a:picLocks noChangeAspect="1"/>
          </p:cNvPicPr>
          <p:nvPr/>
        </p:nvPicPr>
        <p:blipFill rotWithShape="1">
          <a:blip r:embed="rId1" cstate="print">
            <a:extLst>
              <a:ext uri="{28A0092B-C50C-407E-A947-70E740481C1C}">
                <a14:useLocalDpi xmlns:a14="http://schemas.microsoft.com/office/drawing/2010/main" val="0"/>
              </a:ext>
            </a:extLst>
          </a:blip>
          <a:srcRect l="48301" r="3667"/>
          <a:stretch>
            <a:fillRect/>
          </a:stretch>
        </p:blipFill>
        <p:spPr>
          <a:xfrm>
            <a:off x="953" y="-35747"/>
            <a:ext cx="5912350" cy="6923777"/>
          </a:xfrm>
          <a:prstGeom prst="rect">
            <a:avLst/>
          </a:prstGeom>
        </p:spPr>
      </p:pic>
      <p:sp>
        <p:nvSpPr>
          <p:cNvPr id="9" name="矩形 8"/>
          <p:cNvSpPr/>
          <p:nvPr/>
        </p:nvSpPr>
        <p:spPr>
          <a:xfrm>
            <a:off x="952" y="-26392"/>
            <a:ext cx="5937040" cy="6887584"/>
          </a:xfrm>
          <a:prstGeom prst="rect">
            <a:avLst/>
          </a:prstGeom>
          <a:solidFill>
            <a:srgbClr val="0076CC">
              <a:alpha val="8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1465548" y="1534187"/>
            <a:ext cx="2983159" cy="4154170"/>
          </a:xfrm>
          <a:prstGeom prst="rect">
            <a:avLst/>
          </a:prstGeom>
        </p:spPr>
        <p:txBody>
          <a:bodyPr wrap="square">
            <a:spAutoFit/>
          </a:bodyPr>
          <a:lstStyle/>
          <a:p>
            <a:pPr algn="ctr"/>
            <a:r>
              <a:rPr lang="zh-CN" altLang="en-US" sz="8800" b="1" dirty="0">
                <a:solidFill>
                  <a:schemeClr val="bg1"/>
                </a:solidFill>
                <a:latin typeface="微软雅黑" panose="020B0503020204020204" charset="-122"/>
                <a:ea typeface="微软雅黑" panose="020B0503020204020204" charset="-122"/>
                <a:cs typeface="Times New Roman" panose="02020603050405020304" pitchFamily="18" charset="0"/>
              </a:rPr>
              <a:t>软件定义世界</a:t>
            </a:r>
            <a:endParaRPr lang="zh-CN" altLang="en-US" sz="5400" b="1" dirty="0">
              <a:solidFill>
                <a:schemeClr val="bg1"/>
              </a:solidFill>
              <a:latin typeface="微软雅黑" panose="020B0503020204020204" charset="-122"/>
              <a:ea typeface="微软雅黑" panose="020B0503020204020204" charset="-122"/>
              <a:cs typeface="Times New Roman" panose="02020603050405020304" pitchFamily="18" charset="0"/>
            </a:endParaRPr>
          </a:p>
        </p:txBody>
      </p:sp>
      <p:sp>
        <p:nvSpPr>
          <p:cNvPr id="49" name="矩形 48"/>
          <p:cNvSpPr/>
          <p:nvPr/>
        </p:nvSpPr>
        <p:spPr>
          <a:xfrm>
            <a:off x="7196472" y="1534187"/>
            <a:ext cx="2983159" cy="4154170"/>
          </a:xfrm>
          <a:prstGeom prst="rect">
            <a:avLst/>
          </a:prstGeom>
        </p:spPr>
        <p:txBody>
          <a:bodyPr wrap="square">
            <a:spAutoFit/>
          </a:bodyPr>
          <a:lstStyle/>
          <a:p>
            <a:pPr algn="ctr"/>
            <a:r>
              <a:rPr lang="zh-CN" altLang="en-US" sz="8800" b="1" dirty="0">
                <a:solidFill>
                  <a:srgbClr val="0070C0"/>
                </a:solidFill>
                <a:latin typeface="微软雅黑" panose="020B0503020204020204" charset="-122"/>
                <a:ea typeface="微软雅黑" panose="020B0503020204020204" charset="-122"/>
                <a:cs typeface="Times New Roman" panose="02020603050405020304" pitchFamily="18" charset="0"/>
              </a:rPr>
              <a:t>数据驱动未来</a:t>
            </a:r>
            <a:endParaRPr lang="zh-CN" altLang="en-US" sz="5400" b="1" dirty="0">
              <a:solidFill>
                <a:srgbClr val="0070C0"/>
              </a:solidFill>
              <a:latin typeface="微软雅黑" panose="020B0503020204020204" charset="-122"/>
              <a:ea typeface="微软雅黑" panose="020B0503020204020204" charset="-122"/>
              <a:cs typeface="Times New Roman" panose="02020603050405020304" pitchFamily="18" charset="0"/>
            </a:endParaRPr>
          </a:p>
        </p:txBody>
      </p:sp>
    </p:spTree>
  </p:cSld>
  <p:clrMapOvr>
    <a:masterClrMapping/>
  </p:clrMapOvr>
  <p:transition spd="slow">
    <p:push dir="u"/>
  </p:transition>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commondata" val="eyJoZGlkIjoiZGZkODU3OWI3NTFlNDE2M2MzNzg0MmFiNWM1ZmNjMDM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themeOverride>
</file>

<file path=ppt/theme/themeOverride2.xml><?xml version="1.0" encoding="utf-8"?>
<a:themeOverride xmlns:a="http://schemas.openxmlformats.org/drawingml/2006/main">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themeOverride>
</file>

<file path=ppt/theme/themeOverride3.xml><?xml version="1.0" encoding="utf-8"?>
<a:themeOverride xmlns:a="http://schemas.openxmlformats.org/drawingml/2006/main">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themeOverride>
</file>

<file path=ppt/theme/themeOverride4.xml><?xml version="1.0" encoding="utf-8"?>
<a:themeOverride xmlns:a="http://schemas.openxmlformats.org/drawingml/2006/main">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themeOverride>
</file>

<file path=ppt/theme/themeOverride5.xml><?xml version="1.0" encoding="utf-8"?>
<a:themeOverride xmlns:a="http://schemas.openxmlformats.org/drawingml/2006/main">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themeOverride>
</file>

<file path=ppt/theme/themeOverride6.xml><?xml version="1.0" encoding="utf-8"?>
<a:themeOverride xmlns:a="http://schemas.openxmlformats.org/drawingml/2006/main">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themeOverride>
</file>

<file path=ppt/theme/themeOverride7.xml><?xml version="1.0" encoding="utf-8"?>
<a:themeOverride xmlns:a="http://schemas.openxmlformats.org/drawingml/2006/main">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themeOverride>
</file>

<file path=ppt/theme/themeOverride8.xml><?xml version="1.0" encoding="utf-8"?>
<a:themeOverride xmlns:a="http://schemas.openxmlformats.org/drawingml/2006/main">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themeOverride>
</file>

<file path=ppt/theme/themeOverride9.xml><?xml version="1.0" encoding="utf-8"?>
<a:themeOverride xmlns:a="http://schemas.openxmlformats.org/drawingml/2006/main">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themeOverride>
</file>

<file path=ppt/theme/themeOverride10.xml><?xml version="1.0" encoding="utf-8"?>
<a:themeOverride xmlns:a="http://schemas.openxmlformats.org/drawingml/2006/main">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themeOverride>
</file>

<file path=ppt/theme/themeOverride11.xml><?xml version="1.0" encoding="utf-8"?>
<a:themeOverride xmlns:a="http://schemas.openxmlformats.org/drawingml/2006/main">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themeOverride>
</file>

<file path=ppt/theme/themeOverride12.xml><?xml version="1.0" encoding="utf-8"?>
<a:themeOverride xmlns:a="http://schemas.openxmlformats.org/drawingml/2006/main">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themeOverride>
</file>

<file path=ppt/theme/themeOverride13.xml><?xml version="1.0" encoding="utf-8"?>
<a:themeOverride xmlns:a="http://schemas.openxmlformats.org/drawingml/2006/main">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themeOverride>
</file>

<file path=docProps/app.xml><?xml version="1.0" encoding="utf-8"?>
<Properties xmlns="http://schemas.openxmlformats.org/officeDocument/2006/extended-properties" xmlns:vt="http://schemas.openxmlformats.org/officeDocument/2006/docPropsVTypes">
  <TotalTime>0</TotalTime>
  <Words>2737</Words>
  <Application>WPS 演示</Application>
  <PresentationFormat>宽屏</PresentationFormat>
  <Paragraphs>212</Paragraphs>
  <Slides>42</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42</vt:i4>
      </vt:variant>
    </vt:vector>
  </HeadingPairs>
  <TitlesOfParts>
    <vt:vector size="50" baseType="lpstr">
      <vt:lpstr>Arial</vt:lpstr>
      <vt:lpstr>宋体</vt:lpstr>
      <vt:lpstr>Wingdings</vt:lpstr>
      <vt:lpstr>微软雅黑</vt:lpstr>
      <vt:lpstr>Calibri</vt:lpstr>
      <vt:lpstr>Arial Unicode MS</vt:lpstr>
      <vt:lpstr>Times New Roman</vt:lpstr>
      <vt:lpstr>WPS</vt:lpstr>
      <vt:lpstr>Web应用测试环境搭建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得分说明</vt:lpstr>
      <vt:lpstr>注意事项</vt:lpstr>
      <vt:lpstr>注意事项</vt:lpstr>
      <vt:lpstr>注意事项</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刘佳怡</cp:lastModifiedBy>
  <cp:revision>27</cp:revision>
  <dcterms:created xsi:type="dcterms:W3CDTF">2023-08-09T12:44:00Z</dcterms:created>
  <dcterms:modified xsi:type="dcterms:W3CDTF">2024-09-23T07:44:38Z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2052-12.1.0.18276</vt:lpwstr>
  </property>
</Properties>
</file>