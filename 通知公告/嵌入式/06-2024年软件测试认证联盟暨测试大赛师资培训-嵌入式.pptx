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578" r:id="rId5"/>
    <p:sldId id="535" r:id="rId6"/>
    <p:sldId id="534" r:id="rId7"/>
    <p:sldId id="626" r:id="rId8"/>
    <p:sldId id="629" r:id="rId9"/>
    <p:sldId id="632" r:id="rId10"/>
    <p:sldId id="627" r:id="rId11"/>
    <p:sldId id="628" r:id="rId12"/>
    <p:sldId id="580" r:id="rId13"/>
    <p:sldId id="633" r:id="rId14"/>
    <p:sldId id="634" r:id="rId15"/>
    <p:sldId id="635" r:id="rId16"/>
    <p:sldId id="636" r:id="rId17"/>
    <p:sldId id="643" r:id="rId18"/>
    <p:sldId id="642" r:id="rId19"/>
    <p:sldId id="641" r:id="rId20"/>
    <p:sldId id="581" r:id="rId21"/>
    <p:sldId id="472" r:id="rId22"/>
    <p:sldId id="474" r:id="rId23"/>
    <p:sldId id="475" r:id="rId24"/>
    <p:sldId id="479" r:id="rId25"/>
    <p:sldId id="582" r:id="rId26"/>
    <p:sldId id="478" r:id="rId27"/>
    <p:sldId id="481" r:id="rId28"/>
    <p:sldId id="482" r:id="rId29"/>
    <p:sldId id="483" r:id="rId30"/>
    <p:sldId id="484" r:id="rId31"/>
    <p:sldId id="491" r:id="rId32"/>
    <p:sldId id="490" r:id="rId33"/>
    <p:sldId id="493" r:id="rId34"/>
  </p:sldIdLst>
  <p:sldSz cx="12192000" cy="6858000"/>
  <p:notesSz cx="6858000" cy="9144000"/>
  <p:custDataLst>
    <p:tags r:id="rId3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DC21F"/>
    <a:srgbClr val="CC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4754" autoAdjust="0"/>
    <p:restoredTop sz="96652" autoAdjust="0"/>
  </p:normalViewPr>
  <p:slideViewPr>
    <p:cSldViewPr snapToGrid="0">
      <p:cViewPr varScale="1">
        <p:scale>
          <a:sx n="88" d="100"/>
          <a:sy n="88" d="100"/>
        </p:scale>
        <p:origin x="150" y="5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8" Type="http://schemas.openxmlformats.org/officeDocument/2006/relationships/tags" Target="tags/tag13.xml"/><Relationship Id="rId37" Type="http://schemas.openxmlformats.org/officeDocument/2006/relationships/tableStyles" Target="tableStyles.xml"/><Relationship Id="rId36" Type="http://schemas.openxmlformats.org/officeDocument/2006/relationships/viewProps" Target="viewProps.xml"/><Relationship Id="rId35" Type="http://schemas.openxmlformats.org/officeDocument/2006/relationships/presProps" Target="presProps.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36B056E-4FB6-44C2-8E08-71BD10AD6FC3}"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BFA60D-CF6D-4E1F-A850-9357E97CB130}"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怎样用</a:t>
            </a:r>
            <a:r>
              <a:rPr lang="en-US" altLang="zh-CN" err="1"/>
              <a:t>Etest</a:t>
            </a:r>
            <a:r>
              <a:rPr lang="zh-CN" altLang="en-US"/>
              <a:t>软件，编写</a:t>
            </a:r>
            <a:r>
              <a:rPr lang="zh-CN" altLang="en-US" dirty="0"/>
              <a:t>测试脚本</a:t>
            </a:r>
            <a:r>
              <a:rPr lang="zh-CN" altLang="en-US"/>
              <a:t>和数据，来</a:t>
            </a:r>
            <a:r>
              <a:rPr lang="zh-CN" altLang="en-US" dirty="0"/>
              <a:t>验证被测件</a:t>
            </a:r>
            <a:r>
              <a:rPr lang="en-US" altLang="zh-CN" dirty="0"/>
              <a:t>【</a:t>
            </a:r>
            <a:r>
              <a:rPr lang="zh-CN" altLang="en-US" dirty="0"/>
              <a:t>定速巡航系统</a:t>
            </a:r>
            <a:r>
              <a:rPr lang="en-US" altLang="zh-CN" dirty="0"/>
              <a:t>】</a:t>
            </a:r>
            <a:r>
              <a:rPr lang="zh-CN" altLang="en-US" dirty="0"/>
              <a:t>是否满足需求文档的内容。</a:t>
            </a:r>
            <a:endParaRPr lang="zh-CN" altLang="en-US" dirty="0"/>
          </a:p>
        </p:txBody>
      </p:sp>
      <p:sp>
        <p:nvSpPr>
          <p:cNvPr id="4" name="灯片编号占位符 3"/>
          <p:cNvSpPr>
            <a:spLocks noGrp="1"/>
          </p:cNvSpPr>
          <p:nvPr>
            <p:ph type="sldNum" sz="quarter" idx="5"/>
          </p:nvPr>
        </p:nvSpPr>
        <p:spPr/>
        <p:txBody>
          <a:bodyPr/>
          <a:lstStyle/>
          <a:p>
            <a:fld id="{96BFA60D-CF6D-4E1F-A850-9357E97CB130}"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701C7B4-9605-4599-B96E-08FF27C139CA}"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701C7B4-9605-4599-B96E-08FF27C139CA}"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6BFA60D-CF6D-4E1F-A850-9357E97CB130}"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7" name="矩形 6"/>
          <p:cNvSpPr/>
          <p:nvPr userDrawn="1"/>
        </p:nvSpPr>
        <p:spPr>
          <a:xfrm>
            <a:off x="-635" y="0"/>
            <a:ext cx="12191365" cy="326009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6000" b="1">
              <a:latin typeface="+mj-ea"/>
              <a:ea typeface="+mj-ea"/>
              <a:cs typeface="+mj-ea"/>
            </a:endParaRPr>
          </a:p>
        </p:txBody>
      </p:sp>
      <p:sp>
        <p:nvSpPr>
          <p:cNvPr id="8" name="椭圆 7"/>
          <p:cNvSpPr/>
          <p:nvPr userDrawn="1"/>
        </p:nvSpPr>
        <p:spPr>
          <a:xfrm>
            <a:off x="4060825" y="6350"/>
            <a:ext cx="4070985" cy="4070985"/>
          </a:xfrm>
          <a:prstGeom prst="ellipse">
            <a:avLst/>
          </a:prstGeom>
          <a:solidFill>
            <a:schemeClr val="bg1"/>
          </a:solidFill>
          <a:ln>
            <a:noFill/>
          </a:ln>
          <a:effectLst>
            <a:innerShdw blurRad="63500" dist="50800" dir="13500000">
              <a:prstClr val="black">
                <a:alpha val="1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userDrawn="1"/>
        </p:nvSpPr>
        <p:spPr>
          <a:xfrm>
            <a:off x="4476995" y="422018"/>
            <a:ext cx="3240000" cy="3240000"/>
          </a:xfrm>
          <a:prstGeom prst="ellipse">
            <a:avLst/>
          </a:prstGeom>
          <a:gradFill flip="none" rotWithShape="1">
            <a:gsLst>
              <a:gs pos="0">
                <a:schemeClr val="bg1">
                  <a:lumMod val="75000"/>
                </a:schemeClr>
              </a:gs>
              <a:gs pos="61000">
                <a:srgbClr val="DFDFDF">
                  <a:alpha val="100000"/>
                </a:srgbClr>
              </a:gs>
              <a:gs pos="100000">
                <a:schemeClr val="bg1"/>
              </a:gs>
            </a:gsLst>
            <a:lin ang="2700000" scaled="1"/>
            <a:tileRect/>
          </a:gradFill>
          <a:ln w="76200">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10" name="图片 9" descr="ETest-白总选中的"/>
          <p:cNvPicPr>
            <a:picLocks noChangeAspect="1"/>
          </p:cNvPicPr>
          <p:nvPr userDrawn="1"/>
        </p:nvPicPr>
        <p:blipFill>
          <a:blip r:embed="rId2"/>
          <a:stretch>
            <a:fillRect/>
          </a:stretch>
        </p:blipFill>
        <p:spPr>
          <a:xfrm>
            <a:off x="5216525" y="1111885"/>
            <a:ext cx="1760220" cy="1760220"/>
          </a:xfrm>
          <a:prstGeom prst="rect">
            <a:avLst/>
          </a:prstGeom>
        </p:spPr>
      </p:pic>
      <p:sp>
        <p:nvSpPr>
          <p:cNvPr id="11" name="矩形 10"/>
          <p:cNvSpPr/>
          <p:nvPr userDrawn="1"/>
        </p:nvSpPr>
        <p:spPr>
          <a:xfrm>
            <a:off x="635" y="3679190"/>
            <a:ext cx="12191365" cy="1970405"/>
          </a:xfrm>
          <a:prstGeom prst="rect">
            <a:avLst/>
          </a:prstGeom>
          <a:solidFill>
            <a:srgbClr val="003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6000" b="1" dirty="0">
              <a:latin typeface="+mj-ea"/>
              <a:ea typeface="+mj-ea"/>
              <a:cs typeface="+mj-ea"/>
            </a:endParaRPr>
          </a:p>
        </p:txBody>
      </p:sp>
      <p:sp>
        <p:nvSpPr>
          <p:cNvPr id="12" name="矩形 11"/>
          <p:cNvSpPr/>
          <p:nvPr userDrawn="1"/>
        </p:nvSpPr>
        <p:spPr>
          <a:xfrm>
            <a:off x="45085" y="5782310"/>
            <a:ext cx="12191365" cy="158750"/>
          </a:xfrm>
          <a:prstGeom prst="rect">
            <a:avLst/>
          </a:prstGeom>
          <a:solidFill>
            <a:srgbClr val="8DC2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p:cNvSpPr txBox="1"/>
          <p:nvPr userDrawn="1"/>
        </p:nvSpPr>
        <p:spPr>
          <a:xfrm>
            <a:off x="4397375" y="6184238"/>
            <a:ext cx="3397250" cy="368300"/>
          </a:xfrm>
          <a:prstGeom prst="rect">
            <a:avLst/>
          </a:prstGeom>
          <a:noFill/>
        </p:spPr>
        <p:txBody>
          <a:bodyPr wrap="square" rtlCol="0">
            <a:spAutoFit/>
          </a:bodyPr>
          <a:lstStyle/>
          <a:p>
            <a:pPr algn="ctr"/>
            <a:r>
              <a:rPr lang="en-US" altLang="zh-CN" dirty="0"/>
              <a:t>http://etest.kiyun.com</a:t>
            </a:r>
            <a:endParaRPr lang="en-US" altLang="zh-CN"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7" name="对角圆角矩形 3"/>
          <p:cNvSpPr/>
          <p:nvPr userDrawn="1"/>
        </p:nvSpPr>
        <p:spPr>
          <a:xfrm>
            <a:off x="716915" y="132715"/>
            <a:ext cx="4306570" cy="406400"/>
          </a:xfrm>
          <a:prstGeom prst="round2DiagRect">
            <a:avLst>
              <a:gd name="adj1" fmla="val 50000"/>
              <a:gd name="adj2" fmla="val 0"/>
            </a:avLst>
          </a:prstGeom>
          <a:solidFill>
            <a:srgbClr val="8DC21F"/>
          </a:solidFill>
          <a:ln>
            <a:noFill/>
          </a:ln>
          <a:effectLst>
            <a:innerShdw blurRad="50800" dist="12700" dir="13500000">
              <a:prstClr val="black">
                <a:alpha val="25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360045" rtlCol="0" anchor="ctr"/>
          <a:lstStyle/>
          <a:p>
            <a:pPr algn="l"/>
            <a:endParaRPr lang="zh-CN" altLang="en-US" dirty="0">
              <a:solidFill>
                <a:schemeClr val="bg1"/>
              </a:solidFill>
            </a:endParaRPr>
          </a:p>
        </p:txBody>
      </p:sp>
      <p:pic>
        <p:nvPicPr>
          <p:cNvPr id="9" name="图片 8" descr="ETest-白总选中的"/>
          <p:cNvPicPr>
            <a:picLocks noChangeAspect="1"/>
          </p:cNvPicPr>
          <p:nvPr userDrawn="1"/>
        </p:nvPicPr>
        <p:blipFill>
          <a:blip r:embed="rId2"/>
          <a:stretch>
            <a:fillRect/>
          </a:stretch>
        </p:blipFill>
        <p:spPr>
          <a:xfrm>
            <a:off x="229870" y="132715"/>
            <a:ext cx="363220" cy="363220"/>
          </a:xfrm>
          <a:prstGeom prst="rect">
            <a:avLst/>
          </a:prstGeom>
        </p:spPr>
      </p:pic>
      <p:sp>
        <p:nvSpPr>
          <p:cNvPr id="2" name="标题 1"/>
          <p:cNvSpPr>
            <a:spLocks noGrp="1"/>
          </p:cNvSpPr>
          <p:nvPr>
            <p:ph type="title"/>
          </p:nvPr>
        </p:nvSpPr>
        <p:spPr>
          <a:xfrm>
            <a:off x="929005" y="162793"/>
            <a:ext cx="3553326" cy="406400"/>
          </a:xfrm>
        </p:spPr>
        <p:txBody>
          <a:bodyPr>
            <a:noAutofit/>
          </a:bodyPr>
          <a:lstStyle>
            <a:lvl1pPr>
              <a:defRPr sz="2000">
                <a:solidFill>
                  <a:schemeClr val="bg1"/>
                </a:solidFill>
              </a:defRPr>
            </a:lvl1pPr>
          </a:lstStyle>
          <a:p>
            <a:r>
              <a:rPr lang="zh-CN" altLang="en-US" dirty="0"/>
              <a:t>单击此处编辑母版标题样式</a:t>
            </a:r>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图片与标题">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cSld name="2_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6" Type="http://schemas.openxmlformats.org/officeDocument/2006/relationships/slideLayout" Target="../slideLayouts/slideLayout3.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3.xml"/><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tags" Target="../tags/tag10.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8.png"/><Relationship Id="rId1" Type="http://schemas.openxmlformats.org/officeDocument/2006/relationships/image" Target="../media/image17.png"/></Relationships>
</file>

<file path=ppt/slides/_rels/slide19.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3.xml"/><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tags" Target="../tags/tag1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image" Target="../media/image19.png"/></Relationships>
</file>

<file path=ppt/slides/_rels/slide24.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25.png"/><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image" Target="../media/image22.png"/></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8.png"/><Relationship Id="rId1" Type="http://schemas.openxmlformats.org/officeDocument/2006/relationships/image" Target="../media/image27.png"/></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0.png"/><Relationship Id="rId1" Type="http://schemas.openxmlformats.org/officeDocument/2006/relationships/image" Target="../media/image29.png"/></Relationships>
</file>

<file path=ppt/slides/_rels/slide27.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34.png"/><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image" Target="../media/image31.png"/></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6.png"/><Relationship Id="rId1" Type="http://schemas.openxmlformats.org/officeDocument/2006/relationships/image" Target="../media/image35.png"/></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8.png"/><Relationship Id="rId1" Type="http://schemas.openxmlformats.org/officeDocument/2006/relationships/image" Target="../media/image37.png"/></Relationships>
</file>

<file path=ppt/slides/_rels/slide30.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42.png"/><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image" Target="../media/image39.png"/></Relationships>
</file>

<file path=ppt/slides/_rels/slide31.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4.xml"/><Relationship Id="rId3" Type="http://schemas.openxmlformats.org/officeDocument/2006/relationships/tags" Target="../tags/tag12.xml"/><Relationship Id="rId2" Type="http://schemas.openxmlformats.org/officeDocument/2006/relationships/image" Target="../media/image44.png"/><Relationship Id="rId1" Type="http://schemas.openxmlformats.org/officeDocument/2006/relationships/image" Target="../media/image4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908050" y="3961765"/>
            <a:ext cx="10375900" cy="1399540"/>
          </a:xfrm>
        </p:spPr>
        <p:txBody>
          <a:bodyPr>
            <a:normAutofit fontScale="90000"/>
          </a:bodyPr>
          <a:lstStyle/>
          <a:p>
            <a:pPr algn="l">
              <a:lnSpc>
                <a:spcPct val="80000"/>
              </a:lnSpc>
            </a:pPr>
            <a:br>
              <a:rPr lang="zh-CN" altLang="en-US" dirty="0">
                <a:solidFill>
                  <a:schemeClr val="bg1"/>
                </a:solidFill>
                <a:latin typeface="+mj-ea"/>
              </a:rPr>
            </a:br>
            <a:br>
              <a:rPr lang="zh-CN" altLang="en-US" dirty="0">
                <a:solidFill>
                  <a:schemeClr val="bg1"/>
                </a:solidFill>
                <a:latin typeface="+mj-ea"/>
              </a:rPr>
            </a:br>
            <a:br>
              <a:rPr lang="zh-CN" altLang="en-US" dirty="0">
                <a:solidFill>
                  <a:schemeClr val="bg1"/>
                </a:solidFill>
                <a:latin typeface="+mj-ea"/>
              </a:rPr>
            </a:br>
            <a:br>
              <a:rPr lang="zh-CN" altLang="en-US" dirty="0">
                <a:solidFill>
                  <a:schemeClr val="bg1"/>
                </a:solidFill>
                <a:latin typeface="+mj-ea"/>
              </a:rPr>
            </a:br>
            <a:br>
              <a:rPr lang="zh-CN" altLang="en-US" dirty="0">
                <a:solidFill>
                  <a:schemeClr val="bg1"/>
                </a:solidFill>
                <a:latin typeface="+mj-ea"/>
              </a:rPr>
            </a:br>
            <a:br>
              <a:rPr lang="zh-CN" altLang="en-US" dirty="0">
                <a:solidFill>
                  <a:schemeClr val="bg1"/>
                </a:solidFill>
                <a:latin typeface="+mj-ea"/>
              </a:rPr>
            </a:br>
            <a:br>
              <a:rPr lang="zh-CN" altLang="en-US" dirty="0">
                <a:solidFill>
                  <a:schemeClr val="bg1"/>
                </a:solidFill>
                <a:latin typeface="+mj-ea"/>
              </a:rPr>
            </a:br>
            <a:br>
              <a:rPr lang="zh-CN" altLang="en-US" dirty="0">
                <a:solidFill>
                  <a:schemeClr val="bg1"/>
                </a:solidFill>
                <a:latin typeface="+mj-ea"/>
              </a:rPr>
            </a:br>
            <a:br>
              <a:rPr lang="zh-CN" altLang="en-US" dirty="0">
                <a:solidFill>
                  <a:schemeClr val="bg1"/>
                </a:solidFill>
                <a:latin typeface="+mj-ea"/>
              </a:rPr>
            </a:br>
            <a:br>
              <a:rPr lang="zh-CN" altLang="en-US" dirty="0">
                <a:solidFill>
                  <a:schemeClr val="bg1"/>
                </a:solidFill>
                <a:latin typeface="+mj-ea"/>
              </a:rPr>
            </a:br>
            <a:br>
              <a:rPr lang="zh-CN" altLang="en-US" dirty="0">
                <a:solidFill>
                  <a:schemeClr val="bg1"/>
                </a:solidFill>
                <a:latin typeface="+mj-ea"/>
              </a:rPr>
            </a:br>
            <a:r>
              <a:rPr lang="zh-CN" altLang="en-US" sz="4220" b="1" dirty="0">
                <a:solidFill>
                  <a:schemeClr val="bg1"/>
                </a:solidFill>
                <a:uFillTx/>
                <a:latin typeface="+中文标题" charset="0"/>
              </a:rPr>
              <a:t>2024年软件测试认证联盟暨测试大赛师资培训</a:t>
            </a:r>
            <a:br>
              <a:rPr lang="en-US" altLang="zh-CN" dirty="0">
                <a:solidFill>
                  <a:schemeClr val="bg1"/>
                </a:solidFill>
                <a:latin typeface="+mj-ea"/>
              </a:rPr>
            </a:br>
            <a:endParaRPr lang="zh-CN" altLang="en-US" sz="4000" dirty="0">
              <a:solidFill>
                <a:schemeClr val="bg1"/>
              </a:solidFill>
              <a:latin typeface="+mj-ea"/>
            </a:endParaRPr>
          </a:p>
        </p:txBody>
      </p:sp>
      <p:sp>
        <p:nvSpPr>
          <p:cNvPr id="3" name="文本框 2"/>
          <p:cNvSpPr txBox="1"/>
          <p:nvPr/>
        </p:nvSpPr>
        <p:spPr>
          <a:xfrm>
            <a:off x="9868535" y="5063490"/>
            <a:ext cx="2171700" cy="510540"/>
          </a:xfrm>
          <a:prstGeom prst="rect">
            <a:avLst/>
          </a:prstGeom>
          <a:noFill/>
        </p:spPr>
        <p:txBody>
          <a:bodyPr wrap="square" rtlCol="0">
            <a:noAutofit/>
          </a:bodyPr>
          <a:p>
            <a:r>
              <a:rPr lang="zh-CN" altLang="en-US" b="1">
                <a:ln w="10160">
                  <a:solidFill>
                    <a:schemeClr val="accent5"/>
                  </a:solidFill>
                  <a:prstDash val="solid"/>
                </a:ln>
                <a:solidFill>
                  <a:srgbClr val="FFFFFF"/>
                </a:solidFill>
                <a:effectLst>
                  <a:outerShdw blurRad="38100" dist="22860" dir="5400000" algn="tl" rotWithShape="0">
                    <a:srgbClr val="000000">
                      <a:alpha val="30000"/>
                    </a:srgbClr>
                  </a:outerShdw>
                </a:effectLst>
              </a:rPr>
              <a:t>嵌入式方向</a:t>
            </a:r>
            <a:endParaRPr lang="zh-CN" altLang="en-US" b="1">
              <a:ln w="10160">
                <a:solidFill>
                  <a:schemeClr val="accent5"/>
                </a:solidFill>
                <a:prstDash val="solid"/>
              </a:ln>
              <a:solidFill>
                <a:srgbClr val="FFFFFF"/>
              </a:solidFill>
              <a:effectLst>
                <a:outerShdw blurRad="38100" dist="22860" dir="5400000" algn="tl" rotWithShape="0">
                  <a:srgbClr val="000000">
                    <a:alpha val="30000"/>
                  </a:srgbClr>
                </a:outerShdw>
              </a:effectLs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0" name="组合 19"/>
          <p:cNvGrpSpPr/>
          <p:nvPr/>
        </p:nvGrpSpPr>
        <p:grpSpPr>
          <a:xfrm>
            <a:off x="1370330" y="1680845"/>
            <a:ext cx="3037205" cy="2967990"/>
            <a:chOff x="1514" y="2858"/>
            <a:chExt cx="4534" cy="4534"/>
          </a:xfrm>
        </p:grpSpPr>
        <p:sp>
          <p:nvSpPr>
            <p:cNvPr id="10" name="椭圆 9"/>
            <p:cNvSpPr/>
            <p:nvPr/>
          </p:nvSpPr>
          <p:spPr>
            <a:xfrm>
              <a:off x="1514" y="2858"/>
              <a:ext cx="4535" cy="4535"/>
            </a:xfrm>
            <a:prstGeom prst="ellipse">
              <a:avLst/>
            </a:prstGeom>
            <a:solidFill>
              <a:srgbClr val="003EA2"/>
            </a:solidFill>
            <a:ln>
              <a:noFill/>
            </a:ln>
            <a:effectLst>
              <a:innerShdw blurRad="63500" dist="50800" dir="13500000">
                <a:prstClr val="black">
                  <a:alpha val="86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 name="椭圆 14"/>
            <p:cNvSpPr/>
            <p:nvPr/>
          </p:nvSpPr>
          <p:spPr>
            <a:xfrm>
              <a:off x="2042" y="3386"/>
              <a:ext cx="3480" cy="3480"/>
            </a:xfrm>
            <a:prstGeom prst="ellipse">
              <a:avLst/>
            </a:prstGeom>
            <a:gradFill flip="none" rotWithShape="1">
              <a:gsLst>
                <a:gs pos="0">
                  <a:schemeClr val="bg1">
                    <a:lumMod val="75000"/>
                  </a:schemeClr>
                </a:gs>
                <a:gs pos="50000">
                  <a:schemeClr val="bg1">
                    <a:lumMod val="85000"/>
                  </a:schemeClr>
                </a:gs>
                <a:gs pos="100000">
                  <a:schemeClr val="bg1"/>
                </a:gs>
              </a:gsLst>
              <a:lin ang="2700000" scaled="1"/>
              <a:tileRect/>
            </a:gradFill>
            <a:ln w="76200">
              <a:noFill/>
            </a:ln>
            <a:effectLst>
              <a:outerShdw blurRad="190500" dist="101600" dir="2700000" algn="ctr">
                <a:srgbClr val="000000">
                  <a:alpha val="30000"/>
                </a:srgbClr>
              </a:outerShdw>
            </a:effectLst>
            <a:scene3d>
              <a:camera prst="orthographicFront">
                <a:rot lat="0" lon="0" rev="0"/>
              </a:camera>
              <a:lightRig rig="glow" dir="t">
                <a:rot lat="0" lon="0" rev="4800000"/>
              </a:lightRig>
            </a:scene3d>
            <a:sp3d prstMaterial="matte">
              <a:bevelT w="127000" h="6350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3600">
                <a:solidFill>
                  <a:schemeClr val="tx1"/>
                </a:solidFill>
                <a:cs typeface="+mn-ea"/>
                <a:sym typeface="+mn-lt"/>
              </a:endParaRPr>
            </a:p>
            <a:p>
              <a:pPr algn="ctr"/>
              <a:endParaRPr lang="zh-CN" altLang="en-US" sz="3600">
                <a:solidFill>
                  <a:schemeClr val="tx1"/>
                </a:solidFill>
                <a:cs typeface="+mn-ea"/>
                <a:sym typeface="+mn-lt"/>
              </a:endParaRPr>
            </a:p>
            <a:p>
              <a:pPr algn="ctr"/>
              <a:endParaRPr lang="zh-CN" altLang="en-US" sz="2400">
                <a:solidFill>
                  <a:schemeClr val="tx1"/>
                </a:solidFill>
                <a:cs typeface="+mn-ea"/>
                <a:sym typeface="+mn-lt"/>
              </a:endParaRPr>
            </a:p>
          </p:txBody>
        </p:sp>
      </p:grpSp>
      <p:pic>
        <p:nvPicPr>
          <p:cNvPr id="27" name="图片 26" descr="ETest-白总选中的"/>
          <p:cNvPicPr>
            <a:picLocks noChangeAspect="1"/>
          </p:cNvPicPr>
          <p:nvPr/>
        </p:nvPicPr>
        <p:blipFill>
          <a:blip r:embed="rId1"/>
          <a:stretch>
            <a:fillRect/>
          </a:stretch>
        </p:blipFill>
        <p:spPr>
          <a:xfrm>
            <a:off x="2551430" y="2788285"/>
            <a:ext cx="782320" cy="782320"/>
          </a:xfrm>
          <a:prstGeom prst="rect">
            <a:avLst/>
          </a:prstGeom>
        </p:spPr>
      </p:pic>
      <p:sp>
        <p:nvSpPr>
          <p:cNvPr id="18" name="圆角矩形 17"/>
          <p:cNvSpPr/>
          <p:nvPr>
            <p:custDataLst>
              <p:tags r:id="rId2"/>
            </p:custDataLst>
          </p:nvPr>
        </p:nvSpPr>
        <p:spPr>
          <a:xfrm>
            <a:off x="6276340" y="2082165"/>
            <a:ext cx="4608830" cy="744220"/>
          </a:xfrm>
          <a:prstGeom prst="roundRect">
            <a:avLst/>
          </a:prstGeom>
          <a:solidFill>
            <a:srgbClr val="8DC21F"/>
          </a:solidFill>
          <a:ln>
            <a:noFill/>
          </a:ln>
          <a:effectLst>
            <a:innerShdw blurRad="63500" dist="50800" dir="13500000">
              <a:prstClr val="black">
                <a:alpha val="12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720090" rtlCol="0" anchor="ctr"/>
          <a:p>
            <a:pPr algn="l">
              <a:lnSpc>
                <a:spcPct val="110000"/>
              </a:lnSpc>
            </a:pPr>
            <a:r>
              <a:rPr lang="zh-CN" altLang="en-US" dirty="0">
                <a:solidFill>
                  <a:schemeClr val="bg1"/>
                </a:solidFill>
                <a:sym typeface="+mn-ea"/>
              </a:rPr>
              <a:t>嵌入式测试的应用和实践</a:t>
            </a:r>
            <a:endParaRPr lang="zh-CN" altLang="en-US" dirty="0">
              <a:solidFill>
                <a:schemeClr val="bg1"/>
              </a:solidFill>
              <a:sym typeface="+mn-ea"/>
            </a:endParaRPr>
          </a:p>
        </p:txBody>
      </p:sp>
      <p:sp>
        <p:nvSpPr>
          <p:cNvPr id="11" name="椭圆 10"/>
          <p:cNvSpPr>
            <a:spLocks noChangeAspect="1"/>
          </p:cNvSpPr>
          <p:nvPr>
            <p:custDataLst>
              <p:tags r:id="rId3"/>
            </p:custDataLst>
          </p:nvPr>
        </p:nvSpPr>
        <p:spPr>
          <a:xfrm>
            <a:off x="5227320" y="2026285"/>
            <a:ext cx="902970" cy="913130"/>
          </a:xfrm>
          <a:prstGeom prst="ellipse">
            <a:avLst/>
          </a:prstGeom>
          <a:gradFill flip="none" rotWithShape="1">
            <a:gsLst>
              <a:gs pos="0">
                <a:srgbClr val="00245C"/>
              </a:gs>
              <a:gs pos="100000">
                <a:srgbClr val="003EA2"/>
              </a:gs>
            </a:gsLst>
            <a:lin ang="2700000" scaled="1"/>
            <a:tileRect/>
          </a:gradFill>
          <a:ln w="76200">
            <a:noFill/>
          </a:ln>
          <a:effectLst>
            <a:outerShdw blurRad="114300" dist="152400" dir="2700000" sx="98000" sy="98000" algn="ctr">
              <a:srgbClr val="000000">
                <a:alpha val="18000"/>
              </a:srgbClr>
            </a:outerShdw>
          </a:effectLst>
          <a:scene3d>
            <a:camera prst="orthographicFront">
              <a:rot lat="0" lon="0" rev="0"/>
            </a:camera>
            <a:lightRig rig="glow" dir="t">
              <a:rot lat="0" lon="0" rev="4800000"/>
            </a:lightRig>
          </a:scene3d>
          <a:sp3d prstMaterial="matte">
            <a:bevelT w="127000" h="6350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p>
            <a:pPr algn="dist"/>
            <a:r>
              <a:rPr lang="en-US" altLang="zh-CN" sz="1600" b="1" dirty="0">
                <a:solidFill>
                  <a:schemeClr val="bg1"/>
                </a:solidFill>
                <a:cs typeface="+mn-ea"/>
                <a:sym typeface="+mn-lt"/>
              </a:rPr>
              <a:t>Part1</a:t>
            </a:r>
            <a:endParaRPr lang="en-US" altLang="zh-CN" sz="1600" b="1" dirty="0">
              <a:solidFill>
                <a:schemeClr val="bg1"/>
              </a:solidFill>
              <a:cs typeface="+mn-ea"/>
              <a:sym typeface="+mn-lt"/>
            </a:endParaRPr>
          </a:p>
        </p:txBody>
      </p:sp>
      <p:sp>
        <p:nvSpPr>
          <p:cNvPr id="5" name="圆角矩形 4"/>
          <p:cNvSpPr/>
          <p:nvPr>
            <p:custDataLst>
              <p:tags r:id="rId4"/>
            </p:custDataLst>
          </p:nvPr>
        </p:nvSpPr>
        <p:spPr>
          <a:xfrm>
            <a:off x="6276340" y="3550920"/>
            <a:ext cx="4536440" cy="753745"/>
          </a:xfrm>
          <a:prstGeom prst="roundRect">
            <a:avLst/>
          </a:prstGeom>
          <a:solidFill>
            <a:srgbClr val="8DC21F"/>
          </a:solidFill>
          <a:ln>
            <a:noFill/>
          </a:ln>
          <a:effectLst>
            <a:innerShdw blurRad="63500" dist="50800" dir="13500000">
              <a:prstClr val="black">
                <a:alpha val="12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720090" rtlCol="0" anchor="ctr"/>
          <a:p>
            <a:pPr algn="l"/>
            <a:r>
              <a:rPr lang="zh-CN" altLang="en-US" dirty="0">
                <a:latin typeface="+mj-ea"/>
                <a:ea typeface="+mj-ea"/>
                <a:sym typeface="+mn-ea"/>
              </a:rPr>
              <a:t>嵌入式赛项流程和技术</a:t>
            </a:r>
            <a:r>
              <a:rPr lang="zh-CN" altLang="en-US" dirty="0">
                <a:latin typeface="+mj-ea"/>
                <a:ea typeface="+mj-ea"/>
                <a:sym typeface="+mn-ea"/>
              </a:rPr>
              <a:t>方案</a:t>
            </a:r>
            <a:endParaRPr lang="zh-CN" altLang="en-US" dirty="0">
              <a:latin typeface="+mj-ea"/>
              <a:ea typeface="+mj-ea"/>
              <a:sym typeface="+mn-ea"/>
            </a:endParaRPr>
          </a:p>
        </p:txBody>
      </p:sp>
      <p:sp>
        <p:nvSpPr>
          <p:cNvPr id="9" name="椭圆 8"/>
          <p:cNvSpPr>
            <a:spLocks noChangeAspect="1"/>
          </p:cNvSpPr>
          <p:nvPr>
            <p:custDataLst>
              <p:tags r:id="rId5"/>
            </p:custDataLst>
          </p:nvPr>
        </p:nvSpPr>
        <p:spPr>
          <a:xfrm>
            <a:off x="5227320" y="3494405"/>
            <a:ext cx="902970" cy="913130"/>
          </a:xfrm>
          <a:prstGeom prst="ellipse">
            <a:avLst/>
          </a:prstGeom>
          <a:gradFill flip="none" rotWithShape="1">
            <a:gsLst>
              <a:gs pos="0">
                <a:srgbClr val="00245C"/>
              </a:gs>
              <a:gs pos="100000">
                <a:srgbClr val="003EA2"/>
              </a:gs>
            </a:gsLst>
            <a:lin ang="2700000" scaled="1"/>
            <a:tileRect/>
          </a:gradFill>
          <a:ln w="76200">
            <a:noFill/>
          </a:ln>
          <a:effectLst>
            <a:outerShdw blurRad="114300" dist="152400" dir="2700000" sx="98000" sy="98000" algn="ctr">
              <a:srgbClr val="000000">
                <a:alpha val="18000"/>
              </a:srgbClr>
            </a:outerShdw>
          </a:effectLst>
          <a:scene3d>
            <a:camera prst="orthographicFront">
              <a:rot lat="0" lon="0" rev="0"/>
            </a:camera>
            <a:lightRig rig="glow" dir="t">
              <a:rot lat="0" lon="0" rev="4800000"/>
            </a:lightRig>
          </a:scene3d>
          <a:sp3d prstMaterial="matte">
            <a:bevelT w="127000" h="6350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p>
            <a:pPr algn="dist"/>
            <a:r>
              <a:rPr lang="en-US" altLang="zh-CN" sz="1600" b="1" dirty="0">
                <a:solidFill>
                  <a:schemeClr val="bg1"/>
                </a:solidFill>
                <a:cs typeface="+mn-ea"/>
                <a:sym typeface="+mn-lt"/>
              </a:rPr>
              <a:t>Part2</a:t>
            </a:r>
            <a:endParaRPr lang="en-US" altLang="zh-CN" sz="1600" b="1" dirty="0">
              <a:solidFill>
                <a:schemeClr val="bg1"/>
              </a:solidFill>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矩形 33"/>
          <p:cNvSpPr/>
          <p:nvPr/>
        </p:nvSpPr>
        <p:spPr>
          <a:xfrm>
            <a:off x="5071327" y="2506741"/>
            <a:ext cx="5212080" cy="645160"/>
          </a:xfrm>
          <a:prstGeom prst="rect">
            <a:avLst/>
          </a:prstGeom>
        </p:spPr>
        <p:txBody>
          <a:bodyPr wrap="none">
            <a:spAutoFit/>
          </a:bodyPr>
          <a:lstStyle/>
          <a:p>
            <a:pPr algn="l"/>
            <a:r>
              <a:rPr lang="zh-CN" altLang="en-US" sz="3600" b="1" dirty="0">
                <a:solidFill>
                  <a:schemeClr val="tx1"/>
                </a:solidFill>
                <a:effectLst>
                  <a:outerShdw blurRad="38100" dist="19050" dir="2700000" algn="tl" rotWithShape="0">
                    <a:schemeClr val="dk1">
                      <a:alpha val="40000"/>
                    </a:schemeClr>
                  </a:outerShdw>
                </a:effectLst>
                <a:sym typeface="+mn-ea"/>
              </a:rPr>
              <a:t>嵌入式测试的应用和实践</a:t>
            </a:r>
            <a:endParaRPr lang="zh-CN" altLang="en-US" sz="3600" b="1" dirty="0">
              <a:solidFill>
                <a:schemeClr val="tx1"/>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sym typeface="+mn-ea"/>
            </a:endParaRPr>
          </a:p>
        </p:txBody>
      </p:sp>
      <p:sp>
        <p:nvSpPr>
          <p:cNvPr id="37" name="矩形 36"/>
          <p:cNvSpPr/>
          <p:nvPr/>
        </p:nvSpPr>
        <p:spPr>
          <a:xfrm>
            <a:off x="5123581" y="3666825"/>
            <a:ext cx="5657767" cy="15020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C00000"/>
              </a:solidFill>
              <a:latin typeface="Arial" panose="020B0604020202020204" pitchFamily="34" charset="0"/>
              <a:ea typeface="思源黑体 CN Regular" panose="020B0500000000000000" pitchFamily="34" charset="-122"/>
              <a:sym typeface="Arial" panose="020B0604020202020204" pitchFamily="34" charset="0"/>
            </a:endParaRPr>
          </a:p>
        </p:txBody>
      </p:sp>
      <p:sp>
        <p:nvSpPr>
          <p:cNvPr id="2" name="矩形 1"/>
          <p:cNvSpPr/>
          <p:nvPr/>
        </p:nvSpPr>
        <p:spPr>
          <a:xfrm>
            <a:off x="1508760" y="0"/>
            <a:ext cx="1714500" cy="6858000"/>
          </a:xfrm>
          <a:prstGeom prst="rect">
            <a:avLst/>
          </a:prstGeom>
          <a:solidFill>
            <a:srgbClr val="0242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6" name="菱形 5"/>
          <p:cNvSpPr/>
          <p:nvPr>
            <p:custDataLst>
              <p:tags r:id="rId1"/>
            </p:custDataLst>
          </p:nvPr>
        </p:nvSpPr>
        <p:spPr>
          <a:xfrm>
            <a:off x="955040" y="1601470"/>
            <a:ext cx="3403600" cy="3427095"/>
          </a:xfrm>
          <a:prstGeom prst="diamond">
            <a:avLst/>
          </a:prstGeom>
          <a:blipFill dpi="0" rotWithShape="1">
            <a:blip r:embed="rId2" cstate="screen"/>
            <a:srcRect/>
            <a:tile sx="100000" sy="100000"/>
          </a:blipFill>
          <a:ln w="76200">
            <a:solidFill>
              <a:schemeClr val="bg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ea typeface="思源黑体 CN Regular" panose="020B0500000000000000" pitchFamily="34" charset="-122"/>
              <a:sym typeface="Arial" panose="020B0604020202020204" pitchFamily="34" charset="0"/>
            </a:endParaRPr>
          </a:p>
        </p:txBody>
      </p:sp>
      <p:pic>
        <p:nvPicPr>
          <p:cNvPr id="7" name="图片 6" descr="ETest-白总选中的"/>
          <p:cNvPicPr>
            <a:picLocks noChangeAspect="1"/>
          </p:cNvPicPr>
          <p:nvPr/>
        </p:nvPicPr>
        <p:blipFill>
          <a:blip r:embed="rId3"/>
          <a:stretch>
            <a:fillRect/>
          </a:stretch>
        </p:blipFill>
        <p:spPr>
          <a:xfrm>
            <a:off x="11644630" y="189865"/>
            <a:ext cx="332740" cy="33274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企业</a:t>
            </a:r>
            <a:r>
              <a:rPr lang="zh-CN" altLang="en-US" dirty="0"/>
              <a:t>文化</a:t>
            </a:r>
            <a:endParaRPr lang="zh-CN" altLang="en-US" dirty="0"/>
          </a:p>
        </p:txBody>
      </p:sp>
      <p:sp>
        <p:nvSpPr>
          <p:cNvPr id="3" name="内容占位符 2"/>
          <p:cNvSpPr txBox="1"/>
          <p:nvPr/>
        </p:nvSpPr>
        <p:spPr>
          <a:xfrm>
            <a:off x="789940" y="696595"/>
            <a:ext cx="10232390" cy="549275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lnSpc>
                <a:spcPct val="160000"/>
              </a:lnSpc>
              <a:buNone/>
            </a:pPr>
            <a:r>
              <a:rPr lang="en-US" altLang="zh-CN" sz="1200" dirty="0">
                <a:solidFill>
                  <a:schemeClr val="accent1"/>
                </a:solidFill>
                <a:effectLst>
                  <a:outerShdw blurRad="38100" dist="25400" dir="5400000" algn="ctr" rotWithShape="0">
                    <a:srgbClr val="6E747A">
                      <a:alpha val="43000"/>
                    </a:srgbClr>
                  </a:outerShdw>
                </a:effectLst>
                <a:latin typeface="+mj-ea"/>
                <a:ea typeface="+mj-ea"/>
              </a:rPr>
              <a:t>凯云自成立以来一直聚焦工业基础软件——仿真测试集成开发环境IDE的研发、销售及相关服务，致力于成为全流程、全领域、全球领先的IDE供应商。基于长期在装备系统仿真与嵌入式系统测试领域的研究与创新，凯云产品与技术具有核心竞争力，得到各行业用户的广泛认可与赞誉。凯云将一如既往坚持“追求凯云全体成员精神和物质两方面的幸福，为社会进步发展做出贡献”的经营理念，与用户携手，为各行业装备质量全面提高做出卓越贡献！</a:t>
            </a:r>
            <a:endParaRPr lang="en-US" altLang="zh-CN" sz="1200" dirty="0">
              <a:solidFill>
                <a:schemeClr val="accent1"/>
              </a:solidFill>
              <a:effectLst>
                <a:outerShdw blurRad="38100" dist="25400" dir="5400000" algn="ctr" rotWithShape="0">
                  <a:srgbClr val="6E747A">
                    <a:alpha val="43000"/>
                  </a:srgbClr>
                </a:outerShdw>
              </a:effectLst>
              <a:latin typeface="+mj-ea"/>
              <a:ea typeface="+mj-ea"/>
            </a:endParaRPr>
          </a:p>
        </p:txBody>
      </p:sp>
      <p:pic>
        <p:nvPicPr>
          <p:cNvPr id="5" name="图片 4"/>
          <p:cNvPicPr>
            <a:picLocks noChangeAspect="1"/>
          </p:cNvPicPr>
          <p:nvPr/>
        </p:nvPicPr>
        <p:blipFill>
          <a:blip r:embed="rId1"/>
          <a:stretch>
            <a:fillRect/>
          </a:stretch>
        </p:blipFill>
        <p:spPr>
          <a:xfrm>
            <a:off x="1164590" y="1854835"/>
            <a:ext cx="9625330" cy="463867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发展</a:t>
            </a:r>
            <a:r>
              <a:rPr lang="zh-CN" altLang="en-US" dirty="0"/>
              <a:t>历程</a:t>
            </a:r>
            <a:endParaRPr lang="zh-CN" altLang="en-US" dirty="0"/>
          </a:p>
        </p:txBody>
      </p:sp>
      <p:sp>
        <p:nvSpPr>
          <p:cNvPr id="3" name="内容占位符 2"/>
          <p:cNvSpPr txBox="1"/>
          <p:nvPr/>
        </p:nvSpPr>
        <p:spPr>
          <a:xfrm>
            <a:off x="798830" y="1157605"/>
            <a:ext cx="10223500" cy="490982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en-US" altLang="zh-CN" sz="1200" dirty="0">
                <a:solidFill>
                  <a:schemeClr val="accent1"/>
                </a:solidFill>
                <a:effectLst>
                  <a:outerShdw blurRad="38100" dist="25400" dir="5400000" algn="ctr" rotWithShape="0">
                    <a:srgbClr val="6E747A">
                      <a:alpha val="43000"/>
                    </a:srgbClr>
                  </a:outerShdw>
                </a:effectLst>
                <a:latin typeface="+mj-ea"/>
                <a:ea typeface="+mj-ea"/>
                <a:sym typeface="+mn-ea"/>
              </a:rPr>
              <a:t>凯云始终致力于成为全球领先的嵌入式系统半实物仿真与测试产品供应商，获得深创投及中软国际等机构多轮投资</a:t>
            </a:r>
            <a:r>
              <a:rPr lang="zh-CN" altLang="en-US" sz="1200" dirty="0">
                <a:solidFill>
                  <a:schemeClr val="accent1"/>
                </a:solidFill>
                <a:effectLst>
                  <a:outerShdw blurRad="38100" dist="25400" dir="5400000" algn="ctr" rotWithShape="0">
                    <a:srgbClr val="6E747A">
                      <a:alpha val="43000"/>
                    </a:srgbClr>
                  </a:outerShdw>
                </a:effectLst>
                <a:latin typeface="+mj-ea"/>
                <a:ea typeface="+mj-ea"/>
                <a:sym typeface="+mn-ea"/>
              </a:rPr>
              <a:t>。</a:t>
            </a:r>
            <a:endParaRPr lang="en-US" altLang="zh-CN" sz="1200" dirty="0">
              <a:latin typeface="+mj-ea"/>
              <a:ea typeface="+mj-ea"/>
            </a:endParaRPr>
          </a:p>
          <a:p>
            <a:pPr marL="0" indent="0" algn="l">
              <a:lnSpc>
                <a:spcPct val="160000"/>
              </a:lnSpc>
              <a:buNone/>
            </a:pPr>
            <a:endParaRPr lang="en-US" altLang="zh-CN" sz="1200" dirty="0">
              <a:solidFill>
                <a:schemeClr val="accent1"/>
              </a:solidFill>
              <a:effectLst>
                <a:outerShdw blurRad="38100" dist="25400" dir="5400000" algn="ctr" rotWithShape="0">
                  <a:srgbClr val="6E747A">
                    <a:alpha val="43000"/>
                  </a:srgbClr>
                </a:outerShdw>
              </a:effectLst>
              <a:latin typeface="+mj-ea"/>
              <a:ea typeface="+mj-ea"/>
            </a:endParaRPr>
          </a:p>
        </p:txBody>
      </p:sp>
      <p:pic>
        <p:nvPicPr>
          <p:cNvPr id="6" name="图片 5"/>
          <p:cNvPicPr>
            <a:picLocks noChangeAspect="1"/>
          </p:cNvPicPr>
          <p:nvPr/>
        </p:nvPicPr>
        <p:blipFill>
          <a:blip r:embed="rId1"/>
          <a:stretch>
            <a:fillRect/>
          </a:stretch>
        </p:blipFill>
        <p:spPr>
          <a:xfrm>
            <a:off x="1543050" y="1899285"/>
            <a:ext cx="8924925" cy="35623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办公</a:t>
            </a:r>
            <a:r>
              <a:rPr lang="zh-CN" altLang="en-US" dirty="0"/>
              <a:t>机构</a:t>
            </a:r>
            <a:endParaRPr lang="zh-CN" altLang="en-US" dirty="0"/>
          </a:p>
        </p:txBody>
      </p:sp>
      <p:sp>
        <p:nvSpPr>
          <p:cNvPr id="3" name="内容占位符 2"/>
          <p:cNvSpPr txBox="1"/>
          <p:nvPr/>
        </p:nvSpPr>
        <p:spPr>
          <a:xfrm>
            <a:off x="798830" y="1157605"/>
            <a:ext cx="10223500" cy="490982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en-US" altLang="zh-CN" sz="1200" dirty="0">
                <a:solidFill>
                  <a:schemeClr val="accent1"/>
                </a:solidFill>
                <a:effectLst>
                  <a:outerShdw blurRad="38100" dist="25400" dir="5400000" algn="ctr" rotWithShape="0">
                    <a:srgbClr val="6E747A">
                      <a:alpha val="43000"/>
                    </a:srgbClr>
                  </a:outerShdw>
                </a:effectLst>
                <a:latin typeface="+mj-ea"/>
                <a:ea typeface="+mj-ea"/>
                <a:sym typeface="+mn-ea"/>
              </a:rPr>
              <a:t>总部位于北京丰台，在合肥、成都、长沙、西安、南京、武汉、绵阳等地设有分支机构，销售及技术服务网络覆盖全国各主要城市。</a:t>
            </a:r>
            <a:endParaRPr lang="en-US" altLang="zh-CN" sz="1200" dirty="0">
              <a:latin typeface="+mj-ea"/>
              <a:ea typeface="+mj-ea"/>
            </a:endParaRPr>
          </a:p>
          <a:p>
            <a:pPr marL="0" indent="0" algn="l">
              <a:lnSpc>
                <a:spcPct val="160000"/>
              </a:lnSpc>
              <a:buNone/>
            </a:pPr>
            <a:endParaRPr lang="en-US" altLang="zh-CN" sz="1200" dirty="0">
              <a:solidFill>
                <a:schemeClr val="accent1"/>
              </a:solidFill>
              <a:effectLst>
                <a:outerShdw blurRad="38100" dist="25400" dir="5400000" algn="ctr" rotWithShape="0">
                  <a:srgbClr val="6E747A">
                    <a:alpha val="43000"/>
                  </a:srgbClr>
                </a:outerShdw>
              </a:effectLst>
              <a:latin typeface="+mj-ea"/>
              <a:ea typeface="+mj-ea"/>
            </a:endParaRPr>
          </a:p>
        </p:txBody>
      </p:sp>
      <p:pic>
        <p:nvPicPr>
          <p:cNvPr id="5" name="图片 4"/>
          <p:cNvPicPr>
            <a:picLocks noChangeAspect="1"/>
          </p:cNvPicPr>
          <p:nvPr/>
        </p:nvPicPr>
        <p:blipFill>
          <a:blip r:embed="rId1"/>
          <a:stretch>
            <a:fillRect/>
          </a:stretch>
        </p:blipFill>
        <p:spPr>
          <a:xfrm>
            <a:off x="1409700" y="1554480"/>
            <a:ext cx="9001125" cy="469582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公司</a:t>
            </a:r>
            <a:r>
              <a:rPr lang="zh-CN" altLang="en-US" dirty="0"/>
              <a:t>荣誉</a:t>
            </a:r>
            <a:endParaRPr lang="zh-CN" altLang="en-US" dirty="0"/>
          </a:p>
        </p:txBody>
      </p:sp>
      <p:sp>
        <p:nvSpPr>
          <p:cNvPr id="3" name="内容占位符 2"/>
          <p:cNvSpPr txBox="1"/>
          <p:nvPr/>
        </p:nvSpPr>
        <p:spPr>
          <a:xfrm>
            <a:off x="798830" y="1157605"/>
            <a:ext cx="10223500" cy="490982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en-US" altLang="zh-CN" sz="1200" dirty="0">
                <a:solidFill>
                  <a:schemeClr val="accent1"/>
                </a:solidFill>
                <a:effectLst>
                  <a:outerShdw blurRad="38100" dist="25400" dir="5400000" algn="ctr" rotWithShape="0">
                    <a:srgbClr val="6E747A">
                      <a:alpha val="43000"/>
                    </a:srgbClr>
                  </a:outerShdw>
                </a:effectLst>
                <a:latin typeface="+mj-ea"/>
                <a:ea typeface="+mj-ea"/>
                <a:sym typeface="+mn-ea"/>
              </a:rPr>
              <a:t>其全资子公司凯云联创（北京）科技有限公司成立于2014年，国家高新及双软认定企业、瞪羚企业、专精特新企业。</a:t>
            </a:r>
            <a:endParaRPr lang="en-US" altLang="zh-CN" sz="1200" dirty="0">
              <a:solidFill>
                <a:schemeClr val="accent1"/>
              </a:solidFill>
              <a:effectLst>
                <a:outerShdw blurRad="38100" dist="25400" dir="5400000" algn="ctr" rotWithShape="0">
                  <a:srgbClr val="6E747A">
                    <a:alpha val="43000"/>
                  </a:srgbClr>
                </a:outerShdw>
              </a:effectLst>
              <a:latin typeface="+mj-ea"/>
              <a:ea typeface="+mj-ea"/>
            </a:endParaRPr>
          </a:p>
          <a:p>
            <a:pPr marL="0" indent="0">
              <a:lnSpc>
                <a:spcPct val="150000"/>
              </a:lnSpc>
              <a:buNone/>
            </a:pPr>
            <a:endParaRPr lang="en-US" altLang="zh-CN" sz="1200" dirty="0">
              <a:latin typeface="+mj-ea"/>
              <a:ea typeface="+mj-ea"/>
            </a:endParaRPr>
          </a:p>
          <a:p>
            <a:pPr marL="0" indent="0" algn="l">
              <a:lnSpc>
                <a:spcPct val="160000"/>
              </a:lnSpc>
              <a:buNone/>
            </a:pPr>
            <a:endParaRPr lang="en-US" altLang="zh-CN" sz="1200" dirty="0">
              <a:solidFill>
                <a:schemeClr val="accent1"/>
              </a:solidFill>
              <a:effectLst>
                <a:outerShdw blurRad="38100" dist="25400" dir="5400000" algn="ctr" rotWithShape="0">
                  <a:srgbClr val="6E747A">
                    <a:alpha val="43000"/>
                  </a:srgbClr>
                </a:outerShdw>
              </a:effectLst>
              <a:latin typeface="+mj-ea"/>
              <a:ea typeface="+mj-ea"/>
            </a:endParaRPr>
          </a:p>
        </p:txBody>
      </p:sp>
      <p:pic>
        <p:nvPicPr>
          <p:cNvPr id="4" name="图片 3"/>
          <p:cNvPicPr>
            <a:picLocks noChangeAspect="1"/>
          </p:cNvPicPr>
          <p:nvPr/>
        </p:nvPicPr>
        <p:blipFill>
          <a:blip r:embed="rId1"/>
          <a:stretch>
            <a:fillRect/>
          </a:stretch>
        </p:blipFill>
        <p:spPr>
          <a:xfrm>
            <a:off x="1668780" y="1569085"/>
            <a:ext cx="8853805" cy="371983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合作</a:t>
            </a:r>
            <a:r>
              <a:rPr lang="zh-CN" altLang="en-US" dirty="0"/>
              <a:t>伙伴</a:t>
            </a:r>
            <a:endParaRPr lang="zh-CN" altLang="en-US" dirty="0"/>
          </a:p>
        </p:txBody>
      </p:sp>
      <p:sp>
        <p:nvSpPr>
          <p:cNvPr id="3" name="内容占位符 2"/>
          <p:cNvSpPr txBox="1"/>
          <p:nvPr/>
        </p:nvSpPr>
        <p:spPr>
          <a:xfrm>
            <a:off x="749935" y="807720"/>
            <a:ext cx="10223500" cy="490982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en-US" altLang="zh-CN" sz="1200" dirty="0">
                <a:solidFill>
                  <a:schemeClr val="accent1"/>
                </a:solidFill>
                <a:effectLst>
                  <a:outerShdw blurRad="38100" dist="25400" dir="5400000" algn="ctr" rotWithShape="0">
                    <a:srgbClr val="6E747A">
                      <a:alpha val="43000"/>
                    </a:srgbClr>
                  </a:outerShdw>
                </a:effectLst>
                <a:latin typeface="+mj-ea"/>
                <a:ea typeface="+mj-ea"/>
                <a:sym typeface="+mn-ea"/>
              </a:rPr>
              <a:t>凯云主要产品包括半实物仿真测试开发平台ETest（对标LabVIEW）、实时仿真软件环境SimuRTS（对标VeriStand）、实时仿真板卡SimuCard、基于ETest搭建的测试设备（工装或仿真器）。围绕航空、航天、船舶、武器装备、轨道交通、汽车、医疗、教育等领域提供标准化产品及技术开发服务。产品和服务主要应用于嵌入式系统研发、仿真及测试验证等环节。</a:t>
            </a:r>
            <a:endParaRPr lang="en-US" altLang="zh-CN" sz="1200" dirty="0">
              <a:solidFill>
                <a:schemeClr val="accent1"/>
              </a:solidFill>
              <a:effectLst>
                <a:outerShdw blurRad="38100" dist="25400" dir="5400000" algn="ctr" rotWithShape="0">
                  <a:srgbClr val="6E747A">
                    <a:alpha val="43000"/>
                  </a:srgbClr>
                </a:outerShdw>
              </a:effectLst>
              <a:latin typeface="+mj-ea"/>
              <a:ea typeface="+mj-ea"/>
            </a:endParaRPr>
          </a:p>
          <a:p>
            <a:pPr marL="0" indent="0">
              <a:lnSpc>
                <a:spcPct val="150000"/>
              </a:lnSpc>
              <a:buNone/>
            </a:pPr>
            <a:endParaRPr lang="en-US" altLang="zh-CN" sz="1200" dirty="0">
              <a:latin typeface="+mj-ea"/>
              <a:ea typeface="+mj-ea"/>
            </a:endParaRPr>
          </a:p>
          <a:p>
            <a:pPr marL="0" indent="0" algn="l">
              <a:lnSpc>
                <a:spcPct val="160000"/>
              </a:lnSpc>
              <a:buNone/>
            </a:pPr>
            <a:endParaRPr lang="en-US" altLang="zh-CN" sz="1200" dirty="0">
              <a:solidFill>
                <a:schemeClr val="accent1"/>
              </a:solidFill>
              <a:effectLst>
                <a:outerShdw blurRad="38100" dist="25400" dir="5400000" algn="ctr" rotWithShape="0">
                  <a:srgbClr val="6E747A">
                    <a:alpha val="43000"/>
                  </a:srgbClr>
                </a:outerShdw>
              </a:effectLst>
              <a:latin typeface="+mj-ea"/>
              <a:ea typeface="+mj-ea"/>
            </a:endParaRPr>
          </a:p>
        </p:txBody>
      </p:sp>
      <p:pic>
        <p:nvPicPr>
          <p:cNvPr id="4" name="图片 3"/>
          <p:cNvPicPr>
            <a:picLocks noChangeAspect="1"/>
          </p:cNvPicPr>
          <p:nvPr/>
        </p:nvPicPr>
        <p:blipFill>
          <a:blip r:embed="rId1"/>
          <a:stretch>
            <a:fillRect/>
          </a:stretch>
        </p:blipFill>
        <p:spPr>
          <a:xfrm>
            <a:off x="1360805" y="1757680"/>
            <a:ext cx="9158605" cy="472948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合作</a:t>
            </a:r>
            <a:r>
              <a:rPr lang="zh-CN" altLang="en-US" dirty="0"/>
              <a:t>伙伴</a:t>
            </a:r>
            <a:endParaRPr lang="zh-CN" altLang="en-US" dirty="0"/>
          </a:p>
        </p:txBody>
      </p:sp>
      <p:sp>
        <p:nvSpPr>
          <p:cNvPr id="3" name="内容占位符 2"/>
          <p:cNvSpPr txBox="1"/>
          <p:nvPr/>
        </p:nvSpPr>
        <p:spPr>
          <a:xfrm>
            <a:off x="798830" y="1157605"/>
            <a:ext cx="10223500" cy="490982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endParaRPr lang="en-US" altLang="zh-CN" sz="1200" dirty="0">
              <a:latin typeface="+mj-ea"/>
              <a:ea typeface="+mj-ea"/>
            </a:endParaRPr>
          </a:p>
          <a:p>
            <a:pPr marL="0" indent="0" algn="l">
              <a:lnSpc>
                <a:spcPct val="160000"/>
              </a:lnSpc>
              <a:buNone/>
            </a:pPr>
            <a:endParaRPr lang="en-US" altLang="zh-CN" sz="1200" dirty="0">
              <a:solidFill>
                <a:schemeClr val="accent1"/>
              </a:solidFill>
              <a:effectLst>
                <a:outerShdw blurRad="38100" dist="25400" dir="5400000" algn="ctr" rotWithShape="0">
                  <a:srgbClr val="6E747A">
                    <a:alpha val="43000"/>
                  </a:srgbClr>
                </a:outerShdw>
              </a:effectLst>
              <a:latin typeface="+mj-ea"/>
              <a:ea typeface="+mj-ea"/>
            </a:endParaRPr>
          </a:p>
        </p:txBody>
      </p:sp>
      <p:pic>
        <p:nvPicPr>
          <p:cNvPr id="4" name="图片 3"/>
          <p:cNvPicPr>
            <a:picLocks noChangeAspect="1"/>
          </p:cNvPicPr>
          <p:nvPr/>
        </p:nvPicPr>
        <p:blipFill>
          <a:blip r:embed="rId1"/>
          <a:stretch>
            <a:fillRect/>
          </a:stretch>
        </p:blipFill>
        <p:spPr>
          <a:xfrm>
            <a:off x="1570355" y="1096010"/>
            <a:ext cx="8867775" cy="457708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ym typeface="+mn-ea"/>
              </a:rPr>
              <a:t>ETest</a:t>
            </a:r>
            <a:endParaRPr lang="zh-CN" altLang="en-US" dirty="0"/>
          </a:p>
        </p:txBody>
      </p:sp>
      <p:sp>
        <p:nvSpPr>
          <p:cNvPr id="3" name="内容占位符 2"/>
          <p:cNvSpPr txBox="1"/>
          <p:nvPr/>
        </p:nvSpPr>
        <p:spPr>
          <a:xfrm>
            <a:off x="798830" y="1157605"/>
            <a:ext cx="10223500" cy="490982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en-US" altLang="zh-CN" sz="1200" dirty="0">
                <a:solidFill>
                  <a:schemeClr val="accent1"/>
                </a:solidFill>
                <a:effectLst>
                  <a:outerShdw blurRad="38100" dist="25400" dir="5400000" algn="ctr" rotWithShape="0">
                    <a:srgbClr val="6E747A">
                      <a:alpha val="43000"/>
                    </a:srgbClr>
                  </a:outerShdw>
                </a:effectLst>
                <a:latin typeface="+mj-ea"/>
                <a:ea typeface="+mj-ea"/>
              </a:rPr>
              <a:t>ETest是一款测试软件的集成开发环境（IDE），基于该IDE可以完成测试系统软件的开发与部署，可服务于基于MBSE的正向设计流程，实现自动化测试、半实物仿真、系统集成验证等功能。ETest系列产品作为凯云率先在行业内推出的国产自主可控半实物仿真测试开发平台，有效打破了国内该领域长期由进口软件LabVIEW、Dspace等产品垄断的格局。</a:t>
            </a:r>
            <a:endParaRPr lang="en-US" altLang="zh-CN" sz="1200" dirty="0">
              <a:solidFill>
                <a:schemeClr val="accent1"/>
              </a:solidFill>
              <a:effectLst>
                <a:outerShdw blurRad="38100" dist="25400" dir="5400000" algn="ctr" rotWithShape="0">
                  <a:srgbClr val="6E747A">
                    <a:alpha val="43000"/>
                  </a:srgbClr>
                </a:outerShdw>
              </a:effectLst>
              <a:latin typeface="+mj-ea"/>
              <a:ea typeface="+mj-ea"/>
            </a:endParaRPr>
          </a:p>
          <a:p>
            <a:pPr marL="0" indent="0">
              <a:lnSpc>
                <a:spcPct val="150000"/>
              </a:lnSpc>
              <a:buNone/>
            </a:pPr>
            <a:r>
              <a:rPr lang="en-US" altLang="zh-CN" sz="1200" dirty="0">
                <a:solidFill>
                  <a:schemeClr val="accent1"/>
                </a:solidFill>
                <a:effectLst>
                  <a:outerShdw blurRad="38100" dist="25400" dir="5400000" algn="ctr" rotWithShape="0">
                    <a:srgbClr val="6E747A">
                      <a:alpha val="43000"/>
                    </a:srgbClr>
                  </a:outerShdw>
                </a:effectLst>
                <a:latin typeface="+mj-ea"/>
                <a:ea typeface="+mj-ea"/>
              </a:rPr>
              <a:t>ETest具有应用范围广、实时性强、开发效率高、使用简单、易于扩展、全国产自主安全可控等特点，支持国产CPU+国产操作系统的部署方案，同时兼容Windows、linux、Mac、VxWorks等多种操作系统。可广泛应用于航空航天、武器装备、工业控制、汽车电子、仪器仪表等各行业测试工装、测试仪器等设备的研发。</a:t>
            </a:r>
            <a:endParaRPr lang="en-US" altLang="zh-CN" sz="1200" dirty="0">
              <a:solidFill>
                <a:schemeClr val="accent1"/>
              </a:solidFill>
              <a:effectLst>
                <a:outerShdw blurRad="38100" dist="25400" dir="5400000" algn="ctr" rotWithShape="0">
                  <a:srgbClr val="6E747A">
                    <a:alpha val="43000"/>
                  </a:srgbClr>
                </a:outerShdw>
              </a:effectLst>
              <a:latin typeface="+mj-ea"/>
              <a:ea typeface="+mj-ea"/>
            </a:endParaRPr>
          </a:p>
          <a:p>
            <a:pPr marL="0" indent="0" algn="l">
              <a:lnSpc>
                <a:spcPct val="160000"/>
              </a:lnSpc>
              <a:buNone/>
            </a:pPr>
            <a:endParaRPr lang="en-US" altLang="zh-CN" sz="1200" dirty="0">
              <a:solidFill>
                <a:schemeClr val="accent1"/>
              </a:solidFill>
              <a:effectLst>
                <a:outerShdw blurRad="38100" dist="25400" dir="5400000" algn="ctr" rotWithShape="0">
                  <a:srgbClr val="6E747A">
                    <a:alpha val="43000"/>
                  </a:srgbClr>
                </a:outerShdw>
              </a:effectLst>
              <a:latin typeface="+mj-ea"/>
              <a:ea typeface="+mj-ea"/>
            </a:endParaRPr>
          </a:p>
        </p:txBody>
      </p:sp>
      <p:pic>
        <p:nvPicPr>
          <p:cNvPr id="5" name="图片 4"/>
          <p:cNvPicPr>
            <a:picLocks noChangeAspect="1"/>
          </p:cNvPicPr>
          <p:nvPr/>
        </p:nvPicPr>
        <p:blipFill>
          <a:blip r:embed="rId1"/>
          <a:stretch>
            <a:fillRect/>
          </a:stretch>
        </p:blipFill>
        <p:spPr>
          <a:xfrm>
            <a:off x="2950210" y="2869565"/>
            <a:ext cx="5920105" cy="330073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buClrTx/>
              <a:buSzTx/>
              <a:buFontTx/>
            </a:pPr>
            <a:r>
              <a:rPr lang="zh-CN" altLang="en-US" dirty="0">
                <a:sym typeface="+mn-ea"/>
              </a:rPr>
              <a:t>SimuRTS</a:t>
            </a:r>
            <a:endParaRPr lang="zh-CN" altLang="en-US" dirty="0"/>
          </a:p>
        </p:txBody>
      </p:sp>
      <p:sp>
        <p:nvSpPr>
          <p:cNvPr id="3" name="内容占位符 2"/>
          <p:cNvSpPr txBox="1"/>
          <p:nvPr/>
        </p:nvSpPr>
        <p:spPr>
          <a:xfrm>
            <a:off x="798830" y="1157605"/>
            <a:ext cx="10223500" cy="490982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en-US" altLang="zh-CN" sz="1200" dirty="0">
                <a:solidFill>
                  <a:schemeClr val="accent1"/>
                </a:solidFill>
                <a:effectLst>
                  <a:outerShdw blurRad="38100" dist="25400" dir="5400000" algn="ctr" rotWithShape="0">
                    <a:srgbClr val="6E747A">
                      <a:alpha val="43000"/>
                    </a:srgbClr>
                  </a:outerShdw>
                </a:effectLst>
                <a:latin typeface="+mj-ea"/>
                <a:ea typeface="+mj-ea"/>
              </a:rPr>
              <a:t>SimuRTS是一款实时仿真软件，可满足快速控制原型验证、半实物仿真、自动化测试等对时效性要求高的应用场景需求。</a:t>
            </a:r>
            <a:endParaRPr lang="en-US" altLang="zh-CN" sz="1200" dirty="0">
              <a:solidFill>
                <a:schemeClr val="accent1"/>
              </a:solidFill>
              <a:effectLst>
                <a:outerShdw blurRad="38100" dist="25400" dir="5400000" algn="ctr" rotWithShape="0">
                  <a:srgbClr val="6E747A">
                    <a:alpha val="43000"/>
                  </a:srgbClr>
                </a:outerShdw>
              </a:effectLst>
              <a:latin typeface="+mj-ea"/>
              <a:ea typeface="+mj-ea"/>
            </a:endParaRPr>
          </a:p>
          <a:p>
            <a:pPr marL="0" indent="0">
              <a:lnSpc>
                <a:spcPct val="150000"/>
              </a:lnSpc>
              <a:buNone/>
            </a:pPr>
            <a:endParaRPr lang="en-US" altLang="zh-CN" sz="1200" dirty="0">
              <a:latin typeface="+mj-ea"/>
              <a:ea typeface="+mj-ea"/>
            </a:endParaRPr>
          </a:p>
          <a:p>
            <a:pPr marL="0" indent="0" algn="l">
              <a:lnSpc>
                <a:spcPct val="160000"/>
              </a:lnSpc>
              <a:buNone/>
            </a:pPr>
            <a:endParaRPr lang="en-US" altLang="zh-CN" sz="1200" dirty="0">
              <a:solidFill>
                <a:schemeClr val="accent1"/>
              </a:solidFill>
              <a:effectLst>
                <a:outerShdw blurRad="38100" dist="25400" dir="5400000" algn="ctr" rotWithShape="0">
                  <a:srgbClr val="6E747A">
                    <a:alpha val="43000"/>
                  </a:srgbClr>
                </a:outerShdw>
              </a:effectLst>
              <a:latin typeface="+mj-ea"/>
              <a:ea typeface="+mj-ea"/>
            </a:endParaRPr>
          </a:p>
        </p:txBody>
      </p:sp>
      <p:pic>
        <p:nvPicPr>
          <p:cNvPr id="4" name="图片 3"/>
          <p:cNvPicPr>
            <a:picLocks noChangeAspect="1"/>
          </p:cNvPicPr>
          <p:nvPr/>
        </p:nvPicPr>
        <p:blipFill>
          <a:blip r:embed="rId1"/>
          <a:stretch>
            <a:fillRect/>
          </a:stretch>
        </p:blipFill>
        <p:spPr>
          <a:xfrm>
            <a:off x="1668780" y="1658620"/>
            <a:ext cx="6234430" cy="409130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ym typeface="+mn-ea"/>
              </a:rPr>
              <a:t>SimuCard</a:t>
            </a:r>
            <a:endParaRPr lang="zh-CN" altLang="en-US" dirty="0"/>
          </a:p>
        </p:txBody>
      </p:sp>
      <p:sp>
        <p:nvSpPr>
          <p:cNvPr id="3" name="内容占位符 2"/>
          <p:cNvSpPr txBox="1"/>
          <p:nvPr/>
        </p:nvSpPr>
        <p:spPr>
          <a:xfrm>
            <a:off x="798830" y="1157605"/>
            <a:ext cx="10223500" cy="490982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en-US" altLang="zh-CN" sz="1200" dirty="0">
                <a:solidFill>
                  <a:schemeClr val="accent1"/>
                </a:solidFill>
                <a:effectLst>
                  <a:outerShdw blurRad="38100" dist="25400" dir="5400000" algn="ctr" rotWithShape="0">
                    <a:srgbClr val="6E747A">
                      <a:alpha val="43000"/>
                    </a:srgbClr>
                  </a:outerShdw>
                </a:effectLst>
                <a:latin typeface="+mj-ea"/>
                <a:ea typeface="+mj-ea"/>
              </a:rPr>
              <a:t>SimuCard是实时仿真卡产品系列，适用于微秒级步长、自定义硬件仿真逻辑模型，以及高通量数据通信仿真应用场合。SimuCard可与工业现场硬件构架平台结合，运用特有的部分动态重配置技术，便捷地将MATLAB、MWORKS生成的数学模型比特流文件部署到板卡的FPGA核心上，实现硬件在环强实时仿真。此外，借助仿真卡的高速接口，搭配多种类型、资源丰富的扩展子板，可对模拟、数字、混合信号、光电信号等全类型、多协议信号的仿真和解析，特别适用于电机驱动器、电机负载、机器人关节驱动等仿真应用场合，也可进行定制化设计，满足特殊应用领域的需求。</a:t>
            </a:r>
            <a:endParaRPr lang="en-US" altLang="zh-CN" sz="1200" dirty="0">
              <a:solidFill>
                <a:schemeClr val="accent1"/>
              </a:solidFill>
              <a:effectLst>
                <a:outerShdw blurRad="38100" dist="25400" dir="5400000" algn="ctr" rotWithShape="0">
                  <a:srgbClr val="6E747A">
                    <a:alpha val="43000"/>
                  </a:srgbClr>
                </a:outerShdw>
              </a:effectLst>
              <a:latin typeface="+mj-ea"/>
              <a:ea typeface="+mj-ea"/>
            </a:endParaRPr>
          </a:p>
          <a:p>
            <a:pPr marL="0" indent="0">
              <a:lnSpc>
                <a:spcPct val="150000"/>
              </a:lnSpc>
              <a:buNone/>
            </a:pPr>
            <a:endParaRPr lang="en-US" altLang="zh-CN" sz="1200" dirty="0">
              <a:latin typeface="+mj-ea"/>
              <a:ea typeface="+mj-ea"/>
            </a:endParaRPr>
          </a:p>
          <a:p>
            <a:pPr marL="0" indent="0" algn="l">
              <a:lnSpc>
                <a:spcPct val="160000"/>
              </a:lnSpc>
              <a:buNone/>
            </a:pPr>
            <a:endParaRPr lang="en-US" altLang="zh-CN" sz="1200" dirty="0">
              <a:solidFill>
                <a:schemeClr val="accent1"/>
              </a:solidFill>
              <a:effectLst>
                <a:outerShdw blurRad="38100" dist="25400" dir="5400000" algn="ctr" rotWithShape="0">
                  <a:srgbClr val="6E747A">
                    <a:alpha val="43000"/>
                  </a:srgbClr>
                </a:outerShdw>
              </a:effectLst>
              <a:latin typeface="+mj-ea"/>
              <a:ea typeface="+mj-ea"/>
            </a:endParaRPr>
          </a:p>
        </p:txBody>
      </p:sp>
      <p:pic>
        <p:nvPicPr>
          <p:cNvPr id="4" name="图片 3"/>
          <p:cNvPicPr>
            <a:picLocks noChangeAspect="1"/>
          </p:cNvPicPr>
          <p:nvPr/>
        </p:nvPicPr>
        <p:blipFill>
          <a:blip r:embed="rId1"/>
          <a:stretch>
            <a:fillRect/>
          </a:stretch>
        </p:blipFill>
        <p:spPr>
          <a:xfrm>
            <a:off x="3085465" y="2750820"/>
            <a:ext cx="5469890" cy="285051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buClrTx/>
              <a:buSzTx/>
              <a:buFontTx/>
            </a:pPr>
            <a:r>
              <a:rPr lang="zh-CN" altLang="en-US" dirty="0">
                <a:sym typeface="+mn-ea"/>
              </a:rPr>
              <a:t>SimuDev</a:t>
            </a:r>
            <a:endParaRPr lang="zh-CN" altLang="en-US" dirty="0">
              <a:sym typeface="+mn-ea"/>
            </a:endParaRPr>
          </a:p>
        </p:txBody>
      </p:sp>
      <p:sp>
        <p:nvSpPr>
          <p:cNvPr id="3" name="内容占位符 2"/>
          <p:cNvSpPr txBox="1"/>
          <p:nvPr/>
        </p:nvSpPr>
        <p:spPr>
          <a:xfrm>
            <a:off x="798830" y="1157605"/>
            <a:ext cx="10223500" cy="490982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en-US" altLang="zh-CN" sz="1200" dirty="0">
                <a:solidFill>
                  <a:schemeClr val="accent1"/>
                </a:solidFill>
                <a:effectLst>
                  <a:outerShdw blurRad="38100" dist="25400" dir="5400000" algn="ctr" rotWithShape="0">
                    <a:srgbClr val="6E747A">
                      <a:alpha val="43000"/>
                    </a:srgbClr>
                  </a:outerShdw>
                </a:effectLst>
                <a:latin typeface="+mj-ea"/>
                <a:ea typeface="+mj-ea"/>
              </a:rPr>
              <a:t>SimuDev实时仿真机产品系列，适用于微秒级步长仿真及测试需求的应用场合。SimuDev是基于多核CPU+FPGA架构的高性能实时仿真平台，方便与实际设备连接进行快速原型验证和硬件在环测试。</a:t>
            </a:r>
            <a:endParaRPr lang="en-US" altLang="zh-CN" sz="1200" dirty="0">
              <a:solidFill>
                <a:schemeClr val="accent1"/>
              </a:solidFill>
              <a:effectLst>
                <a:outerShdw blurRad="38100" dist="25400" dir="5400000" algn="ctr" rotWithShape="0">
                  <a:srgbClr val="6E747A">
                    <a:alpha val="43000"/>
                  </a:srgbClr>
                </a:outerShdw>
              </a:effectLst>
              <a:latin typeface="+mj-ea"/>
              <a:ea typeface="+mj-ea"/>
            </a:endParaRPr>
          </a:p>
          <a:p>
            <a:pPr marL="0" indent="0">
              <a:lnSpc>
                <a:spcPct val="150000"/>
              </a:lnSpc>
              <a:buNone/>
            </a:pPr>
            <a:endParaRPr lang="en-US" altLang="zh-CN" sz="1200" dirty="0">
              <a:solidFill>
                <a:schemeClr val="accent1"/>
              </a:solidFill>
              <a:effectLst>
                <a:outerShdw blurRad="38100" dist="25400" dir="5400000" algn="ctr" rotWithShape="0">
                  <a:srgbClr val="6E747A">
                    <a:alpha val="43000"/>
                  </a:srgbClr>
                </a:outerShdw>
              </a:effectLst>
              <a:latin typeface="+mj-ea"/>
              <a:ea typeface="+mj-ea"/>
            </a:endParaRPr>
          </a:p>
        </p:txBody>
      </p:sp>
      <p:pic>
        <p:nvPicPr>
          <p:cNvPr id="4" name="图片 3"/>
          <p:cNvPicPr>
            <a:picLocks noChangeAspect="1"/>
          </p:cNvPicPr>
          <p:nvPr/>
        </p:nvPicPr>
        <p:blipFill>
          <a:blip r:embed="rId1"/>
          <a:stretch>
            <a:fillRect/>
          </a:stretch>
        </p:blipFill>
        <p:spPr>
          <a:xfrm>
            <a:off x="3039745" y="2319020"/>
            <a:ext cx="5076825" cy="333883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ym typeface="+mn-ea"/>
              </a:rPr>
              <a:t>TesterRT</a:t>
            </a:r>
            <a:endParaRPr lang="zh-CN" altLang="en-US" dirty="0">
              <a:sym typeface="+mn-ea"/>
            </a:endParaRPr>
          </a:p>
        </p:txBody>
      </p:sp>
      <p:sp>
        <p:nvSpPr>
          <p:cNvPr id="3" name="内容占位符 2"/>
          <p:cNvSpPr txBox="1"/>
          <p:nvPr/>
        </p:nvSpPr>
        <p:spPr>
          <a:xfrm>
            <a:off x="798830" y="1157605"/>
            <a:ext cx="10223500" cy="490982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en-US" altLang="zh-CN" sz="1200" dirty="0">
                <a:solidFill>
                  <a:schemeClr val="accent1"/>
                </a:solidFill>
                <a:effectLst>
                  <a:outerShdw blurRad="38100" dist="25400" dir="5400000" algn="ctr" rotWithShape="0">
                    <a:srgbClr val="6E747A">
                      <a:alpha val="43000"/>
                    </a:srgbClr>
                  </a:outerShdw>
                </a:effectLst>
                <a:latin typeface="+mj-ea"/>
                <a:ea typeface="+mj-ea"/>
              </a:rPr>
              <a:t>便携式实时仿真综合测试仪TesterRT具有信号接口齐全，易扩展，能够满足各装备领域的常规测试需求，适用于装备系统集成验证以及外场维护保障等场合。TesterRT通过其内置的测试软件能够快速实现数据激励、数据采集，协助工作人员快速确定被测系统的状态，或者实现对故障的快速追踪、记录和定位，从而提高装备系统的集成度水平、维护保障能力和排除故障效率。</a:t>
            </a:r>
            <a:endParaRPr lang="en-US" altLang="zh-CN" sz="1200" dirty="0">
              <a:solidFill>
                <a:schemeClr val="accent1"/>
              </a:solidFill>
              <a:effectLst>
                <a:outerShdw blurRad="38100" dist="25400" dir="5400000" algn="ctr" rotWithShape="0">
                  <a:srgbClr val="6E747A">
                    <a:alpha val="43000"/>
                  </a:srgbClr>
                </a:outerShdw>
              </a:effectLst>
              <a:latin typeface="+mj-ea"/>
              <a:ea typeface="+mj-ea"/>
            </a:endParaRPr>
          </a:p>
          <a:p>
            <a:pPr marL="0" indent="0">
              <a:lnSpc>
                <a:spcPct val="150000"/>
              </a:lnSpc>
              <a:buNone/>
            </a:pPr>
            <a:endParaRPr lang="en-US" altLang="zh-CN" sz="1200" dirty="0">
              <a:latin typeface="+mj-ea"/>
              <a:ea typeface="+mj-ea"/>
            </a:endParaRPr>
          </a:p>
          <a:p>
            <a:pPr marL="0" indent="0" algn="l">
              <a:lnSpc>
                <a:spcPct val="160000"/>
              </a:lnSpc>
              <a:buNone/>
            </a:pPr>
            <a:endParaRPr lang="en-US" altLang="zh-CN" sz="1200" dirty="0">
              <a:solidFill>
                <a:schemeClr val="accent1"/>
              </a:solidFill>
              <a:effectLst>
                <a:outerShdw blurRad="38100" dist="25400" dir="5400000" algn="ctr" rotWithShape="0">
                  <a:srgbClr val="6E747A">
                    <a:alpha val="43000"/>
                  </a:srgbClr>
                </a:outerShdw>
              </a:effectLst>
              <a:latin typeface="+mj-ea"/>
              <a:ea typeface="+mj-ea"/>
            </a:endParaRPr>
          </a:p>
        </p:txBody>
      </p:sp>
      <p:pic>
        <p:nvPicPr>
          <p:cNvPr id="4" name="图片 3"/>
          <p:cNvPicPr>
            <a:picLocks noChangeAspect="1"/>
          </p:cNvPicPr>
          <p:nvPr/>
        </p:nvPicPr>
        <p:blipFill>
          <a:blip r:embed="rId1"/>
          <a:stretch>
            <a:fillRect/>
          </a:stretch>
        </p:blipFill>
        <p:spPr>
          <a:xfrm>
            <a:off x="2578100" y="2433320"/>
            <a:ext cx="7124700" cy="287401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929005" y="162560"/>
            <a:ext cx="4075430" cy="406400"/>
          </a:xfrm>
        </p:spPr>
        <p:txBody>
          <a:bodyPr/>
          <a:lstStyle/>
          <a:p>
            <a:r>
              <a:rPr lang="zh-CN" altLang="en-US" dirty="0">
                <a:sym typeface="+mn-ea"/>
              </a:rPr>
              <a:t>ETest_PT</a:t>
            </a:r>
            <a:endParaRPr lang="zh-CN" altLang="en-US" dirty="0">
              <a:sym typeface="+mn-ea"/>
            </a:endParaRPr>
          </a:p>
        </p:txBody>
      </p:sp>
      <p:sp>
        <p:nvSpPr>
          <p:cNvPr id="3" name="内容占位符 2"/>
          <p:cNvSpPr txBox="1"/>
          <p:nvPr/>
        </p:nvSpPr>
        <p:spPr>
          <a:xfrm>
            <a:off x="798830" y="1157605"/>
            <a:ext cx="10223500" cy="490982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en-US" altLang="zh-CN" sz="1200" dirty="0">
                <a:solidFill>
                  <a:schemeClr val="accent1"/>
                </a:solidFill>
                <a:effectLst>
                  <a:outerShdw blurRad="38100" dist="25400" dir="5400000" algn="ctr" rotWithShape="0">
                    <a:srgbClr val="6E747A">
                      <a:alpha val="43000"/>
                    </a:srgbClr>
                  </a:outerShdw>
                </a:effectLst>
                <a:latin typeface="+mj-ea"/>
                <a:ea typeface="+mj-ea"/>
              </a:rPr>
              <a:t>ETest_PT是一款便携嵌入式系统测试平台，由软件和硬件两部分组成，软件采用ETest，硬件包括测试主机、USB接口设备（CAN、TCP/UDP、RS232/422/485、AD/DA/DI/DO、ARINC429、1553B、1394B、FC等）。</a:t>
            </a:r>
            <a:endParaRPr lang="en-US" altLang="zh-CN" sz="1200" dirty="0">
              <a:solidFill>
                <a:schemeClr val="accent1"/>
              </a:solidFill>
              <a:effectLst>
                <a:outerShdw blurRad="38100" dist="25400" dir="5400000" algn="ctr" rotWithShape="0">
                  <a:srgbClr val="6E747A">
                    <a:alpha val="43000"/>
                  </a:srgbClr>
                </a:outerShdw>
              </a:effectLst>
              <a:latin typeface="+mj-ea"/>
              <a:ea typeface="+mj-ea"/>
            </a:endParaRPr>
          </a:p>
          <a:p>
            <a:pPr marL="0" indent="0">
              <a:lnSpc>
                <a:spcPct val="150000"/>
              </a:lnSpc>
              <a:buNone/>
            </a:pPr>
            <a:r>
              <a:rPr lang="en-US" altLang="zh-CN" sz="1200" dirty="0">
                <a:solidFill>
                  <a:schemeClr val="accent1"/>
                </a:solidFill>
                <a:effectLst>
                  <a:outerShdw blurRad="38100" dist="25400" dir="5400000" algn="ctr" rotWithShape="0">
                    <a:srgbClr val="6E747A">
                      <a:alpha val="43000"/>
                    </a:srgbClr>
                  </a:outerShdw>
                </a:effectLst>
                <a:latin typeface="+mj-ea"/>
                <a:ea typeface="+mj-ea"/>
              </a:rPr>
              <a:t>ETest_PT具有适用范围广、扩展性好、携带方便、配置灵活、操作简单以及使用成本低等特点，可满足军工、工业等各领域嵌入式系统的测试需求。</a:t>
            </a:r>
            <a:endParaRPr lang="en-US" altLang="zh-CN" sz="1200" dirty="0">
              <a:solidFill>
                <a:schemeClr val="accent1"/>
              </a:solidFill>
              <a:effectLst>
                <a:outerShdw blurRad="38100" dist="25400" dir="5400000" algn="ctr" rotWithShape="0">
                  <a:srgbClr val="6E747A">
                    <a:alpha val="43000"/>
                  </a:srgbClr>
                </a:outerShdw>
              </a:effectLst>
              <a:latin typeface="+mj-ea"/>
              <a:ea typeface="+mj-ea"/>
            </a:endParaRPr>
          </a:p>
          <a:p>
            <a:pPr marL="0" indent="0">
              <a:lnSpc>
                <a:spcPct val="150000"/>
              </a:lnSpc>
              <a:buNone/>
            </a:pPr>
            <a:endParaRPr lang="en-US" altLang="zh-CN" sz="1200" dirty="0">
              <a:latin typeface="+mj-ea"/>
              <a:ea typeface="+mj-ea"/>
            </a:endParaRPr>
          </a:p>
          <a:p>
            <a:pPr marL="0" indent="0" algn="l">
              <a:lnSpc>
                <a:spcPct val="160000"/>
              </a:lnSpc>
              <a:buNone/>
            </a:pPr>
            <a:endParaRPr lang="en-US" altLang="zh-CN" sz="1200" dirty="0">
              <a:solidFill>
                <a:schemeClr val="accent1"/>
              </a:solidFill>
              <a:effectLst>
                <a:outerShdw blurRad="38100" dist="25400" dir="5400000" algn="ctr" rotWithShape="0">
                  <a:srgbClr val="6E747A">
                    <a:alpha val="43000"/>
                  </a:srgbClr>
                </a:outerShdw>
              </a:effectLst>
              <a:latin typeface="+mj-ea"/>
              <a:ea typeface="+mj-ea"/>
            </a:endParaRPr>
          </a:p>
        </p:txBody>
      </p:sp>
      <p:pic>
        <p:nvPicPr>
          <p:cNvPr id="4" name="图片 3"/>
          <p:cNvPicPr>
            <a:picLocks noChangeAspect="1"/>
          </p:cNvPicPr>
          <p:nvPr/>
        </p:nvPicPr>
        <p:blipFill>
          <a:blip r:embed="rId1"/>
          <a:stretch>
            <a:fillRect/>
          </a:stretch>
        </p:blipFill>
        <p:spPr>
          <a:xfrm>
            <a:off x="3034030" y="2470150"/>
            <a:ext cx="6123940" cy="318833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929005" y="162560"/>
            <a:ext cx="4107815" cy="406400"/>
          </a:xfrm>
        </p:spPr>
        <p:txBody>
          <a:bodyPr/>
          <a:lstStyle/>
          <a:p>
            <a:r>
              <a:rPr lang="en-US" altLang="zh-CN" dirty="0">
                <a:latin typeface="微软雅黑" panose="020B0503020204020204" charset="-122"/>
                <a:ea typeface="微软雅黑" panose="020B0503020204020204" charset="-122"/>
                <a:sym typeface="+mn-ea"/>
              </a:rPr>
              <a:t>ETest_FlyCtrl</a:t>
            </a:r>
            <a:endParaRPr lang="en-US" altLang="zh-CN" dirty="0">
              <a:latin typeface="微软雅黑" panose="020B0503020204020204" charset="-122"/>
              <a:ea typeface="微软雅黑" panose="020B0503020204020204" charset="-122"/>
              <a:sym typeface="+mn-ea"/>
            </a:endParaRPr>
          </a:p>
        </p:txBody>
      </p:sp>
      <p:sp>
        <p:nvSpPr>
          <p:cNvPr id="3" name="内容占位符 2"/>
          <p:cNvSpPr txBox="1"/>
          <p:nvPr/>
        </p:nvSpPr>
        <p:spPr>
          <a:xfrm>
            <a:off x="798830" y="1157605"/>
            <a:ext cx="10223500" cy="490982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en-US" altLang="zh-CN" sz="1200" dirty="0">
                <a:solidFill>
                  <a:schemeClr val="accent1"/>
                </a:solidFill>
                <a:effectLst>
                  <a:outerShdw blurRad="38100" dist="25400" dir="5400000" algn="ctr" rotWithShape="0">
                    <a:srgbClr val="6E747A">
                      <a:alpha val="43000"/>
                    </a:srgbClr>
                  </a:outerShdw>
                </a:effectLst>
                <a:latin typeface="+mj-ea"/>
                <a:ea typeface="+mj-ea"/>
              </a:rPr>
              <a:t>无人机飞控系统测试设备主要应用于无人机飞行控制系统的地面检测阶段，具有无人机飞控系统供电、飞控指令发送与状态检查、数据链通道检查、舵机检查、导航系统检查等功能，通过自动化的检查测试，诊断和定位无人机飞控系统所存在各类故障，为无人机飞行前、飞行后、长期储存等情况下，提供检测手段，从而确保无人机技术状态的完好性。</a:t>
            </a:r>
            <a:endParaRPr lang="en-US" altLang="zh-CN" sz="1200" dirty="0">
              <a:solidFill>
                <a:schemeClr val="accent1"/>
              </a:solidFill>
              <a:effectLst>
                <a:outerShdw blurRad="38100" dist="25400" dir="5400000" algn="ctr" rotWithShape="0">
                  <a:srgbClr val="6E747A">
                    <a:alpha val="43000"/>
                  </a:srgbClr>
                </a:outerShdw>
              </a:effectLst>
              <a:latin typeface="+mj-ea"/>
              <a:ea typeface="+mj-ea"/>
            </a:endParaRPr>
          </a:p>
          <a:p>
            <a:pPr marL="0" indent="0">
              <a:lnSpc>
                <a:spcPct val="150000"/>
              </a:lnSpc>
              <a:buNone/>
            </a:pPr>
            <a:endParaRPr lang="en-US" altLang="zh-CN" sz="1200" dirty="0">
              <a:latin typeface="+mj-ea"/>
              <a:ea typeface="+mj-ea"/>
            </a:endParaRPr>
          </a:p>
          <a:p>
            <a:pPr marL="0" indent="0" algn="l">
              <a:lnSpc>
                <a:spcPct val="160000"/>
              </a:lnSpc>
              <a:buNone/>
            </a:pPr>
            <a:endParaRPr lang="en-US" altLang="zh-CN" sz="1200" dirty="0">
              <a:solidFill>
                <a:schemeClr val="accent1"/>
              </a:solidFill>
              <a:effectLst>
                <a:outerShdw blurRad="38100" dist="25400" dir="5400000" algn="ctr" rotWithShape="0">
                  <a:srgbClr val="6E747A">
                    <a:alpha val="43000"/>
                  </a:srgbClr>
                </a:outerShdw>
              </a:effectLst>
              <a:latin typeface="+mj-ea"/>
              <a:ea typeface="+mj-ea"/>
            </a:endParaRPr>
          </a:p>
        </p:txBody>
      </p:sp>
      <p:pic>
        <p:nvPicPr>
          <p:cNvPr id="4" name="图片 3"/>
          <p:cNvPicPr>
            <a:picLocks noChangeAspect="1"/>
          </p:cNvPicPr>
          <p:nvPr/>
        </p:nvPicPr>
        <p:blipFill>
          <a:blip r:embed="rId1"/>
          <a:stretch>
            <a:fillRect/>
          </a:stretch>
        </p:blipFill>
        <p:spPr>
          <a:xfrm>
            <a:off x="3140075" y="2386965"/>
            <a:ext cx="5987415" cy="326580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929005" y="162560"/>
            <a:ext cx="3866515" cy="406400"/>
          </a:xfrm>
        </p:spPr>
        <p:txBody>
          <a:bodyPr/>
          <a:lstStyle/>
          <a:p>
            <a:r>
              <a:rPr lang="en-US" altLang="zh-CN" dirty="0">
                <a:latin typeface="微软雅黑" panose="020B0503020204020204" charset="-122"/>
                <a:ea typeface="微软雅黑" panose="020B0503020204020204" charset="-122"/>
                <a:sym typeface="+mn-ea"/>
              </a:rPr>
              <a:t>ETest_Time</a:t>
            </a:r>
            <a:endParaRPr lang="en-US" altLang="zh-CN" dirty="0">
              <a:latin typeface="微软雅黑" panose="020B0503020204020204" charset="-122"/>
              <a:ea typeface="微软雅黑" panose="020B0503020204020204" charset="-122"/>
              <a:sym typeface="+mn-ea"/>
            </a:endParaRPr>
          </a:p>
        </p:txBody>
      </p:sp>
      <p:sp>
        <p:nvSpPr>
          <p:cNvPr id="3" name="内容占位符 2"/>
          <p:cNvSpPr txBox="1"/>
          <p:nvPr/>
        </p:nvSpPr>
        <p:spPr>
          <a:xfrm>
            <a:off x="798830" y="1157605"/>
            <a:ext cx="10223500" cy="490982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en-US" altLang="zh-CN" sz="1200" dirty="0">
                <a:solidFill>
                  <a:schemeClr val="accent1"/>
                </a:solidFill>
                <a:effectLst>
                  <a:outerShdw blurRad="38100" dist="25400" dir="5400000" algn="ctr" rotWithShape="0">
                    <a:srgbClr val="6E747A">
                      <a:alpha val="43000"/>
                    </a:srgbClr>
                  </a:outerShdw>
                </a:effectLst>
                <a:latin typeface="+mj-ea"/>
                <a:ea typeface="+mj-ea"/>
              </a:rPr>
              <a:t>便携式响应时间测试仪用于系统响应时间的自动化验证，可自动记录从测试驱动信号触发到系统输出信号产生的时间差，即系统响应时间，可自动重复，多次执行测试项并可自动绘制响应曲线，测试结果可自动保存并生成测试报表。</a:t>
            </a:r>
            <a:endParaRPr lang="en-US" altLang="zh-CN" sz="1200" dirty="0">
              <a:solidFill>
                <a:schemeClr val="accent1"/>
              </a:solidFill>
              <a:effectLst>
                <a:outerShdw blurRad="38100" dist="25400" dir="5400000" algn="ctr" rotWithShape="0">
                  <a:srgbClr val="6E747A">
                    <a:alpha val="43000"/>
                  </a:srgbClr>
                </a:outerShdw>
              </a:effectLst>
              <a:latin typeface="+mj-ea"/>
              <a:ea typeface="+mj-ea"/>
            </a:endParaRPr>
          </a:p>
          <a:p>
            <a:pPr marL="0" indent="0">
              <a:lnSpc>
                <a:spcPct val="150000"/>
              </a:lnSpc>
              <a:buNone/>
            </a:pPr>
            <a:endParaRPr lang="en-US" altLang="zh-CN" sz="1200" dirty="0">
              <a:latin typeface="+mj-ea"/>
              <a:ea typeface="+mj-ea"/>
            </a:endParaRPr>
          </a:p>
          <a:p>
            <a:pPr marL="0" indent="0" algn="l">
              <a:lnSpc>
                <a:spcPct val="160000"/>
              </a:lnSpc>
              <a:buNone/>
            </a:pPr>
            <a:endParaRPr lang="en-US" altLang="zh-CN" sz="1200" dirty="0">
              <a:solidFill>
                <a:schemeClr val="accent1"/>
              </a:solidFill>
              <a:effectLst>
                <a:outerShdw blurRad="38100" dist="25400" dir="5400000" algn="ctr" rotWithShape="0">
                  <a:srgbClr val="6E747A">
                    <a:alpha val="43000"/>
                  </a:srgbClr>
                </a:outerShdw>
              </a:effectLst>
              <a:latin typeface="+mj-ea"/>
              <a:ea typeface="+mj-ea"/>
            </a:endParaRPr>
          </a:p>
        </p:txBody>
      </p:sp>
      <p:pic>
        <p:nvPicPr>
          <p:cNvPr id="4" name="图片 3"/>
          <p:cNvPicPr>
            <a:picLocks noChangeAspect="1"/>
          </p:cNvPicPr>
          <p:nvPr/>
        </p:nvPicPr>
        <p:blipFill>
          <a:blip r:embed="rId1"/>
          <a:stretch>
            <a:fillRect/>
          </a:stretch>
        </p:blipFill>
        <p:spPr>
          <a:xfrm>
            <a:off x="3237865" y="2044700"/>
            <a:ext cx="5236845" cy="374523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solidFill>
                  <a:schemeClr val="bg1"/>
                </a:solidFill>
                <a:latin typeface="微软雅黑" panose="020B0503020204020204" charset="-122"/>
                <a:ea typeface="微软雅黑" panose="020B0503020204020204" charset="-122"/>
                <a:sym typeface="+mn-ea"/>
              </a:rPr>
              <a:t>ETest_TP</a:t>
            </a:r>
            <a:endParaRPr lang="zh-CN">
              <a:solidFill>
                <a:schemeClr val="bg1"/>
              </a:solidFill>
              <a:latin typeface="微软雅黑" panose="020B0503020204020204" charset="-122"/>
              <a:ea typeface="微软雅黑" panose="020B0503020204020204" charset="-122"/>
              <a:sym typeface="+mn-ea"/>
            </a:endParaRPr>
          </a:p>
        </p:txBody>
      </p:sp>
      <p:sp>
        <p:nvSpPr>
          <p:cNvPr id="3" name="内容占位符 2"/>
          <p:cNvSpPr txBox="1"/>
          <p:nvPr/>
        </p:nvSpPr>
        <p:spPr>
          <a:xfrm>
            <a:off x="798830" y="1170940"/>
            <a:ext cx="10223500" cy="490982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endParaRPr lang="en-US" altLang="zh-CN" sz="1200" dirty="0">
              <a:solidFill>
                <a:schemeClr val="accent1"/>
              </a:solidFill>
              <a:effectLst>
                <a:outerShdw blurRad="38100" dist="25400" dir="5400000" algn="ctr" rotWithShape="0">
                  <a:srgbClr val="6E747A">
                    <a:alpha val="43000"/>
                  </a:srgbClr>
                </a:outerShdw>
              </a:effectLst>
              <a:latin typeface="+mj-ea"/>
              <a:ea typeface="+mj-ea"/>
            </a:endParaRPr>
          </a:p>
        </p:txBody>
      </p:sp>
      <p:sp>
        <p:nvSpPr>
          <p:cNvPr id="100" name="文本框 99"/>
          <p:cNvSpPr txBox="1"/>
          <p:nvPr/>
        </p:nvSpPr>
        <p:spPr>
          <a:xfrm>
            <a:off x="859790" y="735330"/>
            <a:ext cx="10289540" cy="2306955"/>
          </a:xfrm>
          <a:prstGeom prst="rect">
            <a:avLst/>
          </a:prstGeom>
          <a:noFill/>
          <a:ln w="9525">
            <a:noFill/>
          </a:ln>
        </p:spPr>
        <p:txBody>
          <a:bodyPr wrap="square">
            <a:spAutoFit/>
          </a:bodyPr>
          <a:p>
            <a:pPr indent="304800"/>
            <a:r>
              <a:rPr lang="en-US" altLang="zh-CN" sz="1200" b="0" dirty="0">
                <a:solidFill>
                  <a:schemeClr val="accent1"/>
                </a:solidFill>
                <a:effectLst>
                  <a:outerShdw blurRad="38100" dist="25400" dir="5400000" algn="ctr" rotWithShape="0">
                    <a:srgbClr val="6E747A">
                      <a:alpha val="43000"/>
                    </a:srgbClr>
                  </a:outerShdw>
                </a:effectLst>
                <a:latin typeface="+mj-ea"/>
                <a:ea typeface="+mj-ea"/>
              </a:rPr>
              <a:t>嵌入式系统测试教学实训平台(ETest Training Platform,简称：ETest_TP )适用于高等院校与培训机构在嵌入式系统测试方面的科研与教学，以及军工研究所、研发型企业软件测试工程师的培训与考核。</a:t>
            </a:r>
            <a:endParaRPr lang="en-US" altLang="zh-CN" sz="1200" b="0" dirty="0">
              <a:solidFill>
                <a:schemeClr val="accent1"/>
              </a:solidFill>
              <a:effectLst>
                <a:outerShdw blurRad="38100" dist="25400" dir="5400000" algn="ctr" rotWithShape="0">
                  <a:srgbClr val="6E747A">
                    <a:alpha val="43000"/>
                  </a:srgbClr>
                </a:outerShdw>
              </a:effectLst>
              <a:latin typeface="+mj-ea"/>
              <a:ea typeface="+mj-ea"/>
            </a:endParaRPr>
          </a:p>
          <a:p>
            <a:pPr indent="304800"/>
            <a:endParaRPr lang="en-US" altLang="zh-CN" sz="1200" b="0" dirty="0">
              <a:solidFill>
                <a:schemeClr val="accent1"/>
              </a:solidFill>
              <a:effectLst>
                <a:outerShdw blurRad="38100" dist="25400" dir="5400000" algn="ctr" rotWithShape="0">
                  <a:srgbClr val="6E747A">
                    <a:alpha val="43000"/>
                  </a:srgbClr>
                </a:outerShdw>
              </a:effectLst>
              <a:latin typeface="+mj-ea"/>
              <a:ea typeface="+mj-ea"/>
            </a:endParaRPr>
          </a:p>
          <a:p>
            <a:pPr indent="304800" algn="l">
              <a:buClrTx/>
              <a:buSzTx/>
              <a:buFontTx/>
            </a:pPr>
            <a:r>
              <a:rPr lang="en-US" altLang="zh-CN" sz="1200" dirty="0">
                <a:solidFill>
                  <a:schemeClr val="accent1"/>
                </a:solidFill>
                <a:effectLst>
                  <a:outerShdw blurRad="38100" dist="25400" dir="5400000" algn="ctr" rotWithShape="0">
                    <a:srgbClr val="6E747A">
                      <a:alpha val="43000"/>
                    </a:srgbClr>
                  </a:outerShdw>
                </a:effectLst>
                <a:latin typeface="+mj-ea"/>
                <a:ea typeface="+mj-ea"/>
                <a:sym typeface="+mn-ea"/>
              </a:rPr>
              <a:t>ETest_TP由培训教材（含教师用教材、学员上机操作指南）、软件以及实训平台实验箱组成。其中软件为ETest，实验箱包括待测件板（待测系统）、显示板、多功能接口板、串口通信板（RS232）、CAN模块、USB集线器等。</a:t>
            </a:r>
            <a:endParaRPr lang="en-US" altLang="zh-CN" sz="1200" dirty="0">
              <a:solidFill>
                <a:schemeClr val="accent1"/>
              </a:solidFill>
              <a:effectLst>
                <a:outerShdw blurRad="38100" dist="25400" dir="5400000" algn="ctr" rotWithShape="0">
                  <a:srgbClr val="6E747A">
                    <a:alpha val="43000"/>
                  </a:srgbClr>
                </a:outerShdw>
              </a:effectLst>
              <a:latin typeface="+mj-ea"/>
              <a:ea typeface="+mj-ea"/>
              <a:sym typeface="+mn-ea"/>
            </a:endParaRPr>
          </a:p>
          <a:p>
            <a:pPr indent="304800" algn="l">
              <a:buClrTx/>
              <a:buSzTx/>
              <a:buFontTx/>
            </a:pPr>
            <a:endParaRPr lang="en-US" altLang="zh-CN" sz="1200" b="0" dirty="0">
              <a:solidFill>
                <a:schemeClr val="accent1"/>
              </a:solidFill>
              <a:effectLst>
                <a:outerShdw blurRad="38100" dist="25400" dir="5400000" algn="ctr" rotWithShape="0">
                  <a:srgbClr val="6E747A">
                    <a:alpha val="43000"/>
                  </a:srgbClr>
                </a:outerShdw>
              </a:effectLst>
              <a:latin typeface="+mj-ea"/>
              <a:ea typeface="+mj-ea"/>
            </a:endParaRPr>
          </a:p>
          <a:p>
            <a:pPr indent="304800" algn="l">
              <a:buClrTx/>
              <a:buSzTx/>
              <a:buFontTx/>
            </a:pPr>
            <a:r>
              <a:rPr lang="en-US" altLang="zh-CN" sz="1200" dirty="0">
                <a:solidFill>
                  <a:schemeClr val="accent1"/>
                </a:solidFill>
                <a:effectLst>
                  <a:outerShdw blurRad="38100" dist="25400" dir="5400000" algn="ctr" rotWithShape="0">
                    <a:srgbClr val="6E747A">
                      <a:alpha val="43000"/>
                    </a:srgbClr>
                  </a:outerShdw>
                </a:effectLst>
                <a:latin typeface="+mj-ea"/>
                <a:ea typeface="+mj-ea"/>
                <a:sym typeface="+mn-ea"/>
              </a:rPr>
              <a:t>基于该实训平台，凯云自2016起坚持承办由教育部、南京大学等单位联合举办的全国大学生软件测试大赛——“凯云杯”嵌入式系统测试分赛。</a:t>
            </a:r>
            <a:r>
              <a:rPr lang="en-US" altLang="zh-CN" sz="1200" dirty="0">
                <a:solidFill>
                  <a:schemeClr val="accent1"/>
                </a:solidFill>
                <a:effectLst>
                  <a:outerShdw blurRad="38100" dist="25400" dir="5400000" algn="ctr" rotWithShape="0">
                    <a:srgbClr val="6E747A">
                      <a:alpha val="43000"/>
                    </a:srgbClr>
                  </a:outerShdw>
                </a:effectLst>
                <a:latin typeface="+mj-ea"/>
                <a:ea typeface="+mj-ea"/>
                <a:sym typeface="+mn-ea"/>
              </a:rPr>
              <a:t>经过8年发展，此项赛事已经成为国内大学生软件测试的主要竞技平台，每年吸引</a:t>
            </a:r>
            <a:r>
              <a:rPr lang="en-US" altLang="zh-CN" sz="1200" dirty="0">
                <a:solidFill>
                  <a:schemeClr val="accent1"/>
                </a:solidFill>
                <a:effectLst>
                  <a:outerShdw blurRad="38100" dist="25400" dir="5400000" algn="ctr" rotWithShape="0">
                    <a:srgbClr val="6E747A">
                      <a:alpha val="43000"/>
                    </a:srgbClr>
                  </a:outerShdw>
                </a:effectLst>
                <a:latin typeface="+mj-ea"/>
                <a:ea typeface="+mj-ea"/>
                <a:sym typeface="+mn-ea"/>
              </a:rPr>
              <a:t>全国超过500所高校</a:t>
            </a:r>
            <a:r>
              <a:rPr lang="en-US" altLang="zh-CN" sz="1200" dirty="0">
                <a:solidFill>
                  <a:schemeClr val="accent1"/>
                </a:solidFill>
                <a:effectLst>
                  <a:outerShdw blurRad="38100" dist="25400" dir="5400000" algn="ctr" rotWithShape="0">
                    <a:srgbClr val="6E747A">
                      <a:alpha val="43000"/>
                    </a:srgbClr>
                  </a:outerShdw>
                </a:effectLst>
                <a:latin typeface="+mj-ea"/>
                <a:ea typeface="+mj-ea"/>
                <a:sym typeface="+mn-ea"/>
              </a:rPr>
              <a:t>、数万名学生参赛，</a:t>
            </a:r>
            <a:r>
              <a:rPr lang="en-US" altLang="zh-CN" sz="1200" dirty="0">
                <a:solidFill>
                  <a:schemeClr val="accent1"/>
                </a:solidFill>
                <a:effectLst>
                  <a:outerShdw blurRad="38100" dist="25400" dir="5400000" algn="ctr" rotWithShape="0">
                    <a:srgbClr val="6E747A">
                      <a:alpha val="43000"/>
                    </a:srgbClr>
                  </a:outerShdw>
                </a:effectLst>
                <a:latin typeface="+mj-ea"/>
                <a:ea typeface="+mj-ea"/>
                <a:sym typeface="+mn-ea"/>
              </a:rPr>
              <a:t>凯云在赛事中主要负责提供测试工具ETest、ETest_TP、教材、试题以及阅卷标准答案。</a:t>
            </a:r>
            <a:r>
              <a:rPr lang="en-US" altLang="zh-CN" sz="1200" dirty="0">
                <a:solidFill>
                  <a:schemeClr val="accent1"/>
                </a:solidFill>
                <a:effectLst>
                  <a:outerShdw blurRad="38100" dist="25400" dir="5400000" algn="ctr" rotWithShape="0">
                    <a:srgbClr val="6E747A">
                      <a:alpha val="43000"/>
                    </a:srgbClr>
                  </a:outerShdw>
                </a:effectLst>
                <a:latin typeface="+mj-ea"/>
                <a:ea typeface="+mj-ea"/>
                <a:sym typeface="+mn-ea"/>
              </a:rPr>
              <a:t>有力地推动了ETest从科研院所走进大学课堂。目前，ETest已成为众多高等院校（含985/211院校）专业课程。</a:t>
            </a:r>
            <a:endParaRPr lang="en-US" altLang="zh-CN" sz="1200" dirty="0">
              <a:solidFill>
                <a:schemeClr val="accent1"/>
              </a:solidFill>
              <a:effectLst>
                <a:outerShdw blurRad="38100" dist="25400" dir="5400000" algn="ctr" rotWithShape="0">
                  <a:srgbClr val="6E747A">
                    <a:alpha val="43000"/>
                  </a:srgbClr>
                </a:outerShdw>
              </a:effectLst>
              <a:latin typeface="+mj-ea"/>
              <a:ea typeface="+mj-ea"/>
            </a:endParaRPr>
          </a:p>
          <a:p>
            <a:pPr indent="304800" algn="l">
              <a:buClrTx/>
              <a:buSzTx/>
              <a:buFontTx/>
            </a:pPr>
            <a:endParaRPr lang="zh-CN" sz="1200">
              <a:solidFill>
                <a:srgbClr val="000000"/>
              </a:solidFill>
              <a:ea typeface="宋体" panose="02010600030101010101" pitchFamily="2" charset="-122"/>
            </a:endParaRPr>
          </a:p>
          <a:p>
            <a:pPr indent="304800"/>
            <a:endParaRPr lang="zh-CN" altLang="en-US" sz="1200"/>
          </a:p>
        </p:txBody>
      </p:sp>
      <p:graphicFrame>
        <p:nvGraphicFramePr>
          <p:cNvPr id="4" name="表格 3"/>
          <p:cNvGraphicFramePr/>
          <p:nvPr/>
        </p:nvGraphicFramePr>
        <p:xfrm>
          <a:off x="3556000" y="3063240"/>
          <a:ext cx="0" cy="0"/>
        </p:xfrm>
        <a:graphic>
          <a:graphicData uri="http://schemas.openxmlformats.org/drawingml/2006/table">
            <a:tbl>
              <a:tblPr/>
              <a:tblGrid>
                <a:gridCol w="0"/>
                <a:gridCol w="0"/>
              </a:tblGrid>
              <a:tr h="0">
                <a:tc>
                  <a:txBody>
                    <a:bodyPr/>
                    <a:p>
                      <a:pPr indent="0">
                        <a:buNone/>
                      </a:pPr>
                      <a:endParaRPr lang="zh-CN" altLang="en-US" b="0"/>
                    </a:p>
                  </a:txBody>
                  <a:tcPr>
                    <a:lnL>
                      <a:noFill/>
                    </a:lnL>
                    <a:lnR>
                      <a:noFill/>
                    </a:lnR>
                    <a:lnT cap="flat">
                      <a:noFill/>
                    </a:lnT>
                    <a:lnB cap="flat">
                      <a:noFill/>
                    </a:lnB>
                    <a:lnTlToBr>
                      <a:noFill/>
                    </a:lnTlToBr>
                    <a:lnBlToTr>
                      <a:noFill/>
                    </a:lnBlToTr>
                    <a:noFill/>
                  </a:tcPr>
                </a:tc>
                <a:tc>
                  <a:txBody>
                    <a:bodyPr/>
                    <a:p>
                      <a:pPr>
                        <a:buNone/>
                      </a:pPr>
                      <a:endParaRPr lang="zh-CN" altLang="en-US"/>
                    </a:p>
                  </a:txBody>
                  <a:tcPr>
                    <a:lnL>
                      <a:noFill/>
                    </a:lnL>
                    <a:lnR>
                      <a:noFill/>
                    </a:lnR>
                    <a:lnT>
                      <a:noFill/>
                    </a:lnT>
                    <a:lnB cap="flat">
                      <a:noFill/>
                    </a:lnB>
                    <a:lnTlToBr>
                      <a:noFill/>
                    </a:lnTlToBr>
                    <a:lnBlToTr>
                      <a:noFill/>
                    </a:lnBlToTr>
                    <a:solidFill>
                      <a:srgbClr val="FFFFFF"/>
                    </a:solidFill>
                  </a:tcPr>
                </a:tc>
              </a:tr>
              <a:tr h="0">
                <a:tc>
                  <a:txBody>
                    <a:bodyPr/>
                    <a:p>
                      <a:pPr indent="0">
                        <a:buNone/>
                      </a:pPr>
                      <a:endParaRPr lang="zh-CN" altLang="en-US"/>
                    </a:p>
                  </a:txBody>
                  <a:tcPr>
                    <a:lnL>
                      <a:noFill/>
                    </a:lnL>
                    <a:lnR>
                      <a:noFill/>
                    </a:lnR>
                    <a:lnT cap="flat">
                      <a:noFill/>
                    </a:lnT>
                    <a:lnB cap="flat">
                      <a:noFill/>
                    </a:lnB>
                    <a:lnTlToBr>
                      <a:noFill/>
                    </a:lnTlToBr>
                    <a:lnBlToTr>
                      <a:noFill/>
                    </a:lnBlToTr>
                    <a:noFill/>
                  </a:tcPr>
                </a:tc>
                <a:tc>
                  <a:txBody>
                    <a:bodyPr/>
                    <a:p>
                      <a:pPr indent="0">
                        <a:buNone/>
                      </a:pPr>
                      <a:endParaRPr lang="zh-CN" altLang="en-US"/>
                    </a:p>
                  </a:txBody>
                  <a:tcPr>
                    <a:lnL>
                      <a:noFill/>
                    </a:lnL>
                    <a:lnR cap="flat">
                      <a:noFill/>
                    </a:lnR>
                    <a:lnT cap="flat">
                      <a:noFill/>
                    </a:lnT>
                    <a:lnB cap="flat">
                      <a:noFill/>
                    </a:lnB>
                    <a:lnTlToBr>
                      <a:noFill/>
                    </a:lnTlToBr>
                    <a:lnBlToTr>
                      <a:noFill/>
                    </a:lnBlToTr>
                    <a:noFill/>
                  </a:tcPr>
                </a:tc>
              </a:tr>
            </a:tbl>
          </a:graphicData>
        </a:graphic>
      </p:graphicFrame>
      <p:pic>
        <p:nvPicPr>
          <p:cNvPr id="7" name="图片 6"/>
          <p:cNvPicPr>
            <a:picLocks noChangeAspect="1"/>
          </p:cNvPicPr>
          <p:nvPr/>
        </p:nvPicPr>
        <p:blipFill>
          <a:blip r:embed="rId1"/>
          <a:stretch>
            <a:fillRect/>
          </a:stretch>
        </p:blipFill>
        <p:spPr>
          <a:xfrm>
            <a:off x="7358380" y="3063240"/>
            <a:ext cx="3582670" cy="2651760"/>
          </a:xfrm>
          <a:prstGeom prst="rect">
            <a:avLst/>
          </a:prstGeom>
        </p:spPr>
      </p:pic>
      <p:pic>
        <p:nvPicPr>
          <p:cNvPr id="8" name="图片 7"/>
          <p:cNvPicPr>
            <a:picLocks noChangeAspect="1"/>
          </p:cNvPicPr>
          <p:nvPr/>
        </p:nvPicPr>
        <p:blipFill>
          <a:blip r:embed="rId2"/>
          <a:stretch>
            <a:fillRect/>
          </a:stretch>
        </p:blipFill>
        <p:spPr>
          <a:xfrm>
            <a:off x="798830" y="3063240"/>
            <a:ext cx="6457950" cy="227647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矩形 33"/>
          <p:cNvSpPr/>
          <p:nvPr/>
        </p:nvSpPr>
        <p:spPr>
          <a:xfrm>
            <a:off x="5017352" y="2417841"/>
            <a:ext cx="5669280" cy="645160"/>
          </a:xfrm>
          <a:prstGeom prst="rect">
            <a:avLst/>
          </a:prstGeom>
        </p:spPr>
        <p:txBody>
          <a:bodyPr wrap="none">
            <a:spAutoFit/>
          </a:bodyPr>
          <a:lstStyle/>
          <a:p>
            <a:pPr algn="l"/>
            <a:r>
              <a:rPr lang="zh-CN" altLang="en-US" sz="3600" b="1" dirty="0">
                <a:latin typeface="+mj-ea"/>
                <a:ea typeface="+mj-ea"/>
                <a:sym typeface="+mn-ea"/>
              </a:rPr>
              <a:t>嵌入式赛项流程</a:t>
            </a:r>
            <a:r>
              <a:rPr lang="zh-CN" altLang="en-US" sz="3600" b="1" dirty="0">
                <a:latin typeface="+mj-ea"/>
                <a:ea typeface="+mj-ea"/>
                <a:sym typeface="+mn-ea"/>
              </a:rPr>
              <a:t>和技术方案</a:t>
            </a:r>
            <a:endParaRPr lang="zh-CN" altLang="en-US" sz="3600" b="1" dirty="0">
              <a:solidFill>
                <a:schemeClr val="tx1">
                  <a:lumMod val="75000"/>
                  <a:lumOff val="25000"/>
                </a:schemeClr>
              </a:solidFill>
              <a:latin typeface="微软雅黑" panose="020B0503020204020204" charset="-122"/>
              <a:ea typeface="微软雅黑" panose="020B0503020204020204" charset="-122"/>
              <a:sym typeface="Arial" panose="020B0604020202020204" pitchFamily="34" charset="0"/>
            </a:endParaRPr>
          </a:p>
        </p:txBody>
      </p:sp>
      <p:sp>
        <p:nvSpPr>
          <p:cNvPr id="37" name="矩形 36"/>
          <p:cNvSpPr/>
          <p:nvPr/>
        </p:nvSpPr>
        <p:spPr>
          <a:xfrm>
            <a:off x="5044841" y="3510615"/>
            <a:ext cx="5657767" cy="15020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C00000"/>
              </a:solidFill>
              <a:latin typeface="Arial" panose="020B0604020202020204" pitchFamily="34" charset="0"/>
              <a:ea typeface="思源黑体 CN Regular" panose="020B0500000000000000" pitchFamily="34" charset="-122"/>
              <a:sym typeface="Arial" panose="020B0604020202020204" pitchFamily="34" charset="0"/>
            </a:endParaRPr>
          </a:p>
        </p:txBody>
      </p:sp>
      <p:sp>
        <p:nvSpPr>
          <p:cNvPr id="2" name="矩形 1"/>
          <p:cNvSpPr/>
          <p:nvPr/>
        </p:nvSpPr>
        <p:spPr>
          <a:xfrm>
            <a:off x="1508760" y="0"/>
            <a:ext cx="1714500" cy="6858000"/>
          </a:xfrm>
          <a:prstGeom prst="rect">
            <a:avLst/>
          </a:prstGeom>
          <a:solidFill>
            <a:srgbClr val="0242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6" name="菱形 5"/>
          <p:cNvSpPr/>
          <p:nvPr>
            <p:custDataLst>
              <p:tags r:id="rId1"/>
            </p:custDataLst>
          </p:nvPr>
        </p:nvSpPr>
        <p:spPr>
          <a:xfrm>
            <a:off x="955040" y="1601470"/>
            <a:ext cx="3403600" cy="3427095"/>
          </a:xfrm>
          <a:prstGeom prst="diamond">
            <a:avLst/>
          </a:prstGeom>
          <a:blipFill dpi="0" rotWithShape="1">
            <a:blip r:embed="rId2" cstate="screen"/>
            <a:srcRect/>
            <a:tile sx="100000" sy="100000"/>
          </a:blipFill>
          <a:ln w="76200">
            <a:solidFill>
              <a:schemeClr val="bg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ea typeface="思源黑体 CN Regular" panose="020B0500000000000000" pitchFamily="34" charset="-122"/>
              <a:sym typeface="Arial" panose="020B0604020202020204" pitchFamily="34" charset="0"/>
            </a:endParaRPr>
          </a:p>
        </p:txBody>
      </p:sp>
      <p:pic>
        <p:nvPicPr>
          <p:cNvPr id="7" name="图片 6" descr="ETest-白总选中的"/>
          <p:cNvPicPr>
            <a:picLocks noChangeAspect="1"/>
          </p:cNvPicPr>
          <p:nvPr/>
        </p:nvPicPr>
        <p:blipFill>
          <a:blip r:embed="rId3"/>
          <a:stretch>
            <a:fillRect/>
          </a:stretch>
        </p:blipFill>
        <p:spPr>
          <a:xfrm>
            <a:off x="11644630" y="189865"/>
            <a:ext cx="332740" cy="33274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嵌入式测试大赛</a:t>
            </a:r>
            <a:endParaRPr lang="zh-CN" altLang="en-US" dirty="0"/>
          </a:p>
        </p:txBody>
      </p:sp>
      <p:sp>
        <p:nvSpPr>
          <p:cNvPr id="3" name="内容占位符 2"/>
          <p:cNvSpPr txBox="1"/>
          <p:nvPr/>
        </p:nvSpPr>
        <p:spPr>
          <a:xfrm>
            <a:off x="1692407" y="1643176"/>
            <a:ext cx="9488467" cy="49591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zh-CN" altLang="en-US" sz="1800" dirty="0">
                <a:latin typeface="+mj-ea"/>
                <a:ea typeface="+mj-ea"/>
              </a:rPr>
              <a:t>嵌入式测试大赛设置赛项：“凯云杯嵌入式测试大赛”</a:t>
            </a:r>
            <a:endParaRPr lang="en-US" altLang="zh-CN" sz="1800" dirty="0">
              <a:latin typeface="+mj-ea"/>
              <a:ea typeface="+mj-ea"/>
            </a:endParaRPr>
          </a:p>
          <a:p>
            <a:pPr>
              <a:lnSpc>
                <a:spcPct val="150000"/>
              </a:lnSpc>
            </a:pPr>
            <a:r>
              <a:rPr lang="zh-CN" altLang="en-US" sz="1800" dirty="0">
                <a:latin typeface="+mj-ea"/>
                <a:ea typeface="+mj-ea"/>
              </a:rPr>
              <a:t>分为预选赛、省赛和总决赛（每个分项赛，独立评分和颁奖）。</a:t>
            </a:r>
            <a:endParaRPr lang="en-US" altLang="zh-CN" sz="1800" dirty="0">
              <a:latin typeface="+mj-ea"/>
              <a:ea typeface="+mj-ea"/>
            </a:endParaRPr>
          </a:p>
        </p:txBody>
      </p:sp>
      <p:sp>
        <p:nvSpPr>
          <p:cNvPr id="5" name="文本框 4"/>
          <p:cNvSpPr txBox="1"/>
          <p:nvPr/>
        </p:nvSpPr>
        <p:spPr>
          <a:xfrm>
            <a:off x="3289935" y="2783840"/>
            <a:ext cx="4974590" cy="1337945"/>
          </a:xfrm>
          <a:prstGeom prst="rect">
            <a:avLst/>
          </a:prstGeom>
          <a:noFill/>
        </p:spPr>
        <p:txBody>
          <a:bodyPr wrap="square">
            <a:spAutoFit/>
          </a:bodyPr>
          <a:lstStyle/>
          <a:p>
            <a:pPr marL="0" indent="0">
              <a:lnSpc>
                <a:spcPct val="150000"/>
              </a:lnSpc>
              <a:buNone/>
            </a:pPr>
            <a:r>
              <a:rPr lang="zh-CN" altLang="en-US" dirty="0">
                <a:latin typeface="+mj-ea"/>
                <a:ea typeface="+mj-ea"/>
              </a:rPr>
              <a:t>预选赛：</a:t>
            </a:r>
            <a:r>
              <a:rPr lang="zh-CN" altLang="en-US" dirty="0">
                <a:latin typeface="+mj-ea"/>
                <a:ea typeface="+mj-ea"/>
                <a:sym typeface="+mn-ea"/>
              </a:rPr>
              <a:t>线上，使用模拟嵌入式软件</a:t>
            </a:r>
            <a:endParaRPr lang="zh-CN" altLang="en-US" dirty="0"/>
          </a:p>
          <a:p>
            <a:pPr marL="0" indent="0">
              <a:lnSpc>
                <a:spcPct val="150000"/>
              </a:lnSpc>
              <a:buNone/>
            </a:pPr>
            <a:r>
              <a:rPr lang="zh-CN" altLang="en-US" dirty="0">
                <a:latin typeface="+mj-ea"/>
                <a:ea typeface="+mj-ea"/>
              </a:rPr>
              <a:t>省赛：</a:t>
            </a:r>
            <a:r>
              <a:rPr lang="en-US" altLang="zh-CN" dirty="0">
                <a:latin typeface="+mj-ea"/>
                <a:ea typeface="+mj-ea"/>
              </a:rPr>
              <a:t>   </a:t>
            </a:r>
            <a:r>
              <a:rPr lang="zh-CN" altLang="en-US" dirty="0">
                <a:latin typeface="+mj-ea"/>
                <a:ea typeface="+mj-ea"/>
                <a:sym typeface="+mn-ea"/>
              </a:rPr>
              <a:t>线上、</a:t>
            </a:r>
            <a:r>
              <a:rPr lang="zh-CN" altLang="en-US" dirty="0">
                <a:latin typeface="+mj-ea"/>
                <a:ea typeface="+mj-ea"/>
                <a:sym typeface="+mn-ea"/>
              </a:rPr>
              <a:t>线下，使用模拟嵌入式软件</a:t>
            </a:r>
            <a:endParaRPr lang="en-US" altLang="zh-CN" dirty="0">
              <a:latin typeface="+mj-ea"/>
              <a:ea typeface="+mj-ea"/>
            </a:endParaRPr>
          </a:p>
          <a:p>
            <a:pPr marL="0" indent="0">
              <a:lnSpc>
                <a:spcPct val="150000"/>
              </a:lnSpc>
              <a:buNone/>
            </a:pPr>
            <a:r>
              <a:rPr lang="zh-CN" altLang="en-US" dirty="0">
                <a:latin typeface="+mj-ea"/>
                <a:ea typeface="+mj-ea"/>
              </a:rPr>
              <a:t>总决赛：线下，使用真实嵌入式软件</a:t>
            </a:r>
            <a:endParaRPr lang="zh-CN" altLang="en-US" dirty="0">
              <a:latin typeface="+mj-ea"/>
              <a:ea typeface="+mj-ea"/>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比赛时间和测试内容</a:t>
            </a:r>
            <a:endParaRPr lang="zh-CN" altLang="en-US" dirty="0"/>
          </a:p>
        </p:txBody>
      </p:sp>
      <p:sp>
        <p:nvSpPr>
          <p:cNvPr id="5" name="文本框 4"/>
          <p:cNvSpPr txBox="1"/>
          <p:nvPr/>
        </p:nvSpPr>
        <p:spPr>
          <a:xfrm>
            <a:off x="1331403" y="4124417"/>
            <a:ext cx="9329811" cy="954107"/>
          </a:xfrm>
          <a:prstGeom prst="rect">
            <a:avLst/>
          </a:prstGeom>
          <a:noFill/>
        </p:spPr>
        <p:txBody>
          <a:bodyPr wrap="square">
            <a:spAutoFit/>
          </a:bodyPr>
          <a:lstStyle/>
          <a:p>
            <a:r>
              <a:rPr lang="zh-CN" altLang="en-US" sz="1400" dirty="0"/>
              <a:t>使用</a:t>
            </a:r>
            <a:r>
              <a:rPr lang="en-US" altLang="zh-CN" sz="1400" dirty="0" err="1"/>
              <a:t>ETest</a:t>
            </a:r>
            <a:r>
              <a:rPr lang="zh-CN" altLang="en-US" sz="1400" dirty="0"/>
              <a:t>工具，搭建测试项目，模拟嵌入式软件运行时需要的外围设备，进行信号激励和反馈获取，从而对嵌入式软件进行</a:t>
            </a:r>
            <a:r>
              <a:rPr lang="zh-CN" altLang="en-US" sz="1400" dirty="0">
                <a:solidFill>
                  <a:srgbClr val="0070C0"/>
                </a:solidFill>
              </a:rPr>
              <a:t>黑盒</a:t>
            </a:r>
            <a:r>
              <a:rPr lang="zh-CN" altLang="en-US" sz="1400" dirty="0"/>
              <a:t>动态测试。</a:t>
            </a:r>
            <a:endParaRPr lang="en-US" altLang="zh-CN" sz="1400" dirty="0"/>
          </a:p>
          <a:p>
            <a:endParaRPr lang="en-US" altLang="zh-CN" sz="1400" dirty="0"/>
          </a:p>
          <a:p>
            <a:r>
              <a:rPr lang="zh-CN" altLang="en-US" sz="1400" dirty="0"/>
              <a:t>目标：考察被测软件的运行情况是否满足</a:t>
            </a:r>
            <a:r>
              <a:rPr lang="en-US" altLang="zh-CN" sz="1400" dirty="0"/>
              <a:t>【</a:t>
            </a:r>
            <a:r>
              <a:rPr lang="zh-CN" altLang="en-US" sz="1400" dirty="0"/>
              <a:t>需求文档</a:t>
            </a:r>
            <a:r>
              <a:rPr lang="en-US" altLang="zh-CN" sz="1400" dirty="0"/>
              <a:t>】</a:t>
            </a:r>
            <a:r>
              <a:rPr lang="zh-CN" altLang="en-US" sz="1400" dirty="0"/>
              <a:t>的要求。</a:t>
            </a:r>
            <a:endParaRPr lang="en-US" altLang="zh-CN" sz="1400" dirty="0"/>
          </a:p>
        </p:txBody>
      </p:sp>
      <p:sp>
        <p:nvSpPr>
          <p:cNvPr id="7" name="文本框 6"/>
          <p:cNvSpPr txBox="1"/>
          <p:nvPr/>
        </p:nvSpPr>
        <p:spPr>
          <a:xfrm>
            <a:off x="858034" y="3556055"/>
            <a:ext cx="6162804" cy="458908"/>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sym typeface="微软雅黑" panose="020B0503020204020204" charset="-122"/>
              </a:rPr>
              <a:t>测试内容：</a:t>
            </a:r>
            <a:endParaRPr kumimoji="0" lang="zh-CN" altLang="en-US" sz="1800" b="1"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sym typeface="微软雅黑" panose="020B0503020204020204" charset="-122"/>
            </a:endParaRPr>
          </a:p>
        </p:txBody>
      </p:sp>
      <p:sp>
        <p:nvSpPr>
          <p:cNvPr id="8" name="文本框 7"/>
          <p:cNvSpPr txBox="1"/>
          <p:nvPr/>
        </p:nvSpPr>
        <p:spPr>
          <a:xfrm>
            <a:off x="1400929" y="1808588"/>
            <a:ext cx="6162804" cy="1027397"/>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lang="zh-CN" altLang="en-US" sz="1400" dirty="0">
                <a:latin typeface="微软雅黑" panose="020B0503020204020204" charset="-122"/>
                <a:ea typeface="微软雅黑" panose="020B0503020204020204" charset="-122"/>
                <a:sym typeface="微软雅黑" panose="020B0503020204020204" charset="-122"/>
              </a:rPr>
              <a:t>大赛</a:t>
            </a:r>
            <a:r>
              <a:rPr kumimoji="0" lang="zh-CN" altLang="en-US" sz="140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sym typeface="微软雅黑" panose="020B0503020204020204" charset="-122"/>
              </a:rPr>
              <a:t>时长：</a:t>
            </a:r>
            <a:r>
              <a:rPr lang="en-US" altLang="zh-CN" sz="1400" dirty="0">
                <a:latin typeface="微软雅黑" panose="020B0503020204020204" charset="-122"/>
                <a:ea typeface="微软雅黑" panose="020B0503020204020204" charset="-122"/>
                <a:sym typeface="微软雅黑" panose="020B0503020204020204" charset="-122"/>
              </a:rPr>
              <a:t>4</a:t>
            </a:r>
            <a:r>
              <a:rPr lang="zh-CN" altLang="en-US" sz="1400" dirty="0">
                <a:latin typeface="微软雅黑" panose="020B0503020204020204" charset="-122"/>
                <a:ea typeface="微软雅黑" panose="020B0503020204020204" charset="-122"/>
                <a:sym typeface="微软雅黑" panose="020B0503020204020204" charset="-122"/>
              </a:rPr>
              <a:t>小时</a:t>
            </a:r>
            <a:endParaRPr lang="en-US" altLang="zh-CN" sz="1400" dirty="0">
              <a:latin typeface="微软雅黑" panose="020B0503020204020204" charset="-122"/>
              <a:ea typeface="微软雅黑" panose="020B0503020204020204" charset="-122"/>
              <a:sym typeface="微软雅黑" panose="020B0503020204020204" charset="-122"/>
            </a:endParaRPr>
          </a:p>
          <a:p>
            <a:pPr marL="0" marR="0" lvl="0" indent="0" algn="l" defTabSz="914400" rtl="0" eaLnBrk="1" fontAlgn="auto" latinLnBrk="0" hangingPunct="1">
              <a:lnSpc>
                <a:spcPct val="150000"/>
              </a:lnSpc>
              <a:spcBef>
                <a:spcPts val="0"/>
              </a:spcBef>
              <a:spcAft>
                <a:spcPts val="0"/>
              </a:spcAft>
              <a:buClrTx/>
              <a:buSzTx/>
              <a:buFontTx/>
              <a:buNone/>
              <a:defRPr/>
            </a:pPr>
            <a:r>
              <a:rPr lang="zh-CN" altLang="en-US" sz="1400" dirty="0"/>
              <a:t>比赛开始：选手下载被测软件和相关文档</a:t>
            </a:r>
            <a:endParaRPr lang="en-US" altLang="zh-CN" sz="1400" dirty="0"/>
          </a:p>
          <a:p>
            <a:pPr marL="0" marR="0" lvl="0" indent="0" algn="l" defTabSz="914400" rtl="0" eaLnBrk="1" fontAlgn="auto" latinLnBrk="0" hangingPunct="1">
              <a:lnSpc>
                <a:spcPct val="150000"/>
              </a:lnSpc>
              <a:spcBef>
                <a:spcPts val="0"/>
              </a:spcBef>
              <a:spcAft>
                <a:spcPts val="0"/>
              </a:spcAft>
              <a:buClrTx/>
              <a:buSzTx/>
              <a:buFontTx/>
              <a:buNone/>
              <a:defRPr/>
            </a:pPr>
            <a:r>
              <a:rPr lang="zh-CN" altLang="en-US" sz="1400" dirty="0"/>
              <a:t>比赛结束：选手上传结果信息</a:t>
            </a:r>
            <a:endParaRPr lang="zh-CN" altLang="en-US" sz="1400" dirty="0"/>
          </a:p>
        </p:txBody>
      </p:sp>
      <p:sp>
        <p:nvSpPr>
          <p:cNvPr id="9" name="文本框 8"/>
          <p:cNvSpPr txBox="1"/>
          <p:nvPr/>
        </p:nvSpPr>
        <p:spPr>
          <a:xfrm>
            <a:off x="858034" y="1261342"/>
            <a:ext cx="6162804" cy="458908"/>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sym typeface="微软雅黑" panose="020B0503020204020204" charset="-122"/>
              </a:rPr>
              <a:t>比赛时间：</a:t>
            </a:r>
            <a:endParaRPr kumimoji="0" lang="zh-CN" altLang="en-US" sz="1800" b="1"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sym typeface="微软雅黑" panose="020B0503020204020204"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圆角 18"/>
          <p:cNvSpPr/>
          <p:nvPr/>
        </p:nvSpPr>
        <p:spPr>
          <a:xfrm>
            <a:off x="810717" y="1050478"/>
            <a:ext cx="9594937" cy="430067"/>
          </a:xfrm>
          <a:prstGeom prst="round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t>评分规则</a:t>
            </a:r>
            <a:r>
              <a:rPr lang="en-US" altLang="zh-CN" dirty="0"/>
              <a:t>-</a:t>
            </a:r>
            <a:r>
              <a:rPr lang="zh-CN" altLang="en-US" dirty="0"/>
              <a:t>预选赛</a:t>
            </a:r>
            <a:endParaRPr lang="zh-CN" altLang="en-US" dirty="0"/>
          </a:p>
        </p:txBody>
      </p:sp>
      <p:sp>
        <p:nvSpPr>
          <p:cNvPr id="3" name="内容占位符 2"/>
          <p:cNvSpPr txBox="1"/>
          <p:nvPr/>
        </p:nvSpPr>
        <p:spPr>
          <a:xfrm>
            <a:off x="864957" y="1135122"/>
            <a:ext cx="4590093" cy="26077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1600" dirty="0"/>
              <a:t>总分 </a:t>
            </a:r>
            <a:r>
              <a:rPr lang="en-US" altLang="zh-CN" sz="1600" dirty="0"/>
              <a:t>= </a:t>
            </a:r>
            <a:r>
              <a:rPr lang="zh-CN" altLang="en-US" sz="1600" dirty="0"/>
              <a:t> 覆盖率评价分</a:t>
            </a:r>
            <a:r>
              <a:rPr lang="en-US" altLang="zh-CN" sz="1600" dirty="0"/>
              <a:t> </a:t>
            </a:r>
            <a:endParaRPr lang="en-US" altLang="zh-CN" sz="1600" dirty="0"/>
          </a:p>
        </p:txBody>
      </p:sp>
      <p:sp>
        <p:nvSpPr>
          <p:cNvPr id="29" name="文本框 28"/>
          <p:cNvSpPr txBox="1"/>
          <p:nvPr/>
        </p:nvSpPr>
        <p:spPr>
          <a:xfrm>
            <a:off x="1066508" y="1760379"/>
            <a:ext cx="6388392" cy="338554"/>
          </a:xfrm>
          <a:prstGeom prst="rect">
            <a:avLst/>
          </a:prstGeom>
          <a:noFill/>
        </p:spPr>
        <p:txBody>
          <a:bodyPr wrap="square">
            <a:spAutoFit/>
          </a:bodyPr>
          <a:lstStyle/>
          <a:p>
            <a:pPr marL="285750" indent="-285750">
              <a:buFont typeface="Wingdings" panose="05000000000000000000" pitchFamily="2" charset="2"/>
              <a:buChar char="Ø"/>
            </a:pPr>
            <a:r>
              <a:rPr lang="zh-CN" altLang="en-US" sz="1600" b="1" dirty="0"/>
              <a:t>覆盖率评价</a:t>
            </a:r>
            <a:r>
              <a:rPr lang="zh-CN" altLang="en-US" sz="1600" dirty="0"/>
              <a:t>：</a:t>
            </a:r>
            <a:endParaRPr lang="en-US" altLang="zh-CN" sz="1600" dirty="0"/>
          </a:p>
        </p:txBody>
      </p:sp>
      <p:sp>
        <p:nvSpPr>
          <p:cNvPr id="16" name="文本框 15"/>
          <p:cNvSpPr txBox="1"/>
          <p:nvPr/>
        </p:nvSpPr>
        <p:spPr>
          <a:xfrm>
            <a:off x="2704209" y="1707464"/>
            <a:ext cx="7833310" cy="1060450"/>
          </a:xfrm>
          <a:prstGeom prst="rect">
            <a:avLst/>
          </a:prstGeom>
          <a:noFill/>
        </p:spPr>
        <p:txBody>
          <a:bodyPr wrap="square">
            <a:spAutoFit/>
          </a:bodyPr>
          <a:lstStyle/>
          <a:p>
            <a:pPr>
              <a:lnSpc>
                <a:spcPct val="150000"/>
              </a:lnSpc>
            </a:pPr>
            <a:r>
              <a:rPr lang="en-US" altLang="zh-CN" sz="1400" dirty="0"/>
              <a:t>1.</a:t>
            </a:r>
            <a:r>
              <a:rPr lang="zh-CN" altLang="en-US" sz="1400" dirty="0"/>
              <a:t>计算参赛选手编写的测试脚本，对</a:t>
            </a:r>
            <a:r>
              <a:rPr lang="zh-CN" altLang="en-US" sz="1400" dirty="0"/>
              <a:t>被测件的代码覆盖率</a:t>
            </a:r>
            <a:endParaRPr lang="zh-CN" altLang="en-US" sz="1400" dirty="0"/>
          </a:p>
          <a:p>
            <a:pPr>
              <a:lnSpc>
                <a:spcPct val="150000"/>
              </a:lnSpc>
            </a:pPr>
            <a:r>
              <a:rPr lang="en-US" altLang="zh-CN" sz="1400" dirty="0"/>
              <a:t>2.</a:t>
            </a:r>
            <a:r>
              <a:rPr lang="zh-CN" altLang="en-US" sz="1400" dirty="0"/>
              <a:t>选手可以实时查看测试覆盖率得分并上传</a:t>
            </a:r>
            <a:endParaRPr lang="zh-CN" altLang="en-US" sz="1400" dirty="0"/>
          </a:p>
          <a:p>
            <a:pPr>
              <a:lnSpc>
                <a:spcPct val="150000"/>
              </a:lnSpc>
            </a:pPr>
            <a:r>
              <a:rPr lang="en-US" altLang="zh-CN" sz="1400" dirty="0"/>
              <a:t>3.</a:t>
            </a:r>
            <a:r>
              <a:rPr lang="zh-CN" altLang="en-US" sz="1400" dirty="0"/>
              <a:t>以最后上传的得分为最终覆盖率得分</a:t>
            </a:r>
            <a:endParaRPr lang="en-US" altLang="zh-CN"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圆角 18"/>
          <p:cNvSpPr/>
          <p:nvPr/>
        </p:nvSpPr>
        <p:spPr>
          <a:xfrm>
            <a:off x="810717" y="1050478"/>
            <a:ext cx="9594937" cy="430067"/>
          </a:xfrm>
          <a:prstGeom prst="round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t>评分规则</a:t>
            </a:r>
            <a:r>
              <a:rPr lang="en-US" altLang="zh-CN" dirty="0"/>
              <a:t>-</a:t>
            </a:r>
            <a:r>
              <a:rPr lang="zh-CN" altLang="en-US" dirty="0"/>
              <a:t>省赛、</a:t>
            </a:r>
            <a:r>
              <a:rPr lang="zh-CN" altLang="en-US" dirty="0"/>
              <a:t>决赛</a:t>
            </a:r>
            <a:endParaRPr lang="zh-CN" altLang="en-US" dirty="0"/>
          </a:p>
        </p:txBody>
      </p:sp>
      <p:sp>
        <p:nvSpPr>
          <p:cNvPr id="3" name="内容占位符 2"/>
          <p:cNvSpPr txBox="1"/>
          <p:nvPr/>
        </p:nvSpPr>
        <p:spPr>
          <a:xfrm>
            <a:off x="864957" y="1135122"/>
            <a:ext cx="4590093" cy="26077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1600" dirty="0"/>
              <a:t>总分 </a:t>
            </a:r>
            <a:r>
              <a:rPr lang="en-US" altLang="zh-CN" sz="1600" dirty="0"/>
              <a:t>= </a:t>
            </a:r>
            <a:r>
              <a:rPr lang="zh-CN" altLang="en-US" sz="1600" dirty="0"/>
              <a:t> 检错率评价</a:t>
            </a:r>
            <a:r>
              <a:rPr lang="en-US" altLang="zh-CN" sz="1600" dirty="0"/>
              <a:t>*50% + </a:t>
            </a:r>
            <a:r>
              <a:rPr lang="zh-CN" altLang="en-US" sz="1600" dirty="0"/>
              <a:t>覆盖率评价 </a:t>
            </a:r>
            <a:r>
              <a:rPr lang="en-US" altLang="zh-CN" sz="1600" dirty="0"/>
              <a:t>*50% </a:t>
            </a:r>
            <a:endParaRPr lang="en-US" altLang="zh-CN" sz="1600" dirty="0"/>
          </a:p>
        </p:txBody>
      </p:sp>
      <p:sp>
        <p:nvSpPr>
          <p:cNvPr id="5" name="文本框 4"/>
          <p:cNvSpPr txBox="1"/>
          <p:nvPr/>
        </p:nvSpPr>
        <p:spPr>
          <a:xfrm>
            <a:off x="1066508" y="1833717"/>
            <a:ext cx="9434085" cy="338554"/>
          </a:xfrm>
          <a:prstGeom prst="rect">
            <a:avLst/>
          </a:prstGeom>
          <a:noFill/>
        </p:spPr>
        <p:txBody>
          <a:bodyPr wrap="square">
            <a:spAutoFit/>
          </a:bodyPr>
          <a:lstStyle/>
          <a:p>
            <a:pPr marL="285750" indent="-285750">
              <a:buFont typeface="Wingdings" panose="05000000000000000000" pitchFamily="2" charset="2"/>
              <a:buChar char="Ø"/>
            </a:pPr>
            <a:r>
              <a:rPr lang="zh-CN" altLang="en-US" sz="1600" b="1" dirty="0"/>
              <a:t>检错率评价</a:t>
            </a:r>
            <a:r>
              <a:rPr lang="zh-CN" altLang="en-US" sz="1600" dirty="0"/>
              <a:t>：审查选手上传的</a:t>
            </a:r>
            <a:r>
              <a:rPr lang="en-US" altLang="zh-CN" sz="1600" dirty="0"/>
              <a:t>【</a:t>
            </a:r>
            <a:r>
              <a:rPr lang="zh-CN" altLang="en-US" sz="1600" dirty="0"/>
              <a:t>问题报告</a:t>
            </a:r>
            <a:r>
              <a:rPr lang="en-US" altLang="zh-CN" sz="1600" dirty="0"/>
              <a:t>】</a:t>
            </a:r>
            <a:r>
              <a:rPr lang="zh-CN" altLang="en-US" sz="1600" dirty="0"/>
              <a:t>，以报告中描述的问题为依据进行评分。</a:t>
            </a:r>
            <a:endParaRPr lang="en-US" altLang="zh-CN" sz="1600" dirty="0"/>
          </a:p>
        </p:txBody>
      </p:sp>
      <p:sp>
        <p:nvSpPr>
          <p:cNvPr id="20" name="内容占位符 2"/>
          <p:cNvSpPr txBox="1"/>
          <p:nvPr/>
        </p:nvSpPr>
        <p:spPr>
          <a:xfrm>
            <a:off x="3123490" y="2376686"/>
            <a:ext cx="5499099" cy="84666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1400" dirty="0"/>
              <a:t>功能测试：检查软件功能是否符合需求描述</a:t>
            </a:r>
            <a:endParaRPr lang="en-US" altLang="zh-CN" sz="1400" dirty="0"/>
          </a:p>
          <a:p>
            <a:r>
              <a:rPr lang="zh-CN" altLang="en-US" sz="1400" dirty="0"/>
              <a:t>接口测试：考察待测件与其他模块之间的接口是否符合需求描述。</a:t>
            </a:r>
            <a:endParaRPr lang="en-US" altLang="zh-CN" sz="1400" dirty="0"/>
          </a:p>
          <a:p>
            <a:r>
              <a:rPr lang="zh-CN" altLang="en-US" sz="1400" dirty="0"/>
              <a:t>性能测试：考察软件完成功能的时间指标。</a:t>
            </a:r>
            <a:endParaRPr lang="zh-CN" altLang="en-US" sz="1400" dirty="0"/>
          </a:p>
        </p:txBody>
      </p:sp>
      <p:sp>
        <p:nvSpPr>
          <p:cNvPr id="25" name="内容占位符 2"/>
          <p:cNvSpPr txBox="1"/>
          <p:nvPr/>
        </p:nvSpPr>
        <p:spPr>
          <a:xfrm>
            <a:off x="3123490" y="3569372"/>
            <a:ext cx="5320120" cy="84666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1400" dirty="0"/>
              <a:t>只填写发现的缺陷（没有缺陷不用填写）</a:t>
            </a:r>
            <a:endParaRPr lang="en-US" altLang="zh-CN" sz="1400" dirty="0"/>
          </a:p>
          <a:p>
            <a:endParaRPr lang="en-US" altLang="zh-CN" sz="1400" dirty="0"/>
          </a:p>
          <a:p>
            <a:pPr marL="0" indent="0">
              <a:buNone/>
            </a:pPr>
            <a:endParaRPr lang="en-US" altLang="zh-CN" sz="1400" dirty="0"/>
          </a:p>
          <a:p>
            <a:r>
              <a:rPr lang="zh-CN" altLang="en-US" sz="1400" dirty="0"/>
              <a:t>性能测试需求提交具体的结果数据</a:t>
            </a:r>
            <a:endParaRPr lang="zh-CN" altLang="en-US" sz="1400" dirty="0"/>
          </a:p>
        </p:txBody>
      </p:sp>
      <p:sp>
        <p:nvSpPr>
          <p:cNvPr id="27" name="文本框 26"/>
          <p:cNvSpPr txBox="1"/>
          <p:nvPr/>
        </p:nvSpPr>
        <p:spPr>
          <a:xfrm>
            <a:off x="1730663" y="3586783"/>
            <a:ext cx="1536992" cy="307777"/>
          </a:xfrm>
          <a:prstGeom prst="rect">
            <a:avLst/>
          </a:prstGeom>
          <a:noFill/>
        </p:spPr>
        <p:txBody>
          <a:bodyPr wrap="square">
            <a:spAutoFit/>
          </a:bodyPr>
          <a:lstStyle>
            <a:defPPr>
              <a:defRPr lang="zh-CN"/>
            </a:defPPr>
            <a:lvl1pPr>
              <a:defRPr sz="1400" b="1"/>
            </a:lvl1pPr>
          </a:lstStyle>
          <a:p>
            <a:r>
              <a:rPr lang="zh-CN" altLang="en-US" dirty="0"/>
              <a:t>测试报告填写</a:t>
            </a:r>
            <a:endParaRPr lang="zh-CN" altLang="en-US" dirty="0"/>
          </a:p>
        </p:txBody>
      </p:sp>
      <p:sp>
        <p:nvSpPr>
          <p:cNvPr id="28" name="文本框 27"/>
          <p:cNvSpPr txBox="1"/>
          <p:nvPr/>
        </p:nvSpPr>
        <p:spPr>
          <a:xfrm>
            <a:off x="1730663" y="2354039"/>
            <a:ext cx="1349087" cy="307777"/>
          </a:xfrm>
          <a:prstGeom prst="rect">
            <a:avLst/>
          </a:prstGeom>
          <a:noFill/>
        </p:spPr>
        <p:txBody>
          <a:bodyPr wrap="square">
            <a:spAutoFit/>
          </a:bodyPr>
          <a:lstStyle/>
          <a:p>
            <a:r>
              <a:rPr lang="zh-CN" altLang="en-US" sz="1400" b="1" dirty="0"/>
              <a:t>测试要求</a:t>
            </a:r>
            <a:endParaRPr lang="zh-CN" altLang="en-US" sz="1400" b="1" dirty="0"/>
          </a:p>
        </p:txBody>
      </p:sp>
      <p:sp>
        <p:nvSpPr>
          <p:cNvPr id="29" name="文本框 28"/>
          <p:cNvSpPr txBox="1"/>
          <p:nvPr/>
        </p:nvSpPr>
        <p:spPr>
          <a:xfrm>
            <a:off x="1066508" y="5515134"/>
            <a:ext cx="6388392" cy="338554"/>
          </a:xfrm>
          <a:prstGeom prst="rect">
            <a:avLst/>
          </a:prstGeom>
          <a:noFill/>
        </p:spPr>
        <p:txBody>
          <a:bodyPr wrap="square">
            <a:spAutoFit/>
          </a:bodyPr>
          <a:lstStyle/>
          <a:p>
            <a:pPr marL="285750" indent="-285750">
              <a:buFont typeface="Wingdings" panose="05000000000000000000" pitchFamily="2" charset="2"/>
              <a:buChar char="Ø"/>
            </a:pPr>
            <a:r>
              <a:rPr lang="zh-CN" altLang="en-US" sz="1600" b="1" dirty="0"/>
              <a:t>覆盖率评价</a:t>
            </a:r>
            <a:r>
              <a:rPr lang="zh-CN" altLang="en-US" sz="1600" dirty="0"/>
              <a:t>：</a:t>
            </a:r>
            <a:endParaRPr lang="en-US" altLang="zh-CN" sz="1600" dirty="0"/>
          </a:p>
        </p:txBody>
      </p:sp>
      <p:grpSp>
        <p:nvGrpSpPr>
          <p:cNvPr id="12" name="组合 11"/>
          <p:cNvGrpSpPr/>
          <p:nvPr/>
        </p:nvGrpSpPr>
        <p:grpSpPr>
          <a:xfrm>
            <a:off x="3406566" y="4841666"/>
            <a:ext cx="7833310" cy="509214"/>
            <a:chOff x="3386138" y="5152118"/>
            <a:chExt cx="7833310" cy="509214"/>
          </a:xfrm>
        </p:grpSpPr>
        <p:pic>
          <p:nvPicPr>
            <p:cNvPr id="8" name="图片 7"/>
            <p:cNvPicPr>
              <a:picLocks noChangeAspect="1"/>
            </p:cNvPicPr>
            <p:nvPr/>
          </p:nvPicPr>
          <p:blipFill rotWithShape="1">
            <a:blip r:embed="rId1"/>
            <a:srcRect t="-319" b="1"/>
            <a:stretch>
              <a:fillRect/>
            </a:stretch>
          </p:blipFill>
          <p:spPr>
            <a:xfrm>
              <a:off x="3426994" y="5171546"/>
              <a:ext cx="7721804" cy="489786"/>
            </a:xfrm>
            <a:prstGeom prst="rect">
              <a:avLst/>
            </a:prstGeom>
          </p:spPr>
        </p:pic>
        <p:pic>
          <p:nvPicPr>
            <p:cNvPr id="11" name="图片 10"/>
            <p:cNvPicPr>
              <a:picLocks noChangeAspect="1"/>
            </p:cNvPicPr>
            <p:nvPr/>
          </p:nvPicPr>
          <p:blipFill>
            <a:blip r:embed="rId2"/>
            <a:stretch>
              <a:fillRect/>
            </a:stretch>
          </p:blipFill>
          <p:spPr>
            <a:xfrm>
              <a:off x="3386138" y="5152118"/>
              <a:ext cx="7833310" cy="45719"/>
            </a:xfrm>
            <a:prstGeom prst="rect">
              <a:avLst/>
            </a:prstGeom>
          </p:spPr>
        </p:pic>
      </p:grpSp>
      <p:grpSp>
        <p:nvGrpSpPr>
          <p:cNvPr id="14" name="组合 13"/>
          <p:cNvGrpSpPr/>
          <p:nvPr/>
        </p:nvGrpSpPr>
        <p:grpSpPr>
          <a:xfrm>
            <a:off x="3426994" y="4032299"/>
            <a:ext cx="7833310" cy="352726"/>
            <a:chOff x="3426994" y="4324879"/>
            <a:chExt cx="7833310" cy="352726"/>
          </a:xfrm>
        </p:grpSpPr>
        <p:pic>
          <p:nvPicPr>
            <p:cNvPr id="6" name="图片 5"/>
            <p:cNvPicPr>
              <a:picLocks noChangeAspect="1"/>
            </p:cNvPicPr>
            <p:nvPr/>
          </p:nvPicPr>
          <p:blipFill>
            <a:blip r:embed="rId3"/>
            <a:stretch>
              <a:fillRect/>
            </a:stretch>
          </p:blipFill>
          <p:spPr>
            <a:xfrm>
              <a:off x="3426994" y="4324879"/>
              <a:ext cx="7792454" cy="336830"/>
            </a:xfrm>
            <a:prstGeom prst="rect">
              <a:avLst/>
            </a:prstGeom>
          </p:spPr>
        </p:pic>
        <p:pic>
          <p:nvPicPr>
            <p:cNvPr id="13" name="图片 12"/>
            <p:cNvPicPr>
              <a:picLocks noChangeAspect="1"/>
            </p:cNvPicPr>
            <p:nvPr/>
          </p:nvPicPr>
          <p:blipFill>
            <a:blip r:embed="rId2"/>
            <a:stretch>
              <a:fillRect/>
            </a:stretch>
          </p:blipFill>
          <p:spPr>
            <a:xfrm>
              <a:off x="3426994" y="4631886"/>
              <a:ext cx="7833310" cy="45719"/>
            </a:xfrm>
            <a:prstGeom prst="rect">
              <a:avLst/>
            </a:prstGeom>
          </p:spPr>
        </p:pic>
      </p:grpSp>
      <p:sp>
        <p:nvSpPr>
          <p:cNvPr id="16" name="文本框 15"/>
          <p:cNvSpPr txBox="1"/>
          <p:nvPr/>
        </p:nvSpPr>
        <p:spPr>
          <a:xfrm>
            <a:off x="2541014" y="5483809"/>
            <a:ext cx="7833310" cy="704232"/>
          </a:xfrm>
          <a:prstGeom prst="rect">
            <a:avLst/>
          </a:prstGeom>
          <a:noFill/>
        </p:spPr>
        <p:txBody>
          <a:bodyPr wrap="square">
            <a:spAutoFit/>
          </a:bodyPr>
          <a:lstStyle/>
          <a:p>
            <a:pPr>
              <a:lnSpc>
                <a:spcPct val="150000"/>
              </a:lnSpc>
            </a:pPr>
            <a:r>
              <a:rPr lang="zh-CN" altLang="en-US" sz="1400" dirty="0"/>
              <a:t>计算参赛选手编写的测试脚本对待测件的代码覆盖率，选手可以实时查看测试覆盖率得分并上传，以最后上传的得分为最终覆盖率得分。</a:t>
            </a:r>
            <a:endParaRPr lang="en-US" altLang="zh-CN"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1"/>
          <a:stretch>
            <a:fillRect/>
          </a:stretch>
        </p:blipFill>
        <p:spPr>
          <a:xfrm>
            <a:off x="1605968" y="2770257"/>
            <a:ext cx="1875816" cy="1936818"/>
          </a:xfrm>
          <a:prstGeom prst="rect">
            <a:avLst/>
          </a:prstGeom>
        </p:spPr>
      </p:pic>
      <p:sp>
        <p:nvSpPr>
          <p:cNvPr id="2" name="标题 1"/>
          <p:cNvSpPr>
            <a:spLocks noGrp="1"/>
          </p:cNvSpPr>
          <p:nvPr>
            <p:ph type="title"/>
          </p:nvPr>
        </p:nvSpPr>
        <p:spPr/>
        <p:txBody>
          <a:bodyPr/>
          <a:lstStyle/>
          <a:p>
            <a:r>
              <a:rPr lang="zh-CN" altLang="en-US" dirty="0"/>
              <a:t>使用工具</a:t>
            </a:r>
            <a:endParaRPr lang="zh-CN" altLang="en-US" dirty="0"/>
          </a:p>
        </p:txBody>
      </p:sp>
      <p:sp>
        <p:nvSpPr>
          <p:cNvPr id="4" name="文本框 3"/>
          <p:cNvSpPr txBox="1"/>
          <p:nvPr/>
        </p:nvSpPr>
        <p:spPr>
          <a:xfrm>
            <a:off x="1544186" y="1597583"/>
            <a:ext cx="3850796" cy="738664"/>
          </a:xfrm>
          <a:prstGeom prst="rect">
            <a:avLst/>
          </a:prstGeom>
          <a:noFill/>
        </p:spPr>
        <p:txBody>
          <a:bodyPr wrap="square">
            <a:spAutoFit/>
          </a:bodyPr>
          <a:lstStyle/>
          <a:p>
            <a:r>
              <a:rPr lang="zh-CN" altLang="en-US" sz="1400" dirty="0"/>
              <a:t>功能：</a:t>
            </a:r>
            <a:endParaRPr lang="en-US" altLang="zh-CN" sz="1400" dirty="0"/>
          </a:p>
          <a:p>
            <a:r>
              <a:rPr lang="zh-CN" altLang="en-US" sz="1400" dirty="0"/>
              <a:t>搭建被测件需要的测试环境，编写测试脚本</a:t>
            </a:r>
            <a:endParaRPr lang="en-US" altLang="zh-CN" sz="1400" dirty="0"/>
          </a:p>
          <a:p>
            <a:r>
              <a:rPr lang="zh-CN" altLang="en-US" sz="1400" dirty="0"/>
              <a:t>输出测试结果，并记录测试数据</a:t>
            </a:r>
            <a:endParaRPr lang="zh-CN" altLang="en-US" sz="1400" dirty="0"/>
          </a:p>
        </p:txBody>
      </p:sp>
      <p:sp>
        <p:nvSpPr>
          <p:cNvPr id="6" name="文本框 5"/>
          <p:cNvSpPr txBox="1"/>
          <p:nvPr/>
        </p:nvSpPr>
        <p:spPr>
          <a:xfrm>
            <a:off x="1544186" y="1135918"/>
            <a:ext cx="1364325" cy="369332"/>
          </a:xfrm>
          <a:prstGeom prst="rect">
            <a:avLst/>
          </a:prstGeom>
          <a:noFill/>
        </p:spPr>
        <p:txBody>
          <a:bodyPr wrap="square">
            <a:spAutoFit/>
          </a:bodyPr>
          <a:lstStyle/>
          <a:p>
            <a:r>
              <a:rPr lang="en-US" altLang="zh-CN" dirty="0" err="1">
                <a:latin typeface="+mn-ea"/>
              </a:rPr>
              <a:t>ETest</a:t>
            </a:r>
            <a:endParaRPr lang="en-US" altLang="zh-CN" dirty="0">
              <a:latin typeface="+mn-ea"/>
            </a:endParaRPr>
          </a:p>
        </p:txBody>
      </p:sp>
      <p:sp>
        <p:nvSpPr>
          <p:cNvPr id="15" name="文本框 14"/>
          <p:cNvSpPr txBox="1"/>
          <p:nvPr/>
        </p:nvSpPr>
        <p:spPr>
          <a:xfrm>
            <a:off x="6758405" y="1135918"/>
            <a:ext cx="2058269" cy="369332"/>
          </a:xfrm>
          <a:prstGeom prst="rect">
            <a:avLst/>
          </a:prstGeom>
          <a:noFill/>
        </p:spPr>
        <p:txBody>
          <a:bodyPr wrap="square">
            <a:spAutoFit/>
          </a:bodyPr>
          <a:lstStyle/>
          <a:p>
            <a:r>
              <a:rPr lang="en-US" altLang="zh-CN" dirty="0"/>
              <a:t>VSPD</a:t>
            </a:r>
            <a:endParaRPr lang="zh-CN" altLang="en-US" dirty="0"/>
          </a:p>
        </p:txBody>
      </p:sp>
      <p:pic>
        <p:nvPicPr>
          <p:cNvPr id="19" name="图片 18"/>
          <p:cNvPicPr>
            <a:picLocks noChangeAspect="1"/>
          </p:cNvPicPr>
          <p:nvPr/>
        </p:nvPicPr>
        <p:blipFill>
          <a:blip r:embed="rId2"/>
          <a:stretch>
            <a:fillRect/>
          </a:stretch>
        </p:blipFill>
        <p:spPr>
          <a:xfrm>
            <a:off x="6872705" y="2036566"/>
            <a:ext cx="3387726" cy="2315590"/>
          </a:xfrm>
          <a:prstGeom prst="rect">
            <a:avLst/>
          </a:prstGeom>
        </p:spPr>
      </p:pic>
      <p:pic>
        <p:nvPicPr>
          <p:cNvPr id="8" name="图片 7"/>
          <p:cNvPicPr>
            <a:picLocks noChangeAspect="1"/>
          </p:cNvPicPr>
          <p:nvPr/>
        </p:nvPicPr>
        <p:blipFill>
          <a:blip r:embed="rId3"/>
          <a:stretch>
            <a:fillRect/>
          </a:stretch>
        </p:blipFill>
        <p:spPr>
          <a:xfrm>
            <a:off x="820688" y="1135918"/>
            <a:ext cx="540210" cy="588442"/>
          </a:xfrm>
          <a:prstGeom prst="rect">
            <a:avLst/>
          </a:prstGeom>
        </p:spPr>
      </p:pic>
      <p:sp>
        <p:nvSpPr>
          <p:cNvPr id="9" name="矩形 8"/>
          <p:cNvSpPr/>
          <p:nvPr/>
        </p:nvSpPr>
        <p:spPr>
          <a:xfrm>
            <a:off x="9680989" y="2808286"/>
            <a:ext cx="455774" cy="241300"/>
          </a:xfrm>
          <a:prstGeom prst="rect">
            <a:avLst/>
          </a:prstGeom>
          <a:noFill/>
          <a:ln w="38100">
            <a:solidFill>
              <a:srgbClr val="8DC21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6872705" y="2683013"/>
            <a:ext cx="1079115" cy="808725"/>
          </a:xfrm>
          <a:prstGeom prst="rect">
            <a:avLst/>
          </a:prstGeom>
          <a:noFill/>
          <a:ln w="38100">
            <a:solidFill>
              <a:srgbClr val="8DC21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对话气泡: 圆角矩形 15"/>
          <p:cNvSpPr/>
          <p:nvPr/>
        </p:nvSpPr>
        <p:spPr>
          <a:xfrm>
            <a:off x="3683028" y="4432715"/>
            <a:ext cx="1408698" cy="328772"/>
          </a:xfrm>
          <a:prstGeom prst="wedgeRoundRectCallout">
            <a:avLst>
              <a:gd name="adj1" fmla="val -66750"/>
              <a:gd name="adj2" fmla="val -7501"/>
              <a:gd name="adj3" fmla="val 16667"/>
            </a:avLst>
          </a:prstGeom>
          <a:solidFill>
            <a:schemeClr val="accent6">
              <a:lumMod val="20000"/>
              <a:lumOff val="80000"/>
            </a:schemeClr>
          </a:solidFill>
          <a:ln>
            <a:noFill/>
          </a:ln>
        </p:spPr>
        <p:style>
          <a:lnRef idx="1">
            <a:schemeClr val="accent6"/>
          </a:lnRef>
          <a:fillRef idx="2">
            <a:schemeClr val="accent6"/>
          </a:fillRef>
          <a:effectRef idx="1">
            <a:schemeClr val="accent6"/>
          </a:effectRef>
          <a:fontRef idx="minor">
            <a:schemeClr val="dk1"/>
          </a:fontRef>
        </p:style>
        <p:txBody>
          <a:bodyPr rtlCol="0" anchor="ctr"/>
          <a:lstStyle/>
          <a:p>
            <a:r>
              <a:rPr lang="zh-CN" altLang="en-US" sz="1050" dirty="0">
                <a:solidFill>
                  <a:srgbClr val="000000"/>
                </a:solidFill>
                <a:latin typeface="+mn-ea"/>
              </a:rPr>
              <a:t>运行方式</a:t>
            </a:r>
            <a:endParaRPr lang="en-US" altLang="zh-CN" sz="1050" dirty="0">
              <a:solidFill>
                <a:srgbClr val="000000"/>
              </a:solidFill>
              <a:latin typeface="+mn-ea"/>
            </a:endParaRPr>
          </a:p>
        </p:txBody>
      </p:sp>
      <p:sp>
        <p:nvSpPr>
          <p:cNvPr id="18" name="对话气泡: 圆角矩形 17"/>
          <p:cNvSpPr/>
          <p:nvPr/>
        </p:nvSpPr>
        <p:spPr>
          <a:xfrm>
            <a:off x="3525743" y="2765522"/>
            <a:ext cx="1641250" cy="568128"/>
          </a:xfrm>
          <a:prstGeom prst="wedgeRoundRectCallout">
            <a:avLst>
              <a:gd name="adj1" fmla="val -71013"/>
              <a:gd name="adj2" fmla="val -23384"/>
              <a:gd name="adj3" fmla="val 16667"/>
            </a:avLst>
          </a:prstGeom>
          <a:solidFill>
            <a:schemeClr val="accent6">
              <a:lumMod val="20000"/>
              <a:lumOff val="80000"/>
            </a:schemeClr>
          </a:solidFill>
          <a:ln>
            <a:noFill/>
          </a:ln>
        </p:spPr>
        <p:style>
          <a:lnRef idx="1">
            <a:schemeClr val="accent6"/>
          </a:lnRef>
          <a:fillRef idx="2">
            <a:schemeClr val="accent6"/>
          </a:fillRef>
          <a:effectRef idx="1">
            <a:schemeClr val="accent6"/>
          </a:effectRef>
          <a:fontRef idx="minor">
            <a:schemeClr val="dk1"/>
          </a:fontRef>
        </p:style>
        <p:txBody>
          <a:bodyPr rtlCol="0" anchor="ctr"/>
          <a:lstStyle/>
          <a:p>
            <a:r>
              <a:rPr lang="zh-CN" altLang="en-US" sz="1050" dirty="0"/>
              <a:t>注意：存放路径不能有中文，不能有全角标点符号，如全角括号（）</a:t>
            </a:r>
            <a:endParaRPr lang="en-US" altLang="zh-CN" sz="1050" dirty="0">
              <a:solidFill>
                <a:srgbClr val="000000"/>
              </a:solidFill>
              <a:latin typeface="+mn-ea"/>
            </a:endParaRPr>
          </a:p>
        </p:txBody>
      </p:sp>
      <p:pic>
        <p:nvPicPr>
          <p:cNvPr id="27" name="图片 26"/>
          <p:cNvPicPr>
            <a:picLocks noChangeAspect="1"/>
          </p:cNvPicPr>
          <p:nvPr/>
        </p:nvPicPr>
        <p:blipFill>
          <a:blip r:embed="rId4"/>
          <a:stretch>
            <a:fillRect/>
          </a:stretch>
        </p:blipFill>
        <p:spPr>
          <a:xfrm>
            <a:off x="6015455" y="1131691"/>
            <a:ext cx="742950" cy="904875"/>
          </a:xfrm>
          <a:prstGeom prst="rect">
            <a:avLst/>
          </a:prstGeom>
        </p:spPr>
      </p:pic>
      <p:sp>
        <p:nvSpPr>
          <p:cNvPr id="29" name="文本框 28"/>
          <p:cNvSpPr txBox="1"/>
          <p:nvPr/>
        </p:nvSpPr>
        <p:spPr>
          <a:xfrm>
            <a:off x="6764406" y="1630412"/>
            <a:ext cx="3144470" cy="307777"/>
          </a:xfrm>
          <a:prstGeom prst="rect">
            <a:avLst/>
          </a:prstGeom>
          <a:noFill/>
        </p:spPr>
        <p:txBody>
          <a:bodyPr wrap="square">
            <a:spAutoFit/>
          </a:bodyPr>
          <a:lstStyle>
            <a:defPPr>
              <a:defRPr lang="zh-CN"/>
            </a:defPPr>
            <a:lvl1pPr>
              <a:defRPr sz="1400"/>
            </a:lvl1pPr>
          </a:lstStyle>
          <a:p>
            <a:r>
              <a:rPr lang="zh-CN" altLang="en-US" dirty="0"/>
              <a:t>生成</a:t>
            </a:r>
            <a:r>
              <a:rPr lang="en-US" altLang="zh-CN" dirty="0"/>
              <a:t>3</a:t>
            </a:r>
            <a:r>
              <a:rPr lang="zh-CN" altLang="en-US" dirty="0"/>
              <a:t>对虚拟串口</a:t>
            </a:r>
            <a:endParaRPr lang="zh-CN" altLang="en-US" dirty="0"/>
          </a:p>
        </p:txBody>
      </p:sp>
      <p:pic>
        <p:nvPicPr>
          <p:cNvPr id="31" name="图片 30"/>
          <p:cNvPicPr>
            <a:picLocks noChangeAspect="1"/>
          </p:cNvPicPr>
          <p:nvPr/>
        </p:nvPicPr>
        <p:blipFill rotWithShape="1">
          <a:blip r:embed="rId5"/>
          <a:srcRect b="3997"/>
          <a:stretch>
            <a:fillRect/>
          </a:stretch>
        </p:blipFill>
        <p:spPr>
          <a:xfrm>
            <a:off x="6820901" y="4681103"/>
            <a:ext cx="2529690" cy="1331116"/>
          </a:xfrm>
          <a:prstGeom prst="rect">
            <a:avLst/>
          </a:prstGeom>
        </p:spPr>
      </p:pic>
      <p:sp>
        <p:nvSpPr>
          <p:cNvPr id="32" name="对话气泡: 圆角矩形 31"/>
          <p:cNvSpPr/>
          <p:nvPr/>
        </p:nvSpPr>
        <p:spPr>
          <a:xfrm>
            <a:off x="9413313" y="4845050"/>
            <a:ext cx="1169177" cy="328772"/>
          </a:xfrm>
          <a:prstGeom prst="wedgeRoundRectCallout">
            <a:avLst>
              <a:gd name="adj1" fmla="val -70333"/>
              <a:gd name="adj2" fmla="val 31128"/>
              <a:gd name="adj3" fmla="val 16667"/>
            </a:avLst>
          </a:prstGeom>
          <a:solidFill>
            <a:schemeClr val="accent6">
              <a:lumMod val="20000"/>
              <a:lumOff val="80000"/>
            </a:schemeClr>
          </a:solidFill>
          <a:ln>
            <a:noFill/>
          </a:ln>
        </p:spPr>
        <p:style>
          <a:lnRef idx="1">
            <a:schemeClr val="accent6"/>
          </a:lnRef>
          <a:fillRef idx="2">
            <a:schemeClr val="accent6"/>
          </a:fillRef>
          <a:effectRef idx="1">
            <a:schemeClr val="accent6"/>
          </a:effectRef>
          <a:fontRef idx="minor">
            <a:schemeClr val="dk1"/>
          </a:fontRef>
        </p:style>
        <p:txBody>
          <a:bodyPr rtlCol="0" anchor="ctr"/>
          <a:lstStyle/>
          <a:p>
            <a:r>
              <a:rPr lang="zh-CN" altLang="en-US" sz="1050" dirty="0">
                <a:solidFill>
                  <a:srgbClr val="000000"/>
                </a:solidFill>
                <a:latin typeface="+mn-ea"/>
              </a:rPr>
              <a:t>设备管理器</a:t>
            </a:r>
            <a:endParaRPr lang="en-US" altLang="zh-CN" sz="1050" dirty="0">
              <a:solidFill>
                <a:srgbClr val="000000"/>
              </a:solidFill>
              <a:latin typeface="+mn-ea"/>
            </a:endParaRPr>
          </a:p>
        </p:txBody>
      </p:sp>
      <p:sp>
        <p:nvSpPr>
          <p:cNvPr id="34" name="矩形 33"/>
          <p:cNvSpPr/>
          <p:nvPr/>
        </p:nvSpPr>
        <p:spPr>
          <a:xfrm>
            <a:off x="7102299" y="4845050"/>
            <a:ext cx="2136951" cy="895350"/>
          </a:xfrm>
          <a:prstGeom prst="rect">
            <a:avLst/>
          </a:prstGeom>
          <a:noFill/>
          <a:ln w="38100">
            <a:solidFill>
              <a:srgbClr val="8DC21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赛前准备</a:t>
            </a:r>
            <a:endParaRPr lang="zh-CN" altLang="en-US" dirty="0"/>
          </a:p>
        </p:txBody>
      </p:sp>
      <p:sp>
        <p:nvSpPr>
          <p:cNvPr id="3" name="内容占位符 2"/>
          <p:cNvSpPr txBox="1"/>
          <p:nvPr/>
        </p:nvSpPr>
        <p:spPr>
          <a:xfrm>
            <a:off x="1168401" y="1024467"/>
            <a:ext cx="7380036" cy="4176183"/>
          </a:xfrm>
          <a:prstGeom prst="rect">
            <a:avLst/>
          </a:prstGeom>
        </p:spPr>
        <p:txBody>
          <a:bodyPr>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1800" dirty="0"/>
              <a:t>注册慕测网站用户</a:t>
            </a:r>
            <a:endParaRPr lang="en-US" altLang="zh-CN" sz="1800" dirty="0"/>
          </a:p>
          <a:p>
            <a:r>
              <a:rPr lang="zh-CN" altLang="en-US" sz="1800" dirty="0"/>
              <a:t>下载工具：</a:t>
            </a:r>
            <a:endParaRPr lang="en-US" altLang="zh-CN" sz="1800" dirty="0"/>
          </a:p>
          <a:p>
            <a:pPr marL="0" indent="0">
              <a:buNone/>
            </a:pPr>
            <a:r>
              <a:rPr lang="en-US" altLang="zh-CN" sz="1800" dirty="0"/>
              <a:t>             </a:t>
            </a:r>
            <a:r>
              <a:rPr lang="en-US" altLang="zh-CN" sz="1800" dirty="0" err="1"/>
              <a:t>ETest</a:t>
            </a:r>
            <a:r>
              <a:rPr lang="zh-CN" altLang="en-US" sz="1800" dirty="0"/>
              <a:t>：在慕测网站下载</a:t>
            </a:r>
            <a:endParaRPr lang="en-US" altLang="zh-CN" sz="1800" dirty="0"/>
          </a:p>
          <a:p>
            <a:endParaRPr lang="en-US" altLang="zh-CN" sz="1800" dirty="0"/>
          </a:p>
          <a:p>
            <a:endParaRPr lang="en-US" altLang="zh-CN" sz="1800" dirty="0"/>
          </a:p>
          <a:p>
            <a:endParaRPr lang="en-US" altLang="zh-CN" sz="1800" dirty="0"/>
          </a:p>
          <a:p>
            <a:endParaRPr lang="en-US" altLang="zh-CN" sz="1800" dirty="0"/>
          </a:p>
          <a:p>
            <a:pPr marL="0" indent="0">
              <a:buNone/>
            </a:pPr>
            <a:r>
              <a:rPr lang="en-US" altLang="zh-CN" sz="1800" dirty="0"/>
              <a:t>             </a:t>
            </a:r>
            <a:r>
              <a:rPr lang="en-US" altLang="zh-CN" sz="1800" dirty="0" err="1"/>
              <a:t>Vspd</a:t>
            </a:r>
            <a:r>
              <a:rPr lang="zh-CN" altLang="en-US" sz="1800" dirty="0"/>
              <a:t>：需要考生自行百度下载</a:t>
            </a:r>
            <a:endParaRPr lang="en-US" altLang="zh-CN" sz="1800" dirty="0"/>
          </a:p>
          <a:p>
            <a:r>
              <a:rPr lang="zh-CN" altLang="en-US" sz="1800" dirty="0"/>
              <a:t>安装、配置环境</a:t>
            </a:r>
            <a:endParaRPr lang="en-US" altLang="zh-CN" sz="1800" dirty="0"/>
          </a:p>
          <a:p>
            <a:r>
              <a:rPr lang="zh-CN" altLang="en-US" sz="1800" dirty="0"/>
              <a:t>下载练习题目</a:t>
            </a:r>
            <a:endParaRPr lang="en-US" altLang="zh-CN" sz="1800" dirty="0"/>
          </a:p>
          <a:p>
            <a:r>
              <a:rPr lang="zh-CN" altLang="en-US" sz="1800" dirty="0"/>
              <a:t>导入示例工程</a:t>
            </a:r>
            <a:endParaRPr lang="en-US" altLang="zh-CN" sz="1800" dirty="0"/>
          </a:p>
          <a:p>
            <a:r>
              <a:rPr lang="zh-CN" altLang="en-US" sz="1800" dirty="0"/>
              <a:t>执行测试</a:t>
            </a:r>
            <a:endParaRPr lang="en-US" altLang="zh-CN" sz="1800" dirty="0"/>
          </a:p>
          <a:p>
            <a:r>
              <a:rPr lang="zh-CN" altLang="en-US" sz="1800" dirty="0"/>
              <a:t>发现问题，报告问题</a:t>
            </a:r>
            <a:endParaRPr lang="en-US" altLang="zh-CN" sz="1800" dirty="0"/>
          </a:p>
          <a:p>
            <a:r>
              <a:rPr lang="zh-CN" altLang="en-US" sz="1800" dirty="0"/>
              <a:t>提交分数</a:t>
            </a:r>
            <a:endParaRPr lang="en-US" altLang="zh-CN" sz="1800" dirty="0"/>
          </a:p>
        </p:txBody>
      </p:sp>
      <p:pic>
        <p:nvPicPr>
          <p:cNvPr id="5" name="图片 4"/>
          <p:cNvPicPr>
            <a:picLocks noChangeAspect="1"/>
          </p:cNvPicPr>
          <p:nvPr/>
        </p:nvPicPr>
        <p:blipFill rotWithShape="1">
          <a:blip r:embed="rId1"/>
          <a:srcRect l="4018"/>
          <a:stretch>
            <a:fillRect/>
          </a:stretch>
        </p:blipFill>
        <p:spPr>
          <a:xfrm>
            <a:off x="4105254" y="2077355"/>
            <a:ext cx="1707450" cy="673300"/>
          </a:xfrm>
          <a:prstGeom prst="rect">
            <a:avLst/>
          </a:prstGeom>
        </p:spPr>
      </p:pic>
      <p:pic>
        <p:nvPicPr>
          <p:cNvPr id="7" name="图片 6"/>
          <p:cNvPicPr>
            <a:picLocks noChangeAspect="1"/>
          </p:cNvPicPr>
          <p:nvPr/>
        </p:nvPicPr>
        <p:blipFill>
          <a:blip r:embed="rId2"/>
          <a:stretch>
            <a:fillRect/>
          </a:stretch>
        </p:blipFill>
        <p:spPr>
          <a:xfrm>
            <a:off x="2502748" y="2130673"/>
            <a:ext cx="983126" cy="566664"/>
          </a:xfrm>
          <a:prstGeom prst="rect">
            <a:avLst/>
          </a:prstGeom>
        </p:spPr>
      </p:pic>
      <p:sp>
        <p:nvSpPr>
          <p:cNvPr id="8" name="箭头: 右 7"/>
          <p:cNvSpPr/>
          <p:nvPr/>
        </p:nvSpPr>
        <p:spPr>
          <a:xfrm>
            <a:off x="3570292" y="2236205"/>
            <a:ext cx="324485" cy="23191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比赛开始</a:t>
            </a:r>
            <a:r>
              <a:rPr lang="en-US" altLang="zh-CN" dirty="0"/>
              <a:t>(1/2)</a:t>
            </a:r>
            <a:endParaRPr lang="zh-CN" altLang="en-US" dirty="0"/>
          </a:p>
        </p:txBody>
      </p:sp>
      <p:sp>
        <p:nvSpPr>
          <p:cNvPr id="3" name="内容占位符 2"/>
          <p:cNvSpPr txBox="1"/>
          <p:nvPr/>
        </p:nvSpPr>
        <p:spPr>
          <a:xfrm>
            <a:off x="929005" y="814917"/>
            <a:ext cx="5699894" cy="37258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sz="1600" dirty="0"/>
              <a:t>1. </a:t>
            </a:r>
            <a:r>
              <a:rPr lang="zh-CN" altLang="en-US" sz="1600" dirty="0"/>
              <a:t>登录慕测网站：</a:t>
            </a:r>
            <a:r>
              <a:rPr lang="en-US" altLang="zh-CN" sz="1600" dirty="0"/>
              <a:t>http://www.mooctest.net</a:t>
            </a:r>
            <a:endParaRPr lang="en-US" altLang="zh-CN" sz="1600" dirty="0"/>
          </a:p>
          <a:p>
            <a:endParaRPr lang="zh-CN" altLang="en-US" sz="1600" dirty="0"/>
          </a:p>
        </p:txBody>
      </p:sp>
      <p:pic>
        <p:nvPicPr>
          <p:cNvPr id="5" name="图片 4"/>
          <p:cNvPicPr>
            <a:picLocks noChangeAspect="1"/>
          </p:cNvPicPr>
          <p:nvPr/>
        </p:nvPicPr>
        <p:blipFill rotWithShape="1">
          <a:blip r:embed="rId1"/>
          <a:srcRect b="8705"/>
          <a:stretch>
            <a:fillRect/>
          </a:stretch>
        </p:blipFill>
        <p:spPr>
          <a:xfrm>
            <a:off x="1982787" y="1187502"/>
            <a:ext cx="4873626" cy="2451048"/>
          </a:xfrm>
          <a:prstGeom prst="rect">
            <a:avLst/>
          </a:prstGeom>
        </p:spPr>
      </p:pic>
      <p:pic>
        <p:nvPicPr>
          <p:cNvPr id="7" name="图片 6"/>
          <p:cNvPicPr>
            <a:picLocks noChangeAspect="1"/>
          </p:cNvPicPr>
          <p:nvPr/>
        </p:nvPicPr>
        <p:blipFill rotWithShape="1">
          <a:blip r:embed="rId2"/>
          <a:srcRect b="17259"/>
          <a:stretch>
            <a:fillRect/>
          </a:stretch>
        </p:blipFill>
        <p:spPr>
          <a:xfrm>
            <a:off x="1978844" y="4193626"/>
            <a:ext cx="4991100" cy="2275880"/>
          </a:xfrm>
          <a:prstGeom prst="rect">
            <a:avLst/>
          </a:prstGeom>
        </p:spPr>
      </p:pic>
      <p:sp>
        <p:nvSpPr>
          <p:cNvPr id="9" name="文本框 8"/>
          <p:cNvSpPr txBox="1"/>
          <p:nvPr/>
        </p:nvSpPr>
        <p:spPr>
          <a:xfrm>
            <a:off x="930277" y="3784304"/>
            <a:ext cx="6162674" cy="338554"/>
          </a:xfrm>
          <a:prstGeom prst="rect">
            <a:avLst/>
          </a:prstGeom>
          <a:noFill/>
        </p:spPr>
        <p:txBody>
          <a:bodyPr wrap="square">
            <a:spAutoFit/>
          </a:bodyPr>
          <a:lstStyle/>
          <a:p>
            <a:r>
              <a:rPr lang="en-US" altLang="zh-CN" sz="1600" dirty="0"/>
              <a:t>2. </a:t>
            </a:r>
            <a:r>
              <a:rPr lang="zh-CN" altLang="en-US" sz="1600" dirty="0"/>
              <a:t>打开</a:t>
            </a:r>
            <a:r>
              <a:rPr lang="zh-CN" altLang="en-US" sz="1600"/>
              <a:t>比赛题目，获取</a:t>
            </a:r>
            <a:r>
              <a:rPr lang="zh-CN" altLang="en-US" sz="1600" dirty="0"/>
              <a:t>个人密钥</a:t>
            </a:r>
            <a:endParaRPr lang="en-US" altLang="zh-CN" sz="1600" dirty="0"/>
          </a:p>
        </p:txBody>
      </p:sp>
      <p:sp>
        <p:nvSpPr>
          <p:cNvPr id="18" name="矩形 17"/>
          <p:cNvSpPr/>
          <p:nvPr/>
        </p:nvSpPr>
        <p:spPr>
          <a:xfrm>
            <a:off x="2686618" y="6184704"/>
            <a:ext cx="1282700" cy="214034"/>
          </a:xfrm>
          <a:prstGeom prst="rect">
            <a:avLst/>
          </a:prstGeom>
          <a:noFill/>
          <a:ln w="38100">
            <a:solidFill>
              <a:srgbClr val="8DC21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比赛开始</a:t>
            </a:r>
            <a:r>
              <a:rPr lang="en-US" altLang="zh-CN" dirty="0"/>
              <a:t>(2/2)</a:t>
            </a:r>
            <a:endParaRPr lang="zh-CN" altLang="en-US" dirty="0"/>
          </a:p>
        </p:txBody>
      </p:sp>
      <p:pic>
        <p:nvPicPr>
          <p:cNvPr id="4" name="图片 3"/>
          <p:cNvPicPr>
            <a:picLocks noChangeAspect="1"/>
          </p:cNvPicPr>
          <p:nvPr/>
        </p:nvPicPr>
        <p:blipFill>
          <a:blip r:embed="rId1"/>
          <a:stretch>
            <a:fillRect/>
          </a:stretch>
        </p:blipFill>
        <p:spPr>
          <a:xfrm>
            <a:off x="1714597" y="1309252"/>
            <a:ext cx="1282700" cy="1558368"/>
          </a:xfrm>
          <a:prstGeom prst="rect">
            <a:avLst/>
          </a:prstGeom>
        </p:spPr>
      </p:pic>
      <p:sp>
        <p:nvSpPr>
          <p:cNvPr id="5" name="文本框 4"/>
          <p:cNvSpPr txBox="1"/>
          <p:nvPr/>
        </p:nvSpPr>
        <p:spPr>
          <a:xfrm>
            <a:off x="929005" y="3545276"/>
            <a:ext cx="3678237" cy="313932"/>
          </a:xfrm>
          <a:prstGeom prst="rect">
            <a:avLst/>
          </a:prstGeom>
        </p:spPr>
        <p:txBody>
          <a:bodyPr/>
          <a:lstStyle>
            <a:defPPr>
              <a:defRPr lang="zh-CN"/>
            </a:defPPr>
            <a:lvl1pPr indent="0">
              <a:lnSpc>
                <a:spcPct val="90000"/>
              </a:lnSpc>
              <a:spcBef>
                <a:spcPts val="1000"/>
              </a:spcBef>
              <a:buFont typeface="Arial" panose="020B0604020202020204" pitchFamily="34" charset="0"/>
              <a:buNone/>
              <a:defRPr sz="1600"/>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altLang="zh-CN" dirty="0"/>
              <a:t>4. </a:t>
            </a:r>
            <a:r>
              <a:rPr lang="zh-CN" altLang="en-US" dirty="0"/>
              <a:t>打开项目，开始测试</a:t>
            </a:r>
            <a:endParaRPr lang="en-US" altLang="zh-CN" dirty="0"/>
          </a:p>
        </p:txBody>
      </p:sp>
      <p:pic>
        <p:nvPicPr>
          <p:cNvPr id="6" name="图片 5"/>
          <p:cNvPicPr>
            <a:picLocks noChangeAspect="1"/>
          </p:cNvPicPr>
          <p:nvPr/>
        </p:nvPicPr>
        <p:blipFill>
          <a:blip r:embed="rId2"/>
          <a:stretch>
            <a:fillRect/>
          </a:stretch>
        </p:blipFill>
        <p:spPr>
          <a:xfrm>
            <a:off x="7431957" y="1358873"/>
            <a:ext cx="4214092" cy="1802382"/>
          </a:xfrm>
          <a:prstGeom prst="rect">
            <a:avLst/>
          </a:prstGeom>
        </p:spPr>
      </p:pic>
      <p:sp>
        <p:nvSpPr>
          <p:cNvPr id="7" name="矩形 6"/>
          <p:cNvSpPr/>
          <p:nvPr/>
        </p:nvSpPr>
        <p:spPr>
          <a:xfrm>
            <a:off x="9353550" y="1515300"/>
            <a:ext cx="652262" cy="214034"/>
          </a:xfrm>
          <a:prstGeom prst="rect">
            <a:avLst/>
          </a:prstGeom>
          <a:noFill/>
          <a:ln w="38100">
            <a:solidFill>
              <a:srgbClr val="8DC21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1714597" y="2656524"/>
            <a:ext cx="1282700" cy="214034"/>
          </a:xfrm>
          <a:prstGeom prst="rect">
            <a:avLst/>
          </a:prstGeom>
          <a:noFill/>
          <a:ln w="38100">
            <a:solidFill>
              <a:srgbClr val="8DC21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内容占位符 2"/>
          <p:cNvSpPr txBox="1"/>
          <p:nvPr/>
        </p:nvSpPr>
        <p:spPr>
          <a:xfrm>
            <a:off x="929004" y="801137"/>
            <a:ext cx="7122795" cy="37258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sz="1600" dirty="0"/>
              <a:t>3. </a:t>
            </a:r>
            <a:r>
              <a:rPr lang="zh-CN" altLang="en-US" sz="1600" dirty="0"/>
              <a:t>打开</a:t>
            </a:r>
            <a:r>
              <a:rPr lang="en-US" altLang="zh-CN" sz="1600" dirty="0" err="1"/>
              <a:t>Etest</a:t>
            </a:r>
            <a:r>
              <a:rPr lang="zh-CN" altLang="en-US" sz="1600" dirty="0"/>
              <a:t>，打开考试客户端，输入密钥，下载</a:t>
            </a:r>
            <a:r>
              <a:rPr lang="en-US" altLang="zh-CN" sz="1600" dirty="0"/>
              <a:t>【</a:t>
            </a:r>
            <a:r>
              <a:rPr lang="zh-CN" altLang="en-US" sz="1600" dirty="0"/>
              <a:t>被测件</a:t>
            </a:r>
            <a:r>
              <a:rPr lang="en-US" altLang="zh-CN" sz="1600" dirty="0"/>
              <a:t>】</a:t>
            </a:r>
            <a:r>
              <a:rPr lang="zh-CN" altLang="en-US" sz="1600" dirty="0"/>
              <a:t>及其他文档</a:t>
            </a:r>
            <a:endParaRPr lang="zh-CN" altLang="en-US" sz="1600" dirty="0"/>
          </a:p>
        </p:txBody>
      </p:sp>
      <p:pic>
        <p:nvPicPr>
          <p:cNvPr id="11" name="图片 10"/>
          <p:cNvPicPr>
            <a:picLocks noChangeAspect="1"/>
          </p:cNvPicPr>
          <p:nvPr/>
        </p:nvPicPr>
        <p:blipFill>
          <a:blip r:embed="rId3"/>
          <a:stretch>
            <a:fillRect/>
          </a:stretch>
        </p:blipFill>
        <p:spPr>
          <a:xfrm>
            <a:off x="1765965" y="4033344"/>
            <a:ext cx="2081664" cy="2291182"/>
          </a:xfrm>
          <a:prstGeom prst="rect">
            <a:avLst/>
          </a:prstGeom>
        </p:spPr>
      </p:pic>
      <p:sp>
        <p:nvSpPr>
          <p:cNvPr id="12" name="矩形 11"/>
          <p:cNvSpPr/>
          <p:nvPr/>
        </p:nvSpPr>
        <p:spPr>
          <a:xfrm>
            <a:off x="2241079" y="5178936"/>
            <a:ext cx="1546061" cy="257050"/>
          </a:xfrm>
          <a:prstGeom prst="rect">
            <a:avLst/>
          </a:prstGeom>
          <a:noFill/>
          <a:ln w="38100">
            <a:solidFill>
              <a:srgbClr val="8DC21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 name="图片 12"/>
          <p:cNvPicPr>
            <a:picLocks noChangeAspect="1"/>
          </p:cNvPicPr>
          <p:nvPr/>
        </p:nvPicPr>
        <p:blipFill>
          <a:blip r:embed="rId4"/>
          <a:stretch>
            <a:fillRect/>
          </a:stretch>
        </p:blipFill>
        <p:spPr>
          <a:xfrm>
            <a:off x="3679796" y="1553400"/>
            <a:ext cx="3164912" cy="1314086"/>
          </a:xfrm>
          <a:prstGeom prst="rect">
            <a:avLst/>
          </a:prstGeom>
        </p:spPr>
      </p:pic>
      <p:sp>
        <p:nvSpPr>
          <p:cNvPr id="14" name="箭头: 右 13"/>
          <p:cNvSpPr/>
          <p:nvPr/>
        </p:nvSpPr>
        <p:spPr>
          <a:xfrm>
            <a:off x="3127488" y="2121251"/>
            <a:ext cx="388307" cy="277626"/>
          </a:xfrm>
          <a:prstGeom prst="rightArrow">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5" name="箭头: 右 14"/>
          <p:cNvSpPr/>
          <p:nvPr/>
        </p:nvSpPr>
        <p:spPr>
          <a:xfrm>
            <a:off x="6991804" y="2071630"/>
            <a:ext cx="388307" cy="277626"/>
          </a:xfrm>
          <a:prstGeom prst="rightArrow">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3" name="文本框 2"/>
          <p:cNvSpPr txBox="1"/>
          <p:nvPr/>
        </p:nvSpPr>
        <p:spPr>
          <a:xfrm>
            <a:off x="8401050" y="818994"/>
            <a:ext cx="3359150" cy="307777"/>
          </a:xfrm>
          <a:prstGeom prst="rect">
            <a:avLst/>
          </a:prstGeom>
          <a:noFill/>
        </p:spPr>
        <p:txBody>
          <a:bodyPr wrap="square">
            <a:spAutoFit/>
          </a:bodyPr>
          <a:lstStyle/>
          <a:p>
            <a:r>
              <a:rPr lang="zh-CN" altLang="en-US" sz="1400" dirty="0"/>
              <a:t>注：打开</a:t>
            </a:r>
            <a:r>
              <a:rPr lang="en-US" altLang="zh-CN" sz="1400" dirty="0" err="1"/>
              <a:t>Etest</a:t>
            </a:r>
            <a:r>
              <a:rPr lang="zh-CN" altLang="en-US" sz="1400" dirty="0"/>
              <a:t>时，请勿禁用网络通信</a:t>
            </a:r>
            <a:endParaRPr lang="zh-CN" alt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txBox="1"/>
          <p:nvPr/>
        </p:nvSpPr>
        <p:spPr>
          <a:xfrm>
            <a:off x="1055977" y="1189392"/>
            <a:ext cx="7757824" cy="56825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1400" dirty="0"/>
              <a:t>打开被测件（不要关闭，关闭后覆盖率清零）</a:t>
            </a:r>
            <a:endParaRPr lang="en-US" altLang="zh-CN" sz="1400" dirty="0"/>
          </a:p>
          <a:p>
            <a:r>
              <a:rPr lang="zh-CN" altLang="en-US" sz="1400" dirty="0"/>
              <a:t>获取成绩，提交成绩（可多次提交，以最后一次提交的成绩为准）。</a:t>
            </a:r>
            <a:endParaRPr lang="en-US" altLang="zh-CN" sz="1400" dirty="0"/>
          </a:p>
          <a:p>
            <a:endParaRPr lang="en-US" altLang="zh-CN" sz="1400" dirty="0"/>
          </a:p>
          <a:p>
            <a:endParaRPr lang="en-US" altLang="zh-CN" sz="1400" dirty="0"/>
          </a:p>
          <a:p>
            <a:endParaRPr lang="en-US" altLang="zh-CN" sz="1400" dirty="0"/>
          </a:p>
          <a:p>
            <a:endParaRPr lang="en-US" altLang="zh-CN" sz="1400" dirty="0"/>
          </a:p>
          <a:p>
            <a:endParaRPr lang="en-US" altLang="zh-CN" sz="1400" dirty="0"/>
          </a:p>
          <a:p>
            <a:endParaRPr lang="en-US" altLang="zh-CN" sz="1400" dirty="0"/>
          </a:p>
        </p:txBody>
      </p:sp>
      <p:pic>
        <p:nvPicPr>
          <p:cNvPr id="6" name="图片 5"/>
          <p:cNvPicPr>
            <a:picLocks noChangeAspect="1"/>
          </p:cNvPicPr>
          <p:nvPr/>
        </p:nvPicPr>
        <p:blipFill rotWithShape="1">
          <a:blip r:embed="rId1"/>
          <a:srcRect l="889" t="27871" r="1060" b="25643"/>
          <a:stretch>
            <a:fillRect/>
          </a:stretch>
        </p:blipFill>
        <p:spPr>
          <a:xfrm>
            <a:off x="1960149" y="1874785"/>
            <a:ext cx="5679476" cy="2019502"/>
          </a:xfrm>
          <a:prstGeom prst="rect">
            <a:avLst/>
          </a:prstGeom>
        </p:spPr>
      </p:pic>
      <p:sp>
        <p:nvSpPr>
          <p:cNvPr id="2" name="标题 1"/>
          <p:cNvSpPr>
            <a:spLocks noGrp="1"/>
          </p:cNvSpPr>
          <p:nvPr>
            <p:ph type="title"/>
          </p:nvPr>
        </p:nvSpPr>
        <p:spPr/>
        <p:txBody>
          <a:bodyPr/>
          <a:lstStyle/>
          <a:p>
            <a:r>
              <a:rPr lang="zh-CN" altLang="en-US"/>
              <a:t>比赛中，比赛</a:t>
            </a:r>
            <a:r>
              <a:rPr lang="zh-CN" altLang="en-US" dirty="0"/>
              <a:t>结束前</a:t>
            </a:r>
            <a:endParaRPr lang="zh-CN" altLang="en-US" dirty="0"/>
          </a:p>
        </p:txBody>
      </p:sp>
      <p:sp>
        <p:nvSpPr>
          <p:cNvPr id="7" name="内容占位符 2"/>
          <p:cNvSpPr txBox="1"/>
          <p:nvPr/>
        </p:nvSpPr>
        <p:spPr>
          <a:xfrm>
            <a:off x="1055683" y="5186343"/>
            <a:ext cx="2722274" cy="33855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1400" dirty="0"/>
              <a:t>上传</a:t>
            </a:r>
            <a:r>
              <a:rPr lang="en-US" altLang="zh-CN" sz="1400" dirty="0"/>
              <a:t>【</a:t>
            </a:r>
            <a:r>
              <a:rPr lang="zh-CN" altLang="en-US" sz="1400" dirty="0"/>
              <a:t>问题报告</a:t>
            </a:r>
            <a:r>
              <a:rPr lang="en-US" altLang="zh-CN" sz="1400" dirty="0"/>
              <a:t>】</a:t>
            </a:r>
            <a:endParaRPr lang="en-US" altLang="zh-CN" sz="1400" dirty="0"/>
          </a:p>
        </p:txBody>
      </p:sp>
      <p:sp>
        <p:nvSpPr>
          <p:cNvPr id="8" name="文本框 7"/>
          <p:cNvSpPr txBox="1"/>
          <p:nvPr/>
        </p:nvSpPr>
        <p:spPr>
          <a:xfrm>
            <a:off x="628359" y="4701661"/>
            <a:ext cx="2292643" cy="338554"/>
          </a:xfrm>
          <a:prstGeom prst="rect">
            <a:avLst/>
          </a:prstGeom>
          <a:noFill/>
        </p:spPr>
        <p:txBody>
          <a:bodyPr wrap="square">
            <a:spAutoFit/>
          </a:bodyPr>
          <a:lstStyle/>
          <a:p>
            <a:pPr marL="285750" indent="-285750">
              <a:buFont typeface="Wingdings" panose="05000000000000000000" pitchFamily="2" charset="2"/>
              <a:buChar char="Ø"/>
            </a:pPr>
            <a:r>
              <a:rPr lang="zh-CN" altLang="en-US" sz="1600" b="1" dirty="0"/>
              <a:t>比赛结束前</a:t>
            </a:r>
            <a:endParaRPr lang="en-US" altLang="zh-CN" sz="1600" dirty="0"/>
          </a:p>
        </p:txBody>
      </p:sp>
      <p:sp>
        <p:nvSpPr>
          <p:cNvPr id="9" name="文本框 8"/>
          <p:cNvSpPr txBox="1"/>
          <p:nvPr/>
        </p:nvSpPr>
        <p:spPr>
          <a:xfrm>
            <a:off x="628359" y="852983"/>
            <a:ext cx="4508792" cy="338554"/>
          </a:xfrm>
          <a:prstGeom prst="rect">
            <a:avLst/>
          </a:prstGeom>
          <a:noFill/>
        </p:spPr>
        <p:txBody>
          <a:bodyPr wrap="square">
            <a:spAutoFit/>
          </a:bodyPr>
          <a:lstStyle/>
          <a:p>
            <a:pPr marL="285750" indent="-285750">
              <a:buFont typeface="Wingdings" panose="05000000000000000000" pitchFamily="2" charset="2"/>
              <a:buChar char="Ø"/>
            </a:pPr>
            <a:r>
              <a:rPr lang="zh-CN" altLang="en-US" sz="1600" b="1" dirty="0"/>
              <a:t>比赛中</a:t>
            </a:r>
            <a:endParaRPr lang="en-US" altLang="zh-CN" sz="1600" dirty="0"/>
          </a:p>
        </p:txBody>
      </p:sp>
      <p:pic>
        <p:nvPicPr>
          <p:cNvPr id="5" name="图片 4"/>
          <p:cNvPicPr>
            <a:picLocks noChangeAspect="1"/>
          </p:cNvPicPr>
          <p:nvPr/>
        </p:nvPicPr>
        <p:blipFill>
          <a:blip r:embed="rId2"/>
          <a:stretch>
            <a:fillRect/>
          </a:stretch>
        </p:blipFill>
        <p:spPr>
          <a:xfrm>
            <a:off x="5107706" y="5186343"/>
            <a:ext cx="1976588" cy="1494222"/>
          </a:xfrm>
          <a:prstGeom prst="rect">
            <a:avLst/>
          </a:prstGeom>
        </p:spPr>
      </p:pic>
      <p:cxnSp>
        <p:nvCxnSpPr>
          <p:cNvPr id="10" name="直接箭头连接符 9"/>
          <p:cNvCxnSpPr/>
          <p:nvPr/>
        </p:nvCxnSpPr>
        <p:spPr>
          <a:xfrm>
            <a:off x="2882755" y="5355620"/>
            <a:ext cx="2527445" cy="1117199"/>
          </a:xfrm>
          <a:prstGeom prst="straightConnector1">
            <a:avLst/>
          </a:prstGeom>
          <a:noFill/>
          <a:ln w="38100">
            <a:solidFill>
              <a:srgbClr val="8DC21F"/>
            </a:solidFill>
            <a:tailEnd type="triangle"/>
          </a:ln>
        </p:spPr>
        <p:style>
          <a:lnRef idx="2">
            <a:schemeClr val="accent1">
              <a:shade val="15000"/>
            </a:schemeClr>
          </a:lnRef>
          <a:fillRef idx="1">
            <a:schemeClr val="accent1"/>
          </a:fillRef>
          <a:effectRef idx="0">
            <a:schemeClr val="accent1"/>
          </a:effectRef>
          <a:fontRef idx="minor">
            <a:schemeClr val="lt1"/>
          </a:fontRef>
        </p:style>
      </p:cxnSp>
      <p:sp>
        <p:nvSpPr>
          <p:cNvPr id="21" name="文本框 20"/>
          <p:cNvSpPr txBox="1"/>
          <p:nvPr/>
        </p:nvSpPr>
        <p:spPr>
          <a:xfrm>
            <a:off x="1055683" y="4011428"/>
            <a:ext cx="6162674" cy="286232"/>
          </a:xfrm>
          <a:prstGeom prst="rect">
            <a:avLst/>
          </a:prstGeom>
        </p:spPr>
        <p:txBody>
          <a:bodyPr/>
          <a:lstStyle>
            <a:defPPr>
              <a:defRPr lang="zh-CN"/>
            </a:defPPr>
            <a:lvl1pPr marL="228600" indent="-228600">
              <a:lnSpc>
                <a:spcPct val="90000"/>
              </a:lnSpc>
              <a:spcBef>
                <a:spcPts val="1000"/>
              </a:spcBef>
              <a:buFont typeface="Arial" panose="020B0604020202020204" pitchFamily="34" charset="0"/>
              <a:buChar char="•"/>
              <a:defRPr sz="1400"/>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zh-CN" altLang="en-US" dirty="0"/>
              <a:t>记录</a:t>
            </a:r>
            <a:r>
              <a:rPr lang="en-US" altLang="zh-CN" dirty="0"/>
              <a:t>【</a:t>
            </a:r>
            <a:r>
              <a:rPr lang="zh-CN" altLang="en-US" dirty="0"/>
              <a:t>问题报告</a:t>
            </a:r>
            <a:r>
              <a:rPr lang="en-US" altLang="zh-CN" dirty="0"/>
              <a:t>】</a:t>
            </a:r>
            <a:r>
              <a:rPr lang="zh-CN" altLang="en-US" dirty="0"/>
              <a:t> </a:t>
            </a:r>
            <a:r>
              <a:rPr lang="en-US" altLang="zh-CN" dirty="0"/>
              <a:t>(*.xlsx)</a:t>
            </a:r>
            <a:endParaRPr lang="zh-CN" alt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ym typeface="+mn-ea"/>
              </a:rPr>
              <a:t>学习</a:t>
            </a:r>
            <a:r>
              <a:rPr lang="en-US" altLang="zh-CN" dirty="0">
                <a:sym typeface="+mn-ea"/>
              </a:rPr>
              <a:t>ETest_</a:t>
            </a:r>
            <a:r>
              <a:rPr lang="zh-CN" altLang="en-US" dirty="0"/>
              <a:t>帮助文档</a:t>
            </a:r>
            <a:endParaRPr lang="zh-CN" altLang="en-US" dirty="0"/>
          </a:p>
        </p:txBody>
      </p:sp>
      <p:pic>
        <p:nvPicPr>
          <p:cNvPr id="8" name="图片 7"/>
          <p:cNvPicPr>
            <a:picLocks noChangeAspect="1"/>
          </p:cNvPicPr>
          <p:nvPr/>
        </p:nvPicPr>
        <p:blipFill rotWithShape="1">
          <a:blip r:embed="rId1"/>
          <a:srcRect r="68793"/>
          <a:stretch>
            <a:fillRect/>
          </a:stretch>
        </p:blipFill>
        <p:spPr>
          <a:xfrm>
            <a:off x="4514617" y="1142286"/>
            <a:ext cx="3162765" cy="5417309"/>
          </a:xfrm>
          <a:prstGeom prst="rect">
            <a:avLst/>
          </a:prstGeom>
          <a:ln w="38100">
            <a:solidFill>
              <a:srgbClr val="92D050"/>
            </a:solidFill>
          </a:ln>
        </p:spPr>
      </p:pic>
      <p:pic>
        <p:nvPicPr>
          <p:cNvPr id="4" name="图片 3"/>
          <p:cNvPicPr>
            <a:picLocks noChangeAspect="1"/>
          </p:cNvPicPr>
          <p:nvPr/>
        </p:nvPicPr>
        <p:blipFill rotWithShape="1">
          <a:blip r:embed="rId2"/>
          <a:srcRect l="65205" r="4632" b="20859"/>
          <a:stretch>
            <a:fillRect/>
          </a:stretch>
        </p:blipFill>
        <p:spPr>
          <a:xfrm>
            <a:off x="1116920" y="908999"/>
            <a:ext cx="2235200" cy="1454877"/>
          </a:xfrm>
          <a:prstGeom prst="rect">
            <a:avLst/>
          </a:prstGeom>
        </p:spPr>
      </p:pic>
      <p:cxnSp>
        <p:nvCxnSpPr>
          <p:cNvPr id="10" name="直接箭头连接符 9"/>
          <p:cNvCxnSpPr>
            <a:stCxn id="11" idx="3"/>
          </p:cNvCxnSpPr>
          <p:nvPr/>
        </p:nvCxnSpPr>
        <p:spPr>
          <a:xfrm flipV="1">
            <a:off x="3352120" y="1334812"/>
            <a:ext cx="1162497" cy="651232"/>
          </a:xfrm>
          <a:prstGeom prst="straightConnector1">
            <a:avLst/>
          </a:prstGeom>
          <a:ln w="38100">
            <a:solidFill>
              <a:srgbClr val="8DC21F"/>
            </a:solidFill>
            <a:tailEnd type="triangle"/>
          </a:ln>
        </p:spPr>
        <p:style>
          <a:lnRef idx="1">
            <a:schemeClr val="accent1"/>
          </a:lnRef>
          <a:fillRef idx="0">
            <a:schemeClr val="accent1"/>
          </a:fillRef>
          <a:effectRef idx="0">
            <a:schemeClr val="accent1"/>
          </a:effectRef>
          <a:fontRef idx="minor">
            <a:schemeClr val="tx1"/>
          </a:fontRef>
        </p:style>
      </p:cxnSp>
      <p:sp>
        <p:nvSpPr>
          <p:cNvPr id="11" name="矩形 10"/>
          <p:cNvSpPr/>
          <p:nvPr/>
        </p:nvSpPr>
        <p:spPr>
          <a:xfrm>
            <a:off x="1116920" y="1841500"/>
            <a:ext cx="2235200" cy="289088"/>
          </a:xfrm>
          <a:prstGeom prst="rect">
            <a:avLst/>
          </a:prstGeom>
          <a:noFill/>
          <a:ln w="28575">
            <a:solidFill>
              <a:srgbClr val="8DC21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学习</a:t>
            </a:r>
            <a:r>
              <a:rPr lang="en-US" altLang="zh-CN" dirty="0"/>
              <a:t>ETest_</a:t>
            </a:r>
            <a:r>
              <a:rPr lang="zh-CN" altLang="en-US" dirty="0"/>
              <a:t>教学视频</a:t>
            </a:r>
            <a:endParaRPr lang="zh-CN" altLang="en-US" dirty="0"/>
          </a:p>
        </p:txBody>
      </p:sp>
      <p:pic>
        <p:nvPicPr>
          <p:cNvPr id="3" name="图片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592322" y="814700"/>
            <a:ext cx="4744978" cy="523184"/>
          </a:xfrm>
          <a:prstGeom prst="rect">
            <a:avLst/>
          </a:prstGeom>
        </p:spPr>
      </p:pic>
      <p:pic>
        <p:nvPicPr>
          <p:cNvPr id="8" name="图片 7"/>
          <p:cNvPicPr>
            <a:picLocks noChangeAspect="1"/>
          </p:cNvPicPr>
          <p:nvPr/>
        </p:nvPicPr>
        <p:blipFill rotWithShape="1">
          <a:blip r:embed="rId2"/>
          <a:srcRect l="8017" t="6313" b="1652"/>
          <a:stretch>
            <a:fillRect/>
          </a:stretch>
        </p:blipFill>
        <p:spPr>
          <a:xfrm>
            <a:off x="2581352" y="1934222"/>
            <a:ext cx="9304827" cy="4498328"/>
          </a:xfrm>
          <a:prstGeom prst="rect">
            <a:avLst/>
          </a:prstGeom>
        </p:spPr>
      </p:pic>
      <p:sp>
        <p:nvSpPr>
          <p:cNvPr id="11" name="文本框 10"/>
          <p:cNvSpPr txBox="1"/>
          <p:nvPr/>
        </p:nvSpPr>
        <p:spPr>
          <a:xfrm>
            <a:off x="848655" y="1516168"/>
            <a:ext cx="4358346" cy="285463"/>
          </a:xfrm>
          <a:prstGeom prst="rect">
            <a:avLst/>
          </a:prstGeom>
          <a:noFill/>
        </p:spPr>
        <p:txBody>
          <a:bodyPr wrap="square">
            <a:spAutoFit/>
          </a:bodyPr>
          <a:lstStyle>
            <a:defPPr>
              <a:defRPr lang="zh-CN"/>
            </a:defPPr>
            <a:lvl1pPr>
              <a:defRPr sz="1200">
                <a:solidFill>
                  <a:srgbClr val="000000"/>
                </a:solidFill>
                <a:latin typeface="+mn-ea"/>
              </a:defRPr>
            </a:lvl1pPr>
          </a:lstStyle>
          <a:p>
            <a:pPr>
              <a:lnSpc>
                <a:spcPts val="1500"/>
              </a:lnSpc>
            </a:pPr>
            <a:r>
              <a:rPr lang="en-US" altLang="zh-CN" sz="1400" dirty="0"/>
              <a:t>https://www.bilibili.com/video/BV1gP411W7u9/</a:t>
            </a:r>
            <a:endParaRPr lang="en-US" altLang="zh-CN" sz="1400" dirty="0"/>
          </a:p>
        </p:txBody>
      </p:sp>
      <p:pic>
        <p:nvPicPr>
          <p:cNvPr id="15" name="图片 14"/>
          <p:cNvPicPr>
            <a:picLocks noChangeAspect="1"/>
          </p:cNvPicPr>
          <p:nvPr/>
        </p:nvPicPr>
        <p:blipFill>
          <a:blip r:embed="rId3"/>
          <a:stretch>
            <a:fillRect/>
          </a:stretch>
        </p:blipFill>
        <p:spPr>
          <a:xfrm>
            <a:off x="778294" y="844516"/>
            <a:ext cx="847725" cy="447675"/>
          </a:xfrm>
          <a:prstGeom prst="rect">
            <a:avLst/>
          </a:prstGeom>
        </p:spPr>
      </p:pic>
      <p:pic>
        <p:nvPicPr>
          <p:cNvPr id="17" name="图片 16"/>
          <p:cNvPicPr>
            <a:picLocks noChangeAspect="1"/>
          </p:cNvPicPr>
          <p:nvPr/>
        </p:nvPicPr>
        <p:blipFill>
          <a:blip r:embed="rId4"/>
          <a:stretch>
            <a:fillRect/>
          </a:stretch>
        </p:blipFill>
        <p:spPr>
          <a:xfrm>
            <a:off x="848655" y="1934222"/>
            <a:ext cx="1647290" cy="1879602"/>
          </a:xfrm>
          <a:prstGeom prst="rect">
            <a:avLst/>
          </a:prstGeom>
        </p:spPr>
      </p:pic>
      <p:grpSp>
        <p:nvGrpSpPr>
          <p:cNvPr id="20" name="组合 19"/>
          <p:cNvGrpSpPr/>
          <p:nvPr/>
        </p:nvGrpSpPr>
        <p:grpSpPr>
          <a:xfrm>
            <a:off x="395828" y="901890"/>
            <a:ext cx="336550" cy="332926"/>
            <a:chOff x="368300" y="2149924"/>
            <a:chExt cx="336550" cy="332926"/>
          </a:xfrm>
        </p:grpSpPr>
        <p:sp>
          <p:nvSpPr>
            <p:cNvPr id="19" name="椭圆 18"/>
            <p:cNvSpPr/>
            <p:nvPr/>
          </p:nvSpPr>
          <p:spPr>
            <a:xfrm>
              <a:off x="368300" y="2149924"/>
              <a:ext cx="336550" cy="332926"/>
            </a:xfrm>
            <a:prstGeom prst="ellipse">
              <a:avLst/>
            </a:prstGeom>
            <a:solidFill>
              <a:srgbClr val="8DC21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p:cNvSpPr txBox="1"/>
            <p:nvPr/>
          </p:nvSpPr>
          <p:spPr>
            <a:xfrm>
              <a:off x="388414" y="2197387"/>
              <a:ext cx="296321" cy="285463"/>
            </a:xfrm>
            <a:prstGeom prst="rect">
              <a:avLst/>
            </a:prstGeom>
            <a:noFill/>
          </p:spPr>
          <p:txBody>
            <a:bodyPr wrap="square">
              <a:spAutoFit/>
            </a:bodyPr>
            <a:lstStyle>
              <a:defPPr>
                <a:defRPr lang="zh-CN"/>
              </a:defPPr>
              <a:lvl1pPr>
                <a:defRPr sz="1200">
                  <a:solidFill>
                    <a:srgbClr val="000000"/>
                  </a:solidFill>
                  <a:latin typeface="+mn-ea"/>
                </a:defRPr>
              </a:lvl1pPr>
            </a:lstStyle>
            <a:p>
              <a:pPr>
                <a:lnSpc>
                  <a:spcPts val="1500"/>
                </a:lnSpc>
              </a:pPr>
              <a:r>
                <a:rPr lang="en-US" altLang="zh-CN" sz="1400" b="1" dirty="0">
                  <a:solidFill>
                    <a:schemeClr val="bg1"/>
                  </a:solidFill>
                  <a:latin typeface="+mj-ea"/>
                  <a:ea typeface="+mj-ea"/>
                </a:rPr>
                <a:t>1</a:t>
              </a:r>
              <a:endParaRPr lang="en-US" altLang="zh-CN" sz="1400" b="1" dirty="0">
                <a:solidFill>
                  <a:schemeClr val="bg1"/>
                </a:solidFill>
                <a:latin typeface="+mj-ea"/>
                <a:ea typeface="+mj-ea"/>
              </a:endParaRPr>
            </a:p>
          </p:txBody>
        </p:sp>
      </p:grpSp>
      <p:grpSp>
        <p:nvGrpSpPr>
          <p:cNvPr id="21" name="组合 20"/>
          <p:cNvGrpSpPr/>
          <p:nvPr/>
        </p:nvGrpSpPr>
        <p:grpSpPr>
          <a:xfrm>
            <a:off x="395827" y="1470475"/>
            <a:ext cx="336550" cy="332926"/>
            <a:chOff x="368300" y="2149924"/>
            <a:chExt cx="336550" cy="332926"/>
          </a:xfrm>
        </p:grpSpPr>
        <p:sp>
          <p:nvSpPr>
            <p:cNvPr id="22" name="椭圆 21"/>
            <p:cNvSpPr/>
            <p:nvPr/>
          </p:nvSpPr>
          <p:spPr>
            <a:xfrm>
              <a:off x="368300" y="2149924"/>
              <a:ext cx="336550" cy="332926"/>
            </a:xfrm>
            <a:prstGeom prst="ellipse">
              <a:avLst/>
            </a:prstGeom>
            <a:solidFill>
              <a:srgbClr val="8DC21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框 22"/>
            <p:cNvSpPr txBox="1"/>
            <p:nvPr/>
          </p:nvSpPr>
          <p:spPr>
            <a:xfrm>
              <a:off x="388414" y="2197387"/>
              <a:ext cx="296321" cy="285463"/>
            </a:xfrm>
            <a:prstGeom prst="rect">
              <a:avLst/>
            </a:prstGeom>
            <a:noFill/>
          </p:spPr>
          <p:txBody>
            <a:bodyPr wrap="square">
              <a:spAutoFit/>
            </a:bodyPr>
            <a:lstStyle>
              <a:defPPr>
                <a:defRPr lang="zh-CN"/>
              </a:defPPr>
              <a:lvl1pPr>
                <a:defRPr sz="1200">
                  <a:solidFill>
                    <a:srgbClr val="000000"/>
                  </a:solidFill>
                  <a:latin typeface="+mn-ea"/>
                </a:defRPr>
              </a:lvl1pPr>
            </a:lstStyle>
            <a:p>
              <a:pPr>
                <a:lnSpc>
                  <a:spcPts val="1500"/>
                </a:lnSpc>
              </a:pPr>
              <a:r>
                <a:rPr lang="en-US" altLang="zh-CN" sz="1400" b="1" dirty="0">
                  <a:solidFill>
                    <a:schemeClr val="bg1"/>
                  </a:solidFill>
                  <a:latin typeface="+mj-ea"/>
                  <a:ea typeface="+mj-ea"/>
                </a:rPr>
                <a:t>2</a:t>
              </a:r>
              <a:endParaRPr lang="en-US" altLang="zh-CN" sz="1400" b="1" dirty="0">
                <a:solidFill>
                  <a:schemeClr val="bg1"/>
                </a:solidFill>
                <a:latin typeface="+mj-ea"/>
                <a:ea typeface="+mj-ea"/>
              </a:endParaRPr>
            </a:p>
          </p:txBody>
        </p:sp>
      </p:grpSp>
      <p:grpSp>
        <p:nvGrpSpPr>
          <p:cNvPr id="24" name="组合 23"/>
          <p:cNvGrpSpPr/>
          <p:nvPr/>
        </p:nvGrpSpPr>
        <p:grpSpPr>
          <a:xfrm>
            <a:off x="386868" y="2040807"/>
            <a:ext cx="336550" cy="332926"/>
            <a:chOff x="368300" y="2149924"/>
            <a:chExt cx="336550" cy="332926"/>
          </a:xfrm>
        </p:grpSpPr>
        <p:sp>
          <p:nvSpPr>
            <p:cNvPr id="25" name="椭圆 24"/>
            <p:cNvSpPr/>
            <p:nvPr/>
          </p:nvSpPr>
          <p:spPr>
            <a:xfrm>
              <a:off x="368300" y="2149924"/>
              <a:ext cx="336550" cy="332926"/>
            </a:xfrm>
            <a:prstGeom prst="ellipse">
              <a:avLst/>
            </a:prstGeom>
            <a:solidFill>
              <a:srgbClr val="8DC21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文本框 25"/>
            <p:cNvSpPr txBox="1"/>
            <p:nvPr/>
          </p:nvSpPr>
          <p:spPr>
            <a:xfrm>
              <a:off x="388414" y="2197387"/>
              <a:ext cx="296321" cy="285463"/>
            </a:xfrm>
            <a:prstGeom prst="rect">
              <a:avLst/>
            </a:prstGeom>
            <a:noFill/>
          </p:spPr>
          <p:txBody>
            <a:bodyPr wrap="square">
              <a:spAutoFit/>
            </a:bodyPr>
            <a:lstStyle>
              <a:defPPr>
                <a:defRPr lang="zh-CN"/>
              </a:defPPr>
              <a:lvl1pPr>
                <a:defRPr sz="1200">
                  <a:solidFill>
                    <a:srgbClr val="000000"/>
                  </a:solidFill>
                  <a:latin typeface="+mn-ea"/>
                </a:defRPr>
              </a:lvl1pPr>
            </a:lstStyle>
            <a:p>
              <a:pPr>
                <a:lnSpc>
                  <a:spcPts val="1500"/>
                </a:lnSpc>
              </a:pPr>
              <a:r>
                <a:rPr lang="en-US" altLang="zh-CN" sz="1400" b="1" dirty="0">
                  <a:solidFill>
                    <a:schemeClr val="bg1"/>
                  </a:solidFill>
                  <a:latin typeface="+mj-ea"/>
                  <a:ea typeface="+mj-ea"/>
                </a:rPr>
                <a:t>3</a:t>
              </a:r>
              <a:endParaRPr lang="en-US" altLang="zh-CN" sz="1400" b="1" dirty="0">
                <a:solidFill>
                  <a:schemeClr val="bg1"/>
                </a:solidFill>
                <a:latin typeface="+mj-ea"/>
                <a:ea typeface="+mj-ea"/>
              </a:endParaRPr>
            </a:p>
          </p:txBody>
        </p:sp>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9118933" y="5779483"/>
            <a:ext cx="2633796" cy="368300"/>
          </a:xfrm>
          <a:prstGeom prst="rect">
            <a:avLst/>
          </a:prstGeom>
          <a:noFill/>
        </p:spPr>
        <p:txBody>
          <a:bodyPr wrap="square" rtlCol="0">
            <a:spAutoFit/>
          </a:bodyPr>
          <a:lstStyle/>
          <a:p>
            <a:r>
              <a:rPr lang="en-US" altLang="zh-CN" dirty="0">
                <a:solidFill>
                  <a:srgbClr val="003EA2"/>
                </a:solidFill>
                <a:latin typeface="微软雅黑" panose="020B0503020204020204" charset="-122"/>
                <a:ea typeface="微软雅黑" panose="020B0503020204020204" charset="-122"/>
              </a:rPr>
              <a:t>http://etest.kiyun.com</a:t>
            </a:r>
            <a:endParaRPr lang="en-US" altLang="zh-CN" dirty="0">
              <a:solidFill>
                <a:srgbClr val="003EA2"/>
              </a:solidFill>
              <a:latin typeface="微软雅黑" panose="020B0503020204020204" charset="-122"/>
              <a:ea typeface="微软雅黑" panose="020B0503020204020204" charset="-122"/>
            </a:endParaRPr>
          </a:p>
        </p:txBody>
      </p:sp>
      <p:pic>
        <p:nvPicPr>
          <p:cNvPr id="8" name="图片 7"/>
          <p:cNvPicPr>
            <a:picLocks noChangeAspect="1"/>
          </p:cNvPicPr>
          <p:nvPr/>
        </p:nvPicPr>
        <p:blipFill rotWithShape="1">
          <a:blip r:embed="rId1"/>
          <a:srcRect l="772" t="1295"/>
          <a:stretch>
            <a:fillRect/>
          </a:stretch>
        </p:blipFill>
        <p:spPr>
          <a:xfrm>
            <a:off x="-2380" y="-1962"/>
            <a:ext cx="3313694" cy="2507876"/>
          </a:xfrm>
          <a:prstGeom prst="rect">
            <a:avLst/>
          </a:prstGeom>
        </p:spPr>
      </p:pic>
      <p:sp>
        <p:nvSpPr>
          <p:cNvPr id="9" name="矩形 8"/>
          <p:cNvSpPr/>
          <p:nvPr/>
        </p:nvSpPr>
        <p:spPr>
          <a:xfrm>
            <a:off x="3073066" y="2877259"/>
            <a:ext cx="6045867" cy="10134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7200" b="1" dirty="0">
                <a:solidFill>
                  <a:srgbClr val="003EA2"/>
                </a:solidFill>
                <a:latin typeface="+mj-ea"/>
                <a:ea typeface="+mj-ea"/>
                <a:cs typeface="+mj-ea"/>
              </a:rPr>
              <a:t>感谢您的聆听</a:t>
            </a:r>
            <a:endParaRPr lang="zh-CN" sz="7200" b="1" dirty="0">
              <a:solidFill>
                <a:srgbClr val="003EA2"/>
              </a:solidFill>
              <a:latin typeface="+mj-ea"/>
              <a:ea typeface="+mj-ea"/>
              <a:cs typeface="+mj-ea"/>
            </a:endParaRPr>
          </a:p>
        </p:txBody>
      </p:sp>
      <p:pic>
        <p:nvPicPr>
          <p:cNvPr id="19" name="图片 18"/>
          <p:cNvPicPr>
            <a:picLocks noChangeAspect="1"/>
          </p:cNvPicPr>
          <p:nvPr/>
        </p:nvPicPr>
        <p:blipFill>
          <a:blip r:embed="rId2">
            <a:duotone>
              <a:schemeClr val="accent5">
                <a:shade val="45000"/>
                <a:satMod val="135000"/>
              </a:schemeClr>
              <a:prstClr val="white"/>
            </a:duotone>
            <a:extLst>
              <a:ext uri="{28A0092B-C50C-407E-A947-70E740481C1C}">
                <a14:useLocalDpi xmlns:a14="http://schemas.microsoft.com/office/drawing/2010/main" val="0"/>
              </a:ext>
            </a:extLst>
          </a:blip>
          <a:stretch>
            <a:fillRect/>
          </a:stretch>
        </p:blipFill>
        <p:spPr>
          <a:xfrm>
            <a:off x="8795285" y="5805085"/>
            <a:ext cx="323648" cy="323648"/>
          </a:xfrm>
          <a:prstGeom prst="rect">
            <a:avLst/>
          </a:prstGeom>
        </p:spPr>
      </p:pic>
      <p:sp>
        <p:nvSpPr>
          <p:cNvPr id="25" name="矩形 24"/>
          <p:cNvSpPr/>
          <p:nvPr/>
        </p:nvSpPr>
        <p:spPr>
          <a:xfrm>
            <a:off x="3073066" y="2489891"/>
            <a:ext cx="6045867" cy="38736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600" b="1" dirty="0">
                <a:solidFill>
                  <a:schemeClr val="accent5">
                    <a:lumMod val="40000"/>
                    <a:lumOff val="60000"/>
                  </a:schemeClr>
                </a:solidFill>
                <a:latin typeface="+mj-ea"/>
                <a:ea typeface="+mj-ea"/>
                <a:cs typeface="+mj-ea"/>
              </a:rPr>
              <a:t>Thank you for listening</a:t>
            </a:r>
            <a:endParaRPr lang="zh-CN" sz="3600" b="1" dirty="0">
              <a:solidFill>
                <a:schemeClr val="accent5">
                  <a:lumMod val="40000"/>
                  <a:lumOff val="60000"/>
                </a:schemeClr>
              </a:solidFill>
              <a:latin typeface="+mj-ea"/>
              <a:ea typeface="+mj-ea"/>
              <a:cs typeface="+mj-ea"/>
            </a:endParaRPr>
          </a:p>
        </p:txBody>
      </p:sp>
    </p:spTree>
    <p:custDataLst>
      <p:tags r:id="rId3"/>
    </p:custDataLst>
  </p:cSld>
  <p:clrMapOvr>
    <a:masterClrMapping/>
  </p:clrMapOvr>
  <mc:AlternateContent xmlns:mc="http://schemas.openxmlformats.org/markup-compatibility/2006">
    <mc:Choice xmlns:p14="http://schemas.microsoft.com/office/powerpoint/2010/main" Requires="p14">
      <p:transition spd="med" p14:dur="699"/>
    </mc:Choice>
    <mc:Fallback>
      <p:transition spd="med"/>
    </mc:Fallback>
  </mc:AlternateContent>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DIAGRAM_VIRTUALLY_FRAME" val="{&quot;height&quot;:247.42448818897637,&quot;left&quot;:405.9510236220473,&quot;top&quot;:142.07551181102363,&quot;width&quot;:451.14897637795275}"/>
</p:tagLst>
</file>

<file path=ppt/tags/tag7.xml><?xml version="1.0" encoding="utf-8"?>
<p:tagLst xmlns:p="http://schemas.openxmlformats.org/presentationml/2006/main">
  <p:tag name="KSO_WM_DIAGRAM_VIRTUALLY_FRAME" val="{&quot;height&quot;:247.42448818897637,&quot;left&quot;:405.9510236220473,&quot;top&quot;:142.07551181102363,&quot;width&quot;:451.14897637795275}"/>
</p:tagLst>
</file>

<file path=ppt/tags/tag8.xml><?xml version="1.0" encoding="utf-8"?>
<p:tagLst xmlns:p="http://schemas.openxmlformats.org/presentationml/2006/main">
  <p:tag name="KSO_WM_DIAGRAM_VIRTUALLY_FRAME" val="{&quot;height&quot;:247.42448818897637,&quot;left&quot;:405.9510236220473,&quot;top&quot;:142.07551181102363,&quot;width&quot;:451.14897637795275}"/>
</p:tagLst>
</file>

<file path=ppt/tags/tag9.xml><?xml version="1.0" encoding="utf-8"?>
<p:tagLst xmlns:p="http://schemas.openxmlformats.org/presentationml/2006/main">
  <p:tag name="KSO_WM_DIAGRAM_VIRTUALLY_FRAME" val="{&quot;height&quot;:247.42448818897637,&quot;left&quot;:405.9510236220473,&quot;top&quot;:142.07551181102363,&quot;width&quot;:451.14897637795275}"/>
</p:tagLst>
</file>

<file path=ppt/tags/tag10.xml><?xml version="1.0" encoding="utf-8"?>
<p:tagLst xmlns:p="http://schemas.openxmlformats.org/presentationml/2006/main">
  <p:tag name="KSO_WM_UNIT_PLACING_PICTURE_USER_VIEWPORT" val="{&quot;height&quot;:5358.341732283465,&quot;width&quot;:5358.341732283465}"/>
</p:tagLst>
</file>

<file path=ppt/tags/tag11.xml><?xml version="1.0" encoding="utf-8"?>
<p:tagLst xmlns:p="http://schemas.openxmlformats.org/presentationml/2006/main">
  <p:tag name="KSO_WM_UNIT_PLACING_PICTURE_USER_VIEWPORT" val="{&quot;height&quot;:5358.341732283465,&quot;width&quot;:5358.341732283465}"/>
</p:tagLst>
</file>

<file path=ppt/tags/tag12.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3.xml><?xml version="1.0" encoding="utf-8"?>
<p:tagLst xmlns:p="http://schemas.openxmlformats.org/presentationml/2006/main">
  <p:tag name="commondata" val="eyJoZGlkIjoiMDkxZTNkYTE4MzcwZjBiNTE3ZTU5YTYxZWM3NjgzODM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3700</Words>
  <Application>WPS 演示</Application>
  <PresentationFormat>宽屏</PresentationFormat>
  <Paragraphs>250</Paragraphs>
  <Slides>31</Slides>
  <Notes>11</Notes>
  <HiddenSlides>0</HiddenSlides>
  <MMClips>1</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31</vt:i4>
      </vt:variant>
    </vt:vector>
  </HeadingPairs>
  <TitlesOfParts>
    <vt:vector size="43" baseType="lpstr">
      <vt:lpstr>Arial</vt:lpstr>
      <vt:lpstr>宋体</vt:lpstr>
      <vt:lpstr>Wingdings</vt:lpstr>
      <vt:lpstr>+中文标题</vt:lpstr>
      <vt:lpstr>Segoe Print</vt:lpstr>
      <vt:lpstr>微软雅黑</vt:lpstr>
      <vt:lpstr>思源黑体 CN Regular</vt:lpstr>
      <vt:lpstr>Calibri</vt:lpstr>
      <vt:lpstr>Arial Unicode MS</vt:lpstr>
      <vt:lpstr>等线</vt:lpstr>
      <vt:lpstr>黑体</vt:lpstr>
      <vt:lpstr>Office 主题</vt:lpstr>
      <vt:lpstr>           2024年软件测试认证联盟暨测试大赛师资培训 </vt:lpstr>
      <vt:lpstr>PowerPoint 演示文稿</vt:lpstr>
      <vt:lpstr>PowerPoint 演示文稿</vt:lpstr>
      <vt:lpstr>企业文化</vt:lpstr>
      <vt:lpstr>发展历程</vt:lpstr>
      <vt:lpstr>办公机构</vt:lpstr>
      <vt:lpstr>公司荣誉</vt:lpstr>
      <vt:lpstr>合作伙伴</vt:lpstr>
      <vt:lpstr>合作伙伴</vt:lpstr>
      <vt:lpstr>ETest</vt:lpstr>
      <vt:lpstr>SimuRTS</vt:lpstr>
      <vt:lpstr>SimuCard</vt:lpstr>
      <vt:lpstr>SimuDev</vt:lpstr>
      <vt:lpstr>TesterRT</vt:lpstr>
      <vt:lpstr>ETest_PT</vt:lpstr>
      <vt:lpstr>ETest_FlyCtrl</vt:lpstr>
      <vt:lpstr>ETest_Time</vt:lpstr>
      <vt:lpstr>ETest_TP</vt:lpstr>
      <vt:lpstr>PowerPoint 演示文稿</vt:lpstr>
      <vt:lpstr>嵌入式测试大赛</vt:lpstr>
      <vt:lpstr>比赛时间和测试内容</vt:lpstr>
      <vt:lpstr>评分规则-预选赛</vt:lpstr>
      <vt:lpstr>评分规则-省赛、决赛</vt:lpstr>
      <vt:lpstr>使用工具</vt:lpstr>
      <vt:lpstr>赛前准备</vt:lpstr>
      <vt:lpstr>比赛开始(1/2)</vt:lpstr>
      <vt:lpstr>比赛开始(2/2)</vt:lpstr>
      <vt:lpstr>比赛中，比赛结束前</vt:lpstr>
      <vt:lpstr>学习ETest_帮助文档</vt:lpstr>
      <vt:lpstr>学习ETest_教学视频</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定速巡航系统</dc:title>
  <dc:creator>86186</dc:creator>
  <cp:lastModifiedBy>echo</cp:lastModifiedBy>
  <cp:revision>440</cp:revision>
  <dcterms:created xsi:type="dcterms:W3CDTF">2023-07-19T06:41:00Z</dcterms:created>
  <dcterms:modified xsi:type="dcterms:W3CDTF">2024-07-22T01:27:24Z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78FB457B861740CC93DA4210B3D0F1F1_12</vt:lpwstr>
  </property>
  <property fmtid="{D5CDD505-2E9C-101B-9397-08002B2CF9AE}" pid="3" name="KSOProductBuildVer">
    <vt:lpwstr>2052-12.1.0.16929</vt:lpwstr>
  </property>
</Properties>
</file>