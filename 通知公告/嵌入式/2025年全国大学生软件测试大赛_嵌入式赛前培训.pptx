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5" r:id="rId3"/>
    <p:sldId id="498" r:id="rId5"/>
    <p:sldId id="472" r:id="rId6"/>
    <p:sldId id="474" r:id="rId7"/>
    <p:sldId id="475" r:id="rId8"/>
    <p:sldId id="534" r:id="rId9"/>
    <p:sldId id="535" r:id="rId10"/>
    <p:sldId id="569" r:id="rId11"/>
    <p:sldId id="478" r:id="rId12"/>
    <p:sldId id="481" r:id="rId13"/>
    <p:sldId id="482" r:id="rId14"/>
    <p:sldId id="483" r:id="rId15"/>
    <p:sldId id="484" r:id="rId16"/>
    <p:sldId id="476" r:id="rId17"/>
    <p:sldId id="477" r:id="rId18"/>
    <p:sldId id="487" r:id="rId19"/>
    <p:sldId id="497" r:id="rId20"/>
    <p:sldId id="536" r:id="rId21"/>
    <p:sldId id="488" r:id="rId22"/>
    <p:sldId id="489" r:id="rId23"/>
    <p:sldId id="568" r:id="rId24"/>
    <p:sldId id="496" r:id="rId25"/>
    <p:sldId id="495" r:id="rId26"/>
    <p:sldId id="471" r:id="rId27"/>
    <p:sldId id="258" r:id="rId28"/>
    <p:sldId id="275" r:id="rId29"/>
    <p:sldId id="270" r:id="rId30"/>
    <p:sldId id="271" r:id="rId31"/>
    <p:sldId id="272" r:id="rId32"/>
    <p:sldId id="259" r:id="rId33"/>
    <p:sldId id="260" r:id="rId34"/>
    <p:sldId id="261" r:id="rId35"/>
    <p:sldId id="262" r:id="rId36"/>
    <p:sldId id="263" r:id="rId37"/>
    <p:sldId id="500" r:id="rId38"/>
    <p:sldId id="265" r:id="rId39"/>
    <p:sldId id="267" r:id="rId40"/>
    <p:sldId id="494" r:id="rId41"/>
    <p:sldId id="571" r:id="rId42"/>
    <p:sldId id="585" r:id="rId43"/>
    <p:sldId id="583" r:id="rId44"/>
    <p:sldId id="572" r:id="rId45"/>
    <p:sldId id="573" r:id="rId46"/>
    <p:sldId id="574" r:id="rId47"/>
    <p:sldId id="575" r:id="rId48"/>
    <p:sldId id="576" r:id="rId49"/>
    <p:sldId id="577" r:id="rId50"/>
    <p:sldId id="578" r:id="rId51"/>
    <p:sldId id="579" r:id="rId52"/>
    <p:sldId id="584" r:id="rId53"/>
    <p:sldId id="580" r:id="rId54"/>
    <p:sldId id="581" r:id="rId55"/>
    <p:sldId id="582" r:id="rId56"/>
    <p:sldId id="570" r:id="rId57"/>
    <p:sldId id="490" r:id="rId58"/>
    <p:sldId id="491" r:id="rId59"/>
    <p:sldId id="493" r:id="rId60"/>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C21F"/>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754" autoAdjust="0"/>
    <p:restoredTop sz="96652" autoAdjust="0"/>
  </p:normalViewPr>
  <p:slideViewPr>
    <p:cSldViewPr snapToGrid="0">
      <p:cViewPr varScale="1">
        <p:scale>
          <a:sx n="160" d="100"/>
          <a:sy n="160" d="100"/>
        </p:scale>
        <p:origin x="112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gs" Target="tags/tag13.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6B056E-4FB6-44C2-8E08-71BD10AD6FC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BFA60D-CF6D-4E1F-A850-9357E97CB13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BFA60D-CF6D-4E1F-A850-9357E97CB13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4292F"/>
                </a:solidFill>
                <a:effectLst/>
                <a:latin typeface="-apple-system"/>
              </a:rPr>
              <a:t>通信协议：指双方实体完成通信或服务所必须遵循的规则和标准。它定义了通信双方之间的数据交换格式、通信方式、错误处理等方面的细节。</a:t>
            </a:r>
            <a:endParaRPr lang="en-US" altLang="zh-CN" b="0" i="0" dirty="0">
              <a:solidFill>
                <a:srgbClr val="24292F"/>
              </a:solidFill>
              <a:effectLst/>
              <a:latin typeface="-apple-system"/>
            </a:endParaRPr>
          </a:p>
          <a:p>
            <a:r>
              <a:rPr lang="en-US" altLang="zh-CN" dirty="0" err="1"/>
              <a:t>read_msg</a:t>
            </a:r>
            <a:r>
              <a:rPr lang="en-US" altLang="zh-CN" dirty="0"/>
              <a:t>=</a:t>
            </a:r>
            <a:r>
              <a:rPr lang="en-US" altLang="zh-CN" dirty="0" err="1"/>
              <a:t>read_buff+unpack</a:t>
            </a:r>
            <a:endParaRPr lang="en-US" altLang="zh-CN" dirty="0"/>
          </a:p>
          <a:p>
            <a:r>
              <a:rPr lang="en-US" altLang="zh-CN" dirty="0" err="1"/>
              <a:t>write_msg</a:t>
            </a:r>
            <a:r>
              <a:rPr lang="en-US" altLang="zh-CN" dirty="0"/>
              <a:t>=</a:t>
            </a:r>
            <a:r>
              <a:rPr lang="en-US" altLang="zh-CN" dirty="0" err="1"/>
              <a:t>pack+write_buff</a:t>
            </a:r>
            <a:endParaRPr lang="en-US" altLang="zh-CN" dirty="0"/>
          </a:p>
          <a:p>
            <a:pPr algn="l"/>
            <a:r>
              <a:rPr lang="en-US" altLang="zh-CN" b="0" i="0" dirty="0">
                <a:effectLst/>
                <a:latin typeface="-apple-system"/>
              </a:rPr>
              <a:t>pack</a:t>
            </a:r>
            <a:endParaRPr lang="en-US" altLang="zh-CN" b="0" i="0" dirty="0">
              <a:effectLst/>
              <a:latin typeface="-apple-system"/>
            </a:endParaRPr>
          </a:p>
          <a:p>
            <a:pPr algn="l"/>
            <a:r>
              <a:rPr lang="zh-CN" altLang="en-US" b="0" i="0" dirty="0">
                <a:effectLst/>
                <a:latin typeface="-apple-system"/>
              </a:rPr>
              <a:t>使用协议定义，将报文数据打包到数据缓存</a:t>
            </a:r>
            <a:endParaRPr lang="zh-CN" altLang="en-US" b="0" i="0" dirty="0">
              <a:effectLst/>
              <a:latin typeface="-apple-system"/>
            </a:endParaRPr>
          </a:p>
          <a:p>
            <a:endParaRPr lang="zh-CN" altLang="en-US" dirty="0"/>
          </a:p>
        </p:txBody>
      </p:sp>
      <p:sp>
        <p:nvSpPr>
          <p:cNvPr id="4" name="灯片编号占位符 3"/>
          <p:cNvSpPr>
            <a:spLocks noGrp="1"/>
          </p:cNvSpPr>
          <p:nvPr>
            <p:ph type="sldNum" sz="quarter" idx="5"/>
          </p:nvPr>
        </p:nvSpPr>
        <p:spPr/>
        <p:txBody>
          <a:bodyPr/>
          <a:lstStyle/>
          <a:p>
            <a:fld id="{96BFA60D-CF6D-4E1F-A850-9357E97CB13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4292F"/>
                </a:solidFill>
                <a:effectLst/>
                <a:latin typeface="-apple-system"/>
              </a:rPr>
              <a:t>通信协议：指双方实体完成通信或服务所必须遵循的规则和标准。它定义了通信双方之间的数据交换格式、通信方式、错误处理等方面的细节。</a:t>
            </a:r>
            <a:endParaRPr lang="en-US" altLang="zh-CN" b="0" i="0" dirty="0">
              <a:solidFill>
                <a:srgbClr val="24292F"/>
              </a:solidFill>
              <a:effectLst/>
              <a:latin typeface="-apple-system"/>
            </a:endParaRPr>
          </a:p>
          <a:p>
            <a:r>
              <a:rPr lang="en-US" altLang="zh-CN" dirty="0" err="1"/>
              <a:t>read_msg</a:t>
            </a:r>
            <a:r>
              <a:rPr lang="en-US" altLang="zh-CN" dirty="0"/>
              <a:t>=</a:t>
            </a:r>
            <a:r>
              <a:rPr lang="en-US" altLang="zh-CN" dirty="0" err="1"/>
              <a:t>read_buff+unpack</a:t>
            </a:r>
            <a:endParaRPr lang="en-US" altLang="zh-CN" dirty="0"/>
          </a:p>
          <a:p>
            <a:r>
              <a:rPr lang="en-US" altLang="zh-CN" dirty="0" err="1"/>
              <a:t>write_msg</a:t>
            </a:r>
            <a:r>
              <a:rPr lang="en-US" altLang="zh-CN" dirty="0"/>
              <a:t>=</a:t>
            </a:r>
            <a:r>
              <a:rPr lang="en-US" altLang="zh-CN" dirty="0" err="1"/>
              <a:t>pack+write_buff</a:t>
            </a:r>
            <a:endParaRPr lang="en-US" altLang="zh-CN" dirty="0"/>
          </a:p>
          <a:p>
            <a:pPr algn="l"/>
            <a:r>
              <a:rPr lang="en-US" altLang="zh-CN" b="0" i="0" dirty="0">
                <a:effectLst/>
                <a:latin typeface="-apple-system"/>
              </a:rPr>
              <a:t>pack</a:t>
            </a:r>
            <a:endParaRPr lang="en-US" altLang="zh-CN" b="0" i="0" dirty="0">
              <a:effectLst/>
              <a:latin typeface="-apple-system"/>
            </a:endParaRPr>
          </a:p>
          <a:p>
            <a:pPr algn="l"/>
            <a:r>
              <a:rPr lang="zh-CN" altLang="en-US" b="0" i="0" dirty="0">
                <a:effectLst/>
                <a:latin typeface="-apple-system"/>
              </a:rPr>
              <a:t>使用协议定义，将报文数据打包到数据缓存</a:t>
            </a:r>
            <a:endParaRPr lang="zh-CN" altLang="en-US" b="0" i="0" dirty="0">
              <a:effectLst/>
              <a:latin typeface="-apple-system"/>
            </a:endParaRPr>
          </a:p>
          <a:p>
            <a:endParaRPr lang="zh-CN" altLang="en-US" dirty="0"/>
          </a:p>
        </p:txBody>
      </p:sp>
      <p:sp>
        <p:nvSpPr>
          <p:cNvPr id="4" name="灯片编号占位符 3"/>
          <p:cNvSpPr>
            <a:spLocks noGrp="1"/>
          </p:cNvSpPr>
          <p:nvPr>
            <p:ph type="sldNum" sz="quarter" idx="5"/>
          </p:nvPr>
        </p:nvSpPr>
        <p:spPr/>
        <p:txBody>
          <a:bodyPr/>
          <a:lstStyle/>
          <a:p>
            <a:fld id="{96BFA60D-CF6D-4E1F-A850-9357E97CB13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仿真环境，绑定通道</a:t>
            </a:r>
            <a:endParaRPr lang="zh-CN" altLang="en-US" dirty="0"/>
          </a:p>
        </p:txBody>
      </p:sp>
      <p:sp>
        <p:nvSpPr>
          <p:cNvPr id="4" name="灯片编号占位符 3"/>
          <p:cNvSpPr>
            <a:spLocks noGrp="1"/>
          </p:cNvSpPr>
          <p:nvPr>
            <p:ph type="sldNum" sz="quarter" idx="5"/>
          </p:nvPr>
        </p:nvSpPr>
        <p:spPr/>
        <p:txBody>
          <a:bodyPr/>
          <a:lstStyle/>
          <a:p>
            <a:fld id="{96BFA60D-CF6D-4E1F-A850-9357E97CB13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一共有三大需求：功能，接口，功能</a:t>
            </a:r>
            <a:endParaRPr lang="zh-CN" altLang="en-US" dirty="0"/>
          </a:p>
        </p:txBody>
      </p:sp>
      <p:sp>
        <p:nvSpPr>
          <p:cNvPr id="4" name="灯片编号占位符 3"/>
          <p:cNvSpPr>
            <a:spLocks noGrp="1"/>
          </p:cNvSpPr>
          <p:nvPr>
            <p:ph type="sldNum" sz="quarter" idx="5"/>
          </p:nvPr>
        </p:nvSpPr>
        <p:spPr/>
        <p:txBody>
          <a:bodyPr/>
          <a:lstStyle/>
          <a:p>
            <a:fld id="{96BFA60D-CF6D-4E1F-A850-9357E97CB13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701C7B4-9605-4599-B96E-08FF27C139C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7" name="矩形 6"/>
          <p:cNvSpPr/>
          <p:nvPr userDrawn="1"/>
        </p:nvSpPr>
        <p:spPr>
          <a:xfrm>
            <a:off x="-635" y="0"/>
            <a:ext cx="12191365" cy="32600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a:latin typeface="+mj-ea"/>
              <a:ea typeface="+mj-ea"/>
              <a:cs typeface="+mj-ea"/>
            </a:endParaRPr>
          </a:p>
        </p:txBody>
      </p:sp>
      <p:sp>
        <p:nvSpPr>
          <p:cNvPr id="8" name="椭圆 7"/>
          <p:cNvSpPr/>
          <p:nvPr userDrawn="1"/>
        </p:nvSpPr>
        <p:spPr>
          <a:xfrm>
            <a:off x="4060825" y="6350"/>
            <a:ext cx="4070985" cy="4070985"/>
          </a:xfrm>
          <a:prstGeom prst="ellipse">
            <a:avLst/>
          </a:prstGeom>
          <a:solidFill>
            <a:schemeClr val="bg1"/>
          </a:solidFill>
          <a:ln>
            <a:noFill/>
          </a:ln>
          <a:effectLst>
            <a:innerShdw blurRad="63500" dist="50800" dir="13500000">
              <a:prstClr val="black">
                <a:alpha val="1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4476995" y="422018"/>
            <a:ext cx="3240000" cy="3240000"/>
          </a:xfrm>
          <a:prstGeom prst="ellipse">
            <a:avLst/>
          </a:prstGeom>
          <a:gradFill flip="none" rotWithShape="1">
            <a:gsLst>
              <a:gs pos="0">
                <a:schemeClr val="bg1">
                  <a:lumMod val="75000"/>
                </a:schemeClr>
              </a:gs>
              <a:gs pos="61000">
                <a:srgbClr val="DFDFDF">
                  <a:alpha val="100000"/>
                </a:srgbClr>
              </a:gs>
              <a:gs pos="100000">
                <a:schemeClr val="bg1"/>
              </a:gs>
            </a:gsLst>
            <a:lin ang="2700000" scaled="1"/>
            <a:tileRect/>
          </a:gradFill>
          <a:ln w="76200">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0" name="图片 9" descr="ETest-白总选中的"/>
          <p:cNvPicPr>
            <a:picLocks noChangeAspect="1"/>
          </p:cNvPicPr>
          <p:nvPr userDrawn="1"/>
        </p:nvPicPr>
        <p:blipFill>
          <a:blip r:embed="rId2"/>
          <a:stretch>
            <a:fillRect/>
          </a:stretch>
        </p:blipFill>
        <p:spPr>
          <a:xfrm>
            <a:off x="5216525" y="1111885"/>
            <a:ext cx="1760220" cy="1760220"/>
          </a:xfrm>
          <a:prstGeom prst="rect">
            <a:avLst/>
          </a:prstGeom>
        </p:spPr>
      </p:pic>
      <p:sp>
        <p:nvSpPr>
          <p:cNvPr id="11" name="矩形 10"/>
          <p:cNvSpPr/>
          <p:nvPr userDrawn="1"/>
        </p:nvSpPr>
        <p:spPr>
          <a:xfrm>
            <a:off x="635" y="3679190"/>
            <a:ext cx="12191365" cy="1970405"/>
          </a:xfrm>
          <a:prstGeom prst="rect">
            <a:avLst/>
          </a:prstGeom>
          <a:solidFill>
            <a:srgbClr val="003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dirty="0">
              <a:latin typeface="+mj-ea"/>
              <a:ea typeface="+mj-ea"/>
              <a:cs typeface="+mj-ea"/>
            </a:endParaRPr>
          </a:p>
        </p:txBody>
      </p:sp>
      <p:sp>
        <p:nvSpPr>
          <p:cNvPr id="12" name="矩形 11"/>
          <p:cNvSpPr/>
          <p:nvPr userDrawn="1"/>
        </p:nvSpPr>
        <p:spPr>
          <a:xfrm>
            <a:off x="45085" y="5782310"/>
            <a:ext cx="12191365" cy="158750"/>
          </a:xfrm>
          <a:prstGeom prst="rect">
            <a:avLst/>
          </a:prstGeom>
          <a:solidFill>
            <a:srgbClr val="8DC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userDrawn="1"/>
        </p:nvSpPr>
        <p:spPr>
          <a:xfrm>
            <a:off x="4397375" y="6184238"/>
            <a:ext cx="3397250" cy="368300"/>
          </a:xfrm>
          <a:prstGeom prst="rect">
            <a:avLst/>
          </a:prstGeom>
          <a:noFill/>
        </p:spPr>
        <p:txBody>
          <a:bodyPr wrap="square" rtlCol="0">
            <a:spAutoFit/>
          </a:bodyPr>
          <a:lstStyle/>
          <a:p>
            <a:pPr algn="ctr"/>
            <a:r>
              <a:rPr lang="en-US" altLang="zh-CN" dirty="0"/>
              <a:t>http://etest.kiyun.com</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对角圆角矩形 3"/>
          <p:cNvSpPr/>
          <p:nvPr userDrawn="1"/>
        </p:nvSpPr>
        <p:spPr>
          <a:xfrm>
            <a:off x="716915" y="132715"/>
            <a:ext cx="4306570" cy="406400"/>
          </a:xfrm>
          <a:prstGeom prst="round2DiagRect">
            <a:avLst>
              <a:gd name="adj1" fmla="val 50000"/>
              <a:gd name="adj2" fmla="val 0"/>
            </a:avLst>
          </a:prstGeom>
          <a:solidFill>
            <a:srgbClr val="8DC21F"/>
          </a:solidFill>
          <a:ln>
            <a:noFill/>
          </a:ln>
          <a:effectLst>
            <a:innerShdw blurRad="50800" dist="12700" dir="13500000">
              <a:prstClr val="black">
                <a:alpha val="25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360045" rtlCol="0" anchor="ctr"/>
          <a:lstStyle/>
          <a:p>
            <a:pPr algn="l"/>
            <a:endParaRPr lang="zh-CN" altLang="en-US" dirty="0">
              <a:solidFill>
                <a:schemeClr val="bg1"/>
              </a:solidFill>
            </a:endParaRPr>
          </a:p>
        </p:txBody>
      </p:sp>
      <p:pic>
        <p:nvPicPr>
          <p:cNvPr id="9" name="图片 8" descr="ETest-白总选中的"/>
          <p:cNvPicPr>
            <a:picLocks noChangeAspect="1"/>
          </p:cNvPicPr>
          <p:nvPr userDrawn="1"/>
        </p:nvPicPr>
        <p:blipFill>
          <a:blip r:embed="rId2"/>
          <a:stretch>
            <a:fillRect/>
          </a:stretch>
        </p:blipFill>
        <p:spPr>
          <a:xfrm>
            <a:off x="229870" y="132715"/>
            <a:ext cx="363220" cy="363220"/>
          </a:xfrm>
          <a:prstGeom prst="rect">
            <a:avLst/>
          </a:prstGeom>
        </p:spPr>
      </p:pic>
      <p:sp>
        <p:nvSpPr>
          <p:cNvPr id="2" name="标题 1"/>
          <p:cNvSpPr>
            <a:spLocks noGrp="1"/>
          </p:cNvSpPr>
          <p:nvPr>
            <p:ph type="title"/>
          </p:nvPr>
        </p:nvSpPr>
        <p:spPr>
          <a:xfrm>
            <a:off x="929005" y="162793"/>
            <a:ext cx="3553326" cy="406400"/>
          </a:xfrm>
        </p:spPr>
        <p:txBody>
          <a:bodyPr>
            <a:noAutofit/>
          </a:bodyPr>
          <a:lstStyle>
            <a:lvl1pPr>
              <a:defRPr sz="2000">
                <a:solidFill>
                  <a:schemeClr val="bg1"/>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图片与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showMasterSp="0">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1" y="1600202"/>
            <a:ext cx="10972800" cy="4525963"/>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609601" y="6356352"/>
            <a:ext cx="2844800" cy="365125"/>
          </a:xfrm>
          <a:prstGeom prst="rect">
            <a:avLst/>
          </a:prstGeom>
        </p:spPr>
        <p:txBody>
          <a:bodyPr/>
          <a:lstStyle/>
          <a:p>
            <a:fld id="{A61B1FD8-8752-40A4-8FD5-E89685AB56BD}" type="datetimeFigureOut">
              <a:rPr lang="zh-CN" altLang="en-US" smtClean="0"/>
            </a:fld>
            <a:endParaRPr lang="zh-CN" altLang="en-US"/>
          </a:p>
        </p:txBody>
      </p:sp>
      <p:sp>
        <p:nvSpPr>
          <p:cNvPr id="5" name="页脚占位符 4"/>
          <p:cNvSpPr>
            <a:spLocks noGrp="1"/>
          </p:cNvSpPr>
          <p:nvPr>
            <p:ph type="ftr" sz="quarter" idx="11"/>
          </p:nvPr>
        </p:nvSpPr>
        <p:spPr>
          <a:xfrm>
            <a:off x="4165601" y="6356352"/>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1" y="6356352"/>
            <a:ext cx="2844800" cy="365125"/>
          </a:xfrm>
          <a:prstGeom prst="rect">
            <a:avLst/>
          </a:prstGeom>
        </p:spPr>
        <p:txBody>
          <a:bodyPr/>
          <a:lstStyle/>
          <a:p>
            <a:fld id="{52DCD716-44A1-4A3E-9A48-2DB906ECEF8F}"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2.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29.png"/><Relationship Id="rId1" Type="http://schemas.openxmlformats.org/officeDocument/2006/relationships/image" Target="../media/image2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30.png"/><Relationship Id="rId2" Type="http://schemas.microsoft.com/office/2007/relationships/media" Target="../media/media1.mp4"/><Relationship Id="rId1" Type="http://schemas.openxmlformats.org/officeDocument/2006/relationships/video" Target="../media/media1.mp4"/></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36.png"/></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42.png"/><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tags" Target="../tags/tag9.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44.png"/><Relationship Id="rId1" Type="http://schemas.openxmlformats.org/officeDocument/2006/relationships/image" Target="../media/image43.pn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png"/><Relationship Id="rId7" Type="http://schemas.openxmlformats.org/officeDocument/2006/relationships/image" Target="../media/image55.png"/><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59.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60.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62.png"/><Relationship Id="rId1" Type="http://schemas.openxmlformats.org/officeDocument/2006/relationships/image" Target="../media/image6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64.png"/><Relationship Id="rId1"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65.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66.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67.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69.png"/><Relationship Id="rId1" Type="http://schemas.openxmlformats.org/officeDocument/2006/relationships/image" Target="../media/image6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70.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tags" Target="../tags/tag10.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2.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4.png"/><Relationship Id="rId2" Type="http://schemas.openxmlformats.org/officeDocument/2006/relationships/image" Target="../media/image71.png"/><Relationship Id="rId1" Type="http://schemas.openxmlformats.org/officeDocument/2006/relationships/image" Target="../media/image73.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5.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1.png"/><Relationship Id="rId2" Type="http://schemas.openxmlformats.org/officeDocument/2006/relationships/image" Target="../media/image76.png"/><Relationship Id="rId1" Type="http://schemas.openxmlformats.org/officeDocument/2006/relationships/image" Target="../media/image75.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5.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1.png"/><Relationship Id="rId2" Type="http://schemas.openxmlformats.org/officeDocument/2006/relationships/image" Target="../media/image78.png"/><Relationship Id="rId1" Type="http://schemas.openxmlformats.org/officeDocument/2006/relationships/image" Target="../media/image77.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9.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1.png"/><Relationship Id="rId2" Type="http://schemas.openxmlformats.org/officeDocument/2006/relationships/image" Target="../media/image81.png"/><Relationship Id="rId1" Type="http://schemas.openxmlformats.org/officeDocument/2006/relationships/image" Target="../media/image80.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82.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83.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84.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1.png"/><Relationship Id="rId2" Type="http://schemas.openxmlformats.org/officeDocument/2006/relationships/image" Target="../media/image86.png"/><Relationship Id="rId1" Type="http://schemas.openxmlformats.org/officeDocument/2006/relationships/image" Target="../media/image85.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1.png"/><Relationship Id="rId2" Type="http://schemas.openxmlformats.org/officeDocument/2006/relationships/image" Target="../media/image88.png"/><Relationship Id="rId1" Type="http://schemas.openxmlformats.org/officeDocument/2006/relationships/image" Target="../media/image87.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tags" Target="../tags/tag11.xml"/></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92.png"/><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image" Target="../media/image89.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94.png"/><Relationship Id="rId1" Type="http://schemas.openxmlformats.org/officeDocument/2006/relationships/image" Target="../media/image93.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tags" Target="../tags/tag12.xml"/><Relationship Id="rId1"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3"/>
          <p:cNvSpPr txBox="1"/>
          <p:nvPr/>
        </p:nvSpPr>
        <p:spPr>
          <a:xfrm>
            <a:off x="816135" y="688976"/>
            <a:ext cx="10747375" cy="1675765"/>
          </a:xfrm>
          <a:prstGeom prst="rect">
            <a:avLst/>
          </a:prstGeom>
          <a:noFill/>
          <a:effectLst/>
        </p:spPr>
        <p:txBody>
          <a:bodyPr wrap="square" rtlCol="0">
            <a:noAutofit/>
          </a:bodyPr>
          <a:lstStyle/>
          <a:p>
            <a:pPr algn="ctr"/>
            <a:endParaRPr lang="zh-CN" altLang="en-US" sz="6600" b="1" dirty="0">
              <a:solidFill>
                <a:srgbClr val="0070C0"/>
              </a:solidFill>
              <a:latin typeface="微软雅黑" panose="020B0503020204020204" pitchFamily="34" charset="-122"/>
              <a:ea typeface="微软雅黑" panose="020B0503020204020204" pitchFamily="34" charset="-122"/>
            </a:endParaRPr>
          </a:p>
          <a:p>
            <a:pPr algn="ctr"/>
            <a:r>
              <a:rPr lang="zh-CN" altLang="en-US" sz="6600" b="1" dirty="0">
                <a:solidFill>
                  <a:srgbClr val="0070C0"/>
                </a:solidFill>
                <a:latin typeface="微软雅黑" panose="020B0503020204020204" pitchFamily="34" charset="-122"/>
                <a:ea typeface="微软雅黑" panose="020B0503020204020204" pitchFamily="34" charset="-122"/>
              </a:rPr>
              <a:t>全国大学生软件测试大赛</a:t>
            </a:r>
            <a:endParaRPr lang="zh-CN" altLang="en-US" sz="6600" b="1" dirty="0">
              <a:solidFill>
                <a:srgbClr val="0070C0"/>
              </a:solidFill>
              <a:latin typeface="微软雅黑" panose="020B0503020204020204" pitchFamily="34" charset="-122"/>
              <a:ea typeface="微软雅黑" panose="020B0503020204020204" pitchFamily="34" charset="-122"/>
            </a:endParaRPr>
          </a:p>
        </p:txBody>
      </p:sp>
      <p:pic>
        <p:nvPicPr>
          <p:cNvPr id="3" name="图片 2" descr="cst"/>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262415" y="116205"/>
            <a:ext cx="1698625" cy="1290320"/>
          </a:xfrm>
          <a:prstGeom prst="rect">
            <a:avLst/>
          </a:prstGeom>
        </p:spPr>
      </p:pic>
      <p:cxnSp>
        <p:nvCxnSpPr>
          <p:cNvPr id="5" name="直接连接符 4"/>
          <p:cNvCxnSpPr/>
          <p:nvPr/>
        </p:nvCxnSpPr>
        <p:spPr>
          <a:xfrm>
            <a:off x="1344455" y="2781300"/>
            <a:ext cx="9721215" cy="0"/>
          </a:xfrm>
          <a:prstGeom prst="line">
            <a:avLst/>
          </a:prstGeom>
        </p:spPr>
        <p:style>
          <a:lnRef idx="3">
            <a:schemeClr val="accent1"/>
          </a:lnRef>
          <a:fillRef idx="0">
            <a:srgbClr val="FFFFFF"/>
          </a:fillRef>
          <a:effectRef idx="0">
            <a:srgbClr val="FFFFFF"/>
          </a:effectRef>
          <a:fontRef idx="minor">
            <a:schemeClr val="tx1"/>
          </a:fontRef>
        </p:style>
      </p:cxnSp>
      <p:sp>
        <p:nvSpPr>
          <p:cNvPr id="2" name="文本框 3"/>
          <p:cNvSpPr txBox="1"/>
          <p:nvPr/>
        </p:nvSpPr>
        <p:spPr>
          <a:xfrm>
            <a:off x="816135" y="3284856"/>
            <a:ext cx="10747375" cy="852805"/>
          </a:xfrm>
          <a:prstGeom prst="rect">
            <a:avLst/>
          </a:prstGeom>
          <a:noFill/>
          <a:effectLst/>
        </p:spPr>
        <p:txBody>
          <a:bodyPr wrap="square" rtlCol="0">
            <a:noAutofit/>
          </a:bodyPr>
          <a:lstStyle/>
          <a:p>
            <a:pPr algn="ctr"/>
            <a:r>
              <a:rPr lang="zh-CN" altLang="en-US" sz="4000" b="1" dirty="0">
                <a:solidFill>
                  <a:srgbClr val="0070C0"/>
                </a:solidFill>
                <a:latin typeface="微软雅黑" panose="020B0503020204020204" pitchFamily="34" charset="-122"/>
                <a:ea typeface="微软雅黑" panose="020B0503020204020204" pitchFamily="34" charset="-122"/>
              </a:rPr>
              <a:t>嵌入式测试</a:t>
            </a:r>
            <a:r>
              <a:rPr lang="zh-CN" altLang="en-US" sz="4000" b="1" dirty="0">
                <a:solidFill>
                  <a:srgbClr val="0070C0"/>
                </a:solidFill>
                <a:latin typeface="微软雅黑" panose="020B0503020204020204" pitchFamily="34" charset="-122"/>
                <a:ea typeface="微软雅黑" panose="020B0503020204020204" pitchFamily="34" charset="-122"/>
              </a:rPr>
              <a:t>大赛</a:t>
            </a:r>
            <a:endParaRPr lang="zh-CN" altLang="en-US" sz="4000" b="1" dirty="0">
              <a:solidFill>
                <a:srgbClr val="0070C0"/>
              </a:solidFill>
              <a:latin typeface="微软雅黑" panose="020B0503020204020204" pitchFamily="34" charset="-122"/>
              <a:ea typeface="微软雅黑" panose="020B0503020204020204" pitchFamily="34" charset="-122"/>
            </a:endParaRPr>
          </a:p>
        </p:txBody>
      </p:sp>
      <p:pic>
        <p:nvPicPr>
          <p:cNvPr id="7" name="图片 6" descr="卡通人物&#10;&#10;低可信度描述已自动生成"/>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23543" y="283945"/>
            <a:ext cx="2506044" cy="9548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4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p:nvPr/>
        </p:nvSpPr>
        <p:spPr>
          <a:xfrm>
            <a:off x="1686013" y="1349033"/>
            <a:ext cx="9488467" cy="29480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1800" dirty="0">
                <a:latin typeface="+mj-ea"/>
                <a:ea typeface="+mj-ea"/>
              </a:rPr>
              <a:t>关于嵌入式</a:t>
            </a:r>
            <a:r>
              <a:rPr lang="zh-CN" altLang="en-US" sz="1800" dirty="0">
                <a:latin typeface="+mj-ea"/>
                <a:ea typeface="+mj-ea"/>
              </a:rPr>
              <a:t>大赛</a:t>
            </a:r>
            <a:endParaRPr lang="en-US" altLang="zh-CN" sz="1800" dirty="0">
              <a:latin typeface="+mj-ea"/>
              <a:ea typeface="+mj-ea"/>
            </a:endParaRPr>
          </a:p>
          <a:p>
            <a:pPr>
              <a:lnSpc>
                <a:spcPct val="150000"/>
              </a:lnSpc>
            </a:pPr>
            <a:r>
              <a:rPr lang="en-US" altLang="zh-CN" sz="1800" dirty="0">
                <a:latin typeface="+mj-ea"/>
                <a:ea typeface="+mj-ea"/>
              </a:rPr>
              <a:t>Lua</a:t>
            </a:r>
            <a:r>
              <a:rPr lang="zh-CN" altLang="en-US" sz="1800" dirty="0">
                <a:latin typeface="+mj-ea"/>
                <a:ea typeface="+mj-ea"/>
              </a:rPr>
              <a:t>和</a:t>
            </a:r>
            <a:r>
              <a:rPr lang="en-US" altLang="zh-CN" sz="1800" dirty="0">
                <a:latin typeface="+mj-ea"/>
                <a:ea typeface="+mj-ea"/>
              </a:rPr>
              <a:t>API</a:t>
            </a:r>
            <a:endParaRPr lang="en-US" altLang="zh-CN" sz="1800" dirty="0">
              <a:latin typeface="+mj-ea"/>
              <a:ea typeface="+mj-ea"/>
            </a:endParaRPr>
          </a:p>
          <a:p>
            <a:pPr>
              <a:lnSpc>
                <a:spcPct val="150000"/>
              </a:lnSpc>
            </a:pPr>
            <a:r>
              <a:rPr lang="en-US" altLang="zh-CN" sz="1800" dirty="0">
                <a:latin typeface="+mj-ea"/>
                <a:ea typeface="+mj-ea"/>
              </a:rPr>
              <a:t>Yaml</a:t>
            </a:r>
            <a:endParaRPr lang="en-US" altLang="zh-CN" sz="1800" dirty="0">
              <a:latin typeface="+mj-ea"/>
              <a:ea typeface="+mj-ea"/>
            </a:endParaRPr>
          </a:p>
          <a:p>
            <a:pPr>
              <a:lnSpc>
                <a:spcPct val="150000"/>
              </a:lnSpc>
            </a:pPr>
            <a:r>
              <a:rPr lang="zh-CN" altLang="en-US" sz="1800" dirty="0">
                <a:latin typeface="+mj-ea"/>
                <a:ea typeface="+mj-ea"/>
              </a:rPr>
              <a:t>定速巡航系统</a:t>
            </a:r>
            <a:r>
              <a:rPr lang="zh-CN" altLang="en-US" sz="1800" dirty="0">
                <a:latin typeface="+mj-ea"/>
                <a:ea typeface="+mj-ea"/>
              </a:rPr>
              <a:t>测试</a:t>
            </a:r>
            <a:endParaRPr lang="zh-CN" altLang="en-US" sz="1800" dirty="0">
              <a:latin typeface="+mj-ea"/>
              <a:ea typeface="+mj-ea"/>
            </a:endParaRPr>
          </a:p>
          <a:p>
            <a:pPr>
              <a:lnSpc>
                <a:spcPct val="150000"/>
              </a:lnSpc>
            </a:pPr>
            <a:r>
              <a:rPr lang="zh-CN" altLang="en-US" sz="1800" dirty="0">
                <a:latin typeface="+mj-ea"/>
                <a:ea typeface="+mj-ea"/>
              </a:rPr>
              <a:t>常见</a:t>
            </a:r>
            <a:r>
              <a:rPr lang="zh-CN" altLang="en-US" sz="1800" dirty="0">
                <a:latin typeface="+mj-ea"/>
                <a:ea typeface="+mj-ea"/>
              </a:rPr>
              <a:t>问题</a:t>
            </a:r>
            <a:endParaRPr lang="zh-CN" altLang="en-US" sz="1800" dirty="0">
              <a:latin typeface="+mj-ea"/>
              <a:ea typeface="+mj-ea"/>
            </a:endParaRPr>
          </a:p>
          <a:p>
            <a:pPr>
              <a:lnSpc>
                <a:spcPct val="150000"/>
              </a:lnSpc>
            </a:pPr>
            <a:r>
              <a:rPr lang="zh-CN" altLang="en-US" sz="1800" dirty="0">
                <a:latin typeface="+mj-ea"/>
                <a:ea typeface="+mj-ea"/>
              </a:rPr>
              <a:t>学习</a:t>
            </a:r>
            <a:r>
              <a:rPr lang="en-US" altLang="zh-CN" sz="1800" dirty="0">
                <a:latin typeface="+mj-ea"/>
                <a:ea typeface="+mj-ea"/>
              </a:rPr>
              <a:t>ETest</a:t>
            </a:r>
            <a:endParaRPr lang="en-US" altLang="zh-CN" sz="1800" dirty="0">
              <a:latin typeface="+mj-ea"/>
              <a:ea typeface="+mj-ea"/>
            </a:endParaRPr>
          </a:p>
          <a:p>
            <a:pPr>
              <a:lnSpc>
                <a:spcPct val="150000"/>
              </a:lnSpc>
            </a:pPr>
            <a:endParaRPr lang="en-US" altLang="zh-CN" sz="1800" dirty="0">
              <a:latin typeface="+mj-ea"/>
              <a:ea typeface="+mj-ea"/>
            </a:endParaRPr>
          </a:p>
        </p:txBody>
      </p:sp>
      <p:sp>
        <p:nvSpPr>
          <p:cNvPr id="5" name="标题 4"/>
          <p:cNvSpPr>
            <a:spLocks noGrp="1"/>
          </p:cNvSpPr>
          <p:nvPr>
            <p:ph type="title"/>
          </p:nvPr>
        </p:nvSpPr>
        <p:spPr/>
        <p:txBody>
          <a:bodyPr/>
          <a:lstStyle/>
          <a:p>
            <a:endParaRPr lang="zh-CN" altLang="en-US" dirty="0"/>
          </a:p>
        </p:txBody>
      </p:sp>
      <p:pic>
        <p:nvPicPr>
          <p:cNvPr id="7" name="图片 6"/>
          <p:cNvPicPr>
            <a:picLocks noChangeAspect="1"/>
          </p:cNvPicPr>
          <p:nvPr/>
        </p:nvPicPr>
        <p:blipFill>
          <a:blip r:embed="rId1"/>
          <a:stretch>
            <a:fillRect/>
          </a:stretch>
        </p:blipFill>
        <p:spPr>
          <a:xfrm>
            <a:off x="0" y="0"/>
            <a:ext cx="6054165" cy="1506129"/>
          </a:xfrm>
          <a:prstGeom prst="rect">
            <a:avLst/>
          </a:prstGeom>
        </p:spPr>
      </p:pic>
      <p:sp>
        <p:nvSpPr>
          <p:cNvPr id="2" name="文本框 1"/>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嵌入式测试</a:t>
            </a:r>
            <a:r>
              <a:rPr lang="zh-CN" altLang="en-US" sz="2800" b="1" dirty="0">
                <a:solidFill>
                  <a:srgbClr val="136FB8"/>
                </a:solidFill>
              </a:rPr>
              <a:t>大赛</a:t>
            </a:r>
            <a:endParaRPr lang="zh-CN" altLang="en-US" sz="2800" b="1" dirty="0">
              <a:solidFill>
                <a:srgbClr val="136FB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988142" y="2824241"/>
            <a:ext cx="4983480" cy="922020"/>
          </a:xfrm>
          <a:prstGeom prst="rect">
            <a:avLst/>
          </a:prstGeom>
        </p:spPr>
        <p:txBody>
          <a:bodyPr wrap="none">
            <a:spAutoFit/>
          </a:bodyPr>
          <a:lstStyle/>
          <a:p>
            <a:pPr algn="l"/>
            <a:r>
              <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关于</a:t>
            </a:r>
            <a:r>
              <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嵌入式大赛</a:t>
            </a:r>
            <a:endPar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p:cNvSpPr/>
          <p:nvPr/>
        </p:nvSpPr>
        <p:spPr>
          <a:xfrm>
            <a:off x="5148346" y="3868120"/>
            <a:ext cx="5657767" cy="15020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菱形 5"/>
          <p:cNvSpPr/>
          <p:nvPr>
            <p:custDataLst>
              <p:tags r:id="rId1"/>
            </p:custDataLst>
          </p:nvPr>
        </p:nvSpPr>
        <p:spPr>
          <a:xfrm>
            <a:off x="955040" y="1601470"/>
            <a:ext cx="3403600" cy="3427095"/>
          </a:xfrm>
          <a:prstGeom prst="diamond">
            <a:avLst/>
          </a:prstGeom>
          <a:blipFill dpi="0" rotWithShape="1">
            <a:blip r:embed="rId2" cstate="screen"/>
            <a:srcRect/>
            <a:tile sx="100000" sy="100000"/>
          </a:blipFill>
          <a:ln w="762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嵌入式测试大赛</a:t>
            </a:r>
            <a:endParaRPr lang="zh-CN" altLang="en-US" dirty="0"/>
          </a:p>
        </p:txBody>
      </p:sp>
      <p:sp>
        <p:nvSpPr>
          <p:cNvPr id="3" name="内容占位符 2"/>
          <p:cNvSpPr txBox="1"/>
          <p:nvPr/>
        </p:nvSpPr>
        <p:spPr>
          <a:xfrm>
            <a:off x="1951206" y="1068617"/>
            <a:ext cx="9488467" cy="49591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1800" dirty="0">
                <a:latin typeface="+mj-ea"/>
                <a:ea typeface="+mj-ea"/>
              </a:rPr>
              <a:t>设置赛项：“凯云杯嵌入式测试大赛”</a:t>
            </a:r>
            <a:endParaRPr lang="en-US" altLang="zh-CN" sz="1800" dirty="0">
              <a:latin typeface="+mj-ea"/>
              <a:ea typeface="+mj-ea"/>
            </a:endParaRPr>
          </a:p>
          <a:p>
            <a:pPr>
              <a:lnSpc>
                <a:spcPct val="150000"/>
              </a:lnSpc>
            </a:pPr>
            <a:r>
              <a:rPr lang="zh-CN" altLang="en-US" sz="1800" dirty="0">
                <a:latin typeface="+mj-ea"/>
                <a:ea typeface="+mj-ea"/>
              </a:rPr>
              <a:t>分为预选赛、省赛和总决赛（每个分项赛，独立评分和颁奖）</a:t>
            </a:r>
            <a:endParaRPr lang="en-US" altLang="zh-CN" sz="1800" dirty="0">
              <a:latin typeface="+mj-ea"/>
              <a:ea typeface="+mj-ea"/>
            </a:endParaRPr>
          </a:p>
        </p:txBody>
      </p:sp>
      <p:grpSp>
        <p:nvGrpSpPr>
          <p:cNvPr id="8" name="组合 7"/>
          <p:cNvGrpSpPr/>
          <p:nvPr/>
        </p:nvGrpSpPr>
        <p:grpSpPr>
          <a:xfrm>
            <a:off x="2204085" y="2024776"/>
            <a:ext cx="8476615" cy="1337945"/>
            <a:chOff x="1445379" y="4671813"/>
            <a:chExt cx="8476615" cy="1337945"/>
          </a:xfrm>
        </p:grpSpPr>
        <p:sp>
          <p:nvSpPr>
            <p:cNvPr id="5" name="文本框 4"/>
            <p:cNvSpPr txBox="1"/>
            <p:nvPr/>
          </p:nvSpPr>
          <p:spPr>
            <a:xfrm>
              <a:off x="1445379" y="4671813"/>
              <a:ext cx="8476615" cy="1337945"/>
            </a:xfrm>
            <a:prstGeom prst="rect">
              <a:avLst/>
            </a:prstGeom>
            <a:noFill/>
          </p:spPr>
          <p:txBody>
            <a:bodyPr wrap="square">
              <a:spAutoFit/>
            </a:bodyPr>
            <a:lstStyle/>
            <a:p>
              <a:pPr marL="0" indent="0">
                <a:lnSpc>
                  <a:spcPct val="150000"/>
                </a:lnSpc>
                <a:buNone/>
              </a:pPr>
              <a:r>
                <a:rPr lang="zh-CN" altLang="en-US" dirty="0">
                  <a:latin typeface="+mj-ea"/>
                  <a:ea typeface="+mj-ea"/>
                </a:rPr>
                <a:t>预选赛：</a:t>
              </a:r>
              <a:endParaRPr lang="en-US" altLang="zh-CN" dirty="0">
                <a:latin typeface="+mj-ea"/>
                <a:ea typeface="+mj-ea"/>
              </a:endParaRPr>
            </a:p>
            <a:p>
              <a:pPr marL="0" indent="0">
                <a:lnSpc>
                  <a:spcPct val="150000"/>
                </a:lnSpc>
                <a:buNone/>
              </a:pPr>
              <a:r>
                <a:rPr lang="zh-CN" altLang="en-US" dirty="0">
                  <a:latin typeface="+mj-ea"/>
                  <a:ea typeface="+mj-ea"/>
                </a:rPr>
                <a:t>省赛：</a:t>
              </a:r>
              <a:endParaRPr lang="en-US" altLang="zh-CN" dirty="0">
                <a:latin typeface="+mj-ea"/>
                <a:ea typeface="+mj-ea"/>
              </a:endParaRPr>
            </a:p>
            <a:p>
              <a:pPr marL="0" indent="0">
                <a:lnSpc>
                  <a:spcPct val="150000"/>
                </a:lnSpc>
                <a:buNone/>
              </a:pPr>
              <a:r>
                <a:rPr lang="zh-CN" altLang="en-US" dirty="0">
                  <a:latin typeface="+mj-ea"/>
                  <a:ea typeface="+mj-ea"/>
                </a:rPr>
                <a:t>总决赛：</a:t>
              </a:r>
              <a:r>
                <a:rPr lang="en-US" altLang="zh-CN" dirty="0">
                  <a:latin typeface="+mj-ea"/>
                  <a:ea typeface="+mj-ea"/>
                </a:rPr>
                <a:t> </a:t>
              </a:r>
              <a:r>
                <a:rPr lang="zh-CN" altLang="en-US" dirty="0">
                  <a:latin typeface="+mj-ea"/>
                  <a:ea typeface="+mj-ea"/>
                </a:rPr>
                <a:t>线下，使用真实嵌入式软件（</a:t>
              </a:r>
              <a:r>
                <a:rPr lang="zh-CN" altLang="en-US">
                  <a:sym typeface="+mn-ea"/>
                </a:rPr>
                <a:t>嵌入式系统测试教学实训平台</a:t>
              </a:r>
              <a:r>
                <a:rPr lang="zh-CN" altLang="en-US" dirty="0">
                  <a:latin typeface="+mj-ea"/>
                  <a:ea typeface="+mj-ea"/>
                </a:rPr>
                <a:t>）</a:t>
              </a:r>
              <a:endParaRPr lang="zh-CN" altLang="en-US" dirty="0">
                <a:latin typeface="+mj-ea"/>
                <a:ea typeface="+mj-ea"/>
              </a:endParaRPr>
            </a:p>
          </p:txBody>
        </p:sp>
        <p:sp>
          <p:nvSpPr>
            <p:cNvPr id="7" name="文本框 6"/>
            <p:cNvSpPr txBox="1"/>
            <p:nvPr/>
          </p:nvSpPr>
          <p:spPr>
            <a:xfrm>
              <a:off x="2483950" y="4772173"/>
              <a:ext cx="3569437" cy="369332"/>
            </a:xfrm>
            <a:prstGeom prst="rect">
              <a:avLst/>
            </a:prstGeom>
            <a:noFill/>
          </p:spPr>
          <p:txBody>
            <a:bodyPr wrap="square">
              <a:spAutoFit/>
            </a:bodyPr>
            <a:lstStyle/>
            <a:p>
              <a:r>
                <a:rPr lang="zh-CN" altLang="en-US" dirty="0">
                  <a:latin typeface="+mj-ea"/>
                  <a:ea typeface="+mj-ea"/>
                </a:rPr>
                <a:t>线上，使用模拟嵌入式软件</a:t>
              </a:r>
              <a:endParaRPr lang="zh-CN" altLang="en-US" dirty="0"/>
            </a:p>
          </p:txBody>
        </p:sp>
      </p:grpSp>
      <p:sp>
        <p:nvSpPr>
          <p:cNvPr id="6" name="文本框 5"/>
          <p:cNvSpPr txBox="1"/>
          <p:nvPr/>
        </p:nvSpPr>
        <p:spPr>
          <a:xfrm>
            <a:off x="3203575" y="2533015"/>
            <a:ext cx="5282565" cy="368300"/>
          </a:xfrm>
          <a:prstGeom prst="rect">
            <a:avLst/>
          </a:prstGeom>
          <a:noFill/>
        </p:spPr>
        <p:txBody>
          <a:bodyPr wrap="square">
            <a:spAutoFit/>
          </a:bodyPr>
          <a:lstStyle/>
          <a:p>
            <a:r>
              <a:rPr lang="zh-CN" altLang="en-US" dirty="0">
                <a:latin typeface="+mj-ea"/>
                <a:ea typeface="+mj-ea"/>
              </a:rPr>
              <a:t>线上和线下同时举行，使用模拟嵌入式软件</a:t>
            </a:r>
            <a:endParaRPr lang="zh-CN" altLang="en-US" dirty="0"/>
          </a:p>
        </p:txBody>
      </p:sp>
      <p:pic>
        <p:nvPicPr>
          <p:cNvPr id="4" name="图片 3"/>
          <p:cNvPicPr>
            <a:picLocks noChangeAspect="1"/>
          </p:cNvPicPr>
          <p:nvPr/>
        </p:nvPicPr>
        <p:blipFill>
          <a:blip r:embed="rId1"/>
          <a:stretch>
            <a:fillRect/>
          </a:stretch>
        </p:blipFill>
        <p:spPr>
          <a:xfrm>
            <a:off x="6695440" y="3822700"/>
            <a:ext cx="4887595" cy="1908810"/>
          </a:xfrm>
          <a:prstGeom prst="rect">
            <a:avLst/>
          </a:prstGeom>
        </p:spPr>
      </p:pic>
      <p:pic>
        <p:nvPicPr>
          <p:cNvPr id="9" name="图片 8"/>
          <p:cNvPicPr>
            <a:picLocks noChangeAspect="1"/>
          </p:cNvPicPr>
          <p:nvPr/>
        </p:nvPicPr>
        <p:blipFill>
          <a:blip r:embed="rId2"/>
          <a:stretch>
            <a:fillRect/>
          </a:stretch>
        </p:blipFill>
        <p:spPr>
          <a:xfrm>
            <a:off x="1158240" y="3822700"/>
            <a:ext cx="4747260" cy="2235835"/>
          </a:xfrm>
          <a:prstGeom prst="rect">
            <a:avLst/>
          </a:prstGeom>
        </p:spPr>
      </p:pic>
      <p:sp>
        <p:nvSpPr>
          <p:cNvPr id="10" name="文本框 9"/>
          <p:cNvSpPr txBox="1"/>
          <p:nvPr/>
        </p:nvSpPr>
        <p:spPr>
          <a:xfrm>
            <a:off x="1995805" y="6106160"/>
            <a:ext cx="3168015" cy="368300"/>
          </a:xfrm>
          <a:prstGeom prst="rect">
            <a:avLst/>
          </a:prstGeom>
          <a:noFill/>
        </p:spPr>
        <p:txBody>
          <a:bodyPr wrap="square" rtlCol="0">
            <a:spAutoFit/>
          </a:bodyPr>
          <a:lstStyle/>
          <a:p>
            <a:r>
              <a:rPr lang="zh-CN" altLang="en-US"/>
              <a:t>嵌入式系统测试教学实训平台</a:t>
            </a:r>
            <a:endParaRPr lang="zh-CN" altLang="en-US"/>
          </a:p>
        </p:txBody>
      </p:sp>
      <p:sp>
        <p:nvSpPr>
          <p:cNvPr id="11" name="文本框 10"/>
          <p:cNvSpPr txBox="1"/>
          <p:nvPr/>
        </p:nvSpPr>
        <p:spPr>
          <a:xfrm>
            <a:off x="8074660" y="6106160"/>
            <a:ext cx="2256155" cy="368300"/>
          </a:xfrm>
          <a:prstGeom prst="rect">
            <a:avLst/>
          </a:prstGeom>
          <a:noFill/>
        </p:spPr>
        <p:txBody>
          <a:bodyPr wrap="square" rtlCol="0">
            <a:spAutoFit/>
          </a:bodyPr>
          <a:lstStyle/>
          <a:p>
            <a:r>
              <a:rPr lang="zh-CN" altLang="en-US"/>
              <a:t>模拟嵌入式软件</a:t>
            </a:r>
            <a:endParaRPr lang="zh-CN" altLang="en-US"/>
          </a:p>
        </p:txBody>
      </p:sp>
      <p:pic>
        <p:nvPicPr>
          <p:cNvPr id="15" name="图片 14"/>
          <p:cNvPicPr>
            <a:picLocks noChangeAspect="1"/>
          </p:cNvPicPr>
          <p:nvPr/>
        </p:nvPicPr>
        <p:blipFill>
          <a:blip r:embed="rId3"/>
          <a:stretch>
            <a:fillRect/>
          </a:stretch>
        </p:blipFill>
        <p:spPr>
          <a:xfrm>
            <a:off x="0" y="0"/>
            <a:ext cx="5163820" cy="1148832"/>
          </a:xfrm>
          <a:prstGeom prst="rect">
            <a:avLst/>
          </a:prstGeom>
        </p:spPr>
      </p:pic>
      <p:sp>
        <p:nvSpPr>
          <p:cNvPr id="13" name="文本框 12"/>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关于大赛</a:t>
            </a:r>
            <a:endParaRPr lang="zh-CN" altLang="en-US" sz="2800" b="1" dirty="0">
              <a:solidFill>
                <a:srgbClr val="136FB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比赛时间和测试内容</a:t>
            </a:r>
            <a:endParaRPr lang="zh-CN" altLang="en-US" dirty="0"/>
          </a:p>
        </p:txBody>
      </p:sp>
      <p:sp>
        <p:nvSpPr>
          <p:cNvPr id="5" name="文本框 4"/>
          <p:cNvSpPr txBox="1"/>
          <p:nvPr/>
        </p:nvSpPr>
        <p:spPr>
          <a:xfrm>
            <a:off x="1331403" y="4124417"/>
            <a:ext cx="9329811" cy="954107"/>
          </a:xfrm>
          <a:prstGeom prst="rect">
            <a:avLst/>
          </a:prstGeom>
          <a:noFill/>
        </p:spPr>
        <p:txBody>
          <a:bodyPr wrap="square">
            <a:spAutoFit/>
          </a:bodyPr>
          <a:lstStyle/>
          <a:p>
            <a:r>
              <a:rPr lang="zh-CN" altLang="en-US" sz="1400" dirty="0"/>
              <a:t>使用</a:t>
            </a:r>
            <a:r>
              <a:rPr lang="en-US" altLang="zh-CN" sz="1400" dirty="0"/>
              <a:t>ETest</a:t>
            </a:r>
            <a:r>
              <a:rPr lang="zh-CN" altLang="en-US" sz="1400" dirty="0"/>
              <a:t>工具，搭建测试项目，模拟嵌入式软件运行时需要的外围设备，进行信号激励和反馈获取，从而对嵌入式软件进行</a:t>
            </a:r>
            <a:r>
              <a:rPr lang="zh-CN" altLang="en-US" sz="1400" dirty="0">
                <a:solidFill>
                  <a:srgbClr val="0070C0"/>
                </a:solidFill>
              </a:rPr>
              <a:t>黑盒</a:t>
            </a:r>
            <a:r>
              <a:rPr lang="zh-CN" altLang="en-US" sz="1400" dirty="0"/>
              <a:t>动态测试。</a:t>
            </a:r>
            <a:endParaRPr lang="en-US" altLang="zh-CN" sz="1400" dirty="0"/>
          </a:p>
          <a:p>
            <a:endParaRPr lang="en-US" altLang="zh-CN" sz="1400" dirty="0"/>
          </a:p>
          <a:p>
            <a:r>
              <a:rPr lang="zh-CN" altLang="en-US" sz="1400" dirty="0"/>
              <a:t>目标：考察被测软件的运行情况是否满足</a:t>
            </a:r>
            <a:r>
              <a:rPr lang="en-US" altLang="zh-CN" sz="1400" dirty="0"/>
              <a:t>【</a:t>
            </a:r>
            <a:r>
              <a:rPr lang="zh-CN" altLang="en-US" sz="1400" dirty="0"/>
              <a:t>需求文档</a:t>
            </a:r>
            <a:r>
              <a:rPr lang="en-US" altLang="zh-CN" sz="1400" dirty="0"/>
              <a:t>】</a:t>
            </a:r>
            <a:r>
              <a:rPr lang="zh-CN" altLang="en-US" sz="1400" dirty="0"/>
              <a:t>的要求。</a:t>
            </a:r>
            <a:endParaRPr lang="en-US" altLang="zh-CN" sz="1400" dirty="0"/>
          </a:p>
        </p:txBody>
      </p:sp>
      <p:sp>
        <p:nvSpPr>
          <p:cNvPr id="7" name="文本框 6"/>
          <p:cNvSpPr txBox="1"/>
          <p:nvPr/>
        </p:nvSpPr>
        <p:spPr>
          <a:xfrm>
            <a:off x="858034" y="3556055"/>
            <a:ext cx="6162804" cy="45890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测试内容：</a:t>
            </a:r>
            <a:endPar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8" name="文本框 7"/>
          <p:cNvSpPr txBox="1"/>
          <p:nvPr/>
        </p:nvSpPr>
        <p:spPr>
          <a:xfrm>
            <a:off x="1400929" y="1813033"/>
            <a:ext cx="6162804" cy="106045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latin typeface="微软雅黑" panose="020B0503020204020204" pitchFamily="34" charset="-122"/>
                <a:ea typeface="微软雅黑" panose="020B0503020204020204" pitchFamily="34" charset="-122"/>
                <a:sym typeface="微软雅黑" panose="020B0503020204020204" pitchFamily="34" charset="-122"/>
              </a:rPr>
              <a:t>大赛</a:t>
            </a:r>
            <a:r>
              <a:rPr kumimoji="0" lang="zh-CN" altLang="en-US" sz="1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时长：预选赛</a:t>
            </a:r>
            <a:r>
              <a:rPr kumimoji="0" lang="en-US" altLang="zh-CN" sz="1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3</a:t>
            </a:r>
            <a:r>
              <a:rPr kumimoji="0" lang="zh-CN" altLang="en-US" sz="1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小时；省赛和决赛</a:t>
            </a:r>
            <a:r>
              <a:rPr lang="en-US" altLang="zh-CN" sz="1400" dirty="0">
                <a:latin typeface="微软雅黑" panose="020B0503020204020204" pitchFamily="34" charset="-122"/>
                <a:ea typeface="微软雅黑" panose="020B0503020204020204" pitchFamily="34" charset="-122"/>
                <a:sym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sym typeface="微软雅黑" panose="020B0503020204020204" pitchFamily="34" charset="-122"/>
              </a:rPr>
              <a:t>小时</a:t>
            </a:r>
            <a:endParaRPr lang="en-US" altLang="zh-CN" sz="1400" dirty="0">
              <a:latin typeface="微软雅黑" panose="020B0503020204020204" pitchFamily="34" charset="-122"/>
              <a:ea typeface="微软雅黑" panose="020B0503020204020204" pitchFamily="34" charset="-122"/>
              <a:sym typeface="微软雅黑" panose="020B0503020204020204" pitchFamily="34" charset="-122"/>
            </a:endParaRPr>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t>比赛开始：选手下载被测软件和相关文档</a:t>
            </a:r>
            <a:endParaRPr lang="en-US" altLang="zh-CN" sz="1400" dirty="0"/>
          </a:p>
          <a:p>
            <a:pPr marL="0" marR="0" lvl="0" indent="0" algn="l" defTabSz="914400" rtl="0" eaLnBrk="1" fontAlgn="auto" latinLnBrk="0" hangingPunct="1">
              <a:lnSpc>
                <a:spcPct val="150000"/>
              </a:lnSpc>
              <a:spcBef>
                <a:spcPts val="0"/>
              </a:spcBef>
              <a:spcAft>
                <a:spcPts val="0"/>
              </a:spcAft>
              <a:buClrTx/>
              <a:buSzTx/>
              <a:buFontTx/>
              <a:buNone/>
              <a:defRPr/>
            </a:pPr>
            <a:r>
              <a:rPr lang="zh-CN" altLang="en-US" sz="1400" dirty="0"/>
              <a:t>比赛结束：选手上传结果信息</a:t>
            </a:r>
            <a:endParaRPr lang="zh-CN" altLang="en-US" sz="1400" dirty="0"/>
          </a:p>
        </p:txBody>
      </p:sp>
      <p:sp>
        <p:nvSpPr>
          <p:cNvPr id="9" name="文本框 8"/>
          <p:cNvSpPr txBox="1"/>
          <p:nvPr/>
        </p:nvSpPr>
        <p:spPr>
          <a:xfrm>
            <a:off x="858034" y="1261342"/>
            <a:ext cx="6162804" cy="458908"/>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比赛时间：</a:t>
            </a:r>
            <a:endParaRPr kumimoji="0" lang="zh-CN" altLang="en-US" sz="1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0" y="0"/>
            <a:ext cx="5163671" cy="1148799"/>
          </a:xfrm>
          <a:prstGeom prst="rect">
            <a:avLst/>
          </a:prstGeom>
        </p:spPr>
      </p:pic>
      <p:sp>
        <p:nvSpPr>
          <p:cNvPr id="6" name="文本框 5"/>
          <p:cNvSpPr txBox="1"/>
          <p:nvPr/>
        </p:nvSpPr>
        <p:spPr>
          <a:xfrm>
            <a:off x="1995805" y="471001"/>
            <a:ext cx="4064000" cy="523220"/>
          </a:xfrm>
          <a:prstGeom prst="rect">
            <a:avLst/>
          </a:prstGeom>
          <a:noFill/>
        </p:spPr>
        <p:txBody>
          <a:bodyPr wrap="square" rtlCol="0">
            <a:spAutoFit/>
          </a:bodyPr>
          <a:lstStyle/>
          <a:p>
            <a:r>
              <a:rPr lang="zh-CN" altLang="en-US" sz="2800" b="1" dirty="0">
                <a:solidFill>
                  <a:srgbClr val="136FB8"/>
                </a:solidFill>
              </a:rPr>
              <a:t>比赛时间和测试内容</a:t>
            </a:r>
            <a:endParaRPr lang="zh-CN" altLang="en-US" sz="2800" b="1" dirty="0">
              <a:solidFill>
                <a:srgbClr val="136FB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864957" y="1180865"/>
            <a:ext cx="9594937" cy="4300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评分规则</a:t>
            </a:r>
            <a:r>
              <a:rPr lang="en-US" altLang="zh-CN" dirty="0"/>
              <a:t>-</a:t>
            </a:r>
            <a:r>
              <a:rPr lang="zh-CN" altLang="en-US" dirty="0"/>
              <a:t>预选赛</a:t>
            </a:r>
            <a:endParaRPr lang="zh-CN" altLang="en-US" dirty="0"/>
          </a:p>
        </p:txBody>
      </p:sp>
      <p:sp>
        <p:nvSpPr>
          <p:cNvPr id="3" name="内容占位符 2"/>
          <p:cNvSpPr txBox="1"/>
          <p:nvPr/>
        </p:nvSpPr>
        <p:spPr>
          <a:xfrm>
            <a:off x="929005" y="1222512"/>
            <a:ext cx="4590093" cy="2607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t>总分 </a:t>
            </a:r>
            <a:r>
              <a:rPr lang="en-US" altLang="zh-CN" sz="1600" dirty="0"/>
              <a:t>= </a:t>
            </a:r>
            <a:r>
              <a:rPr lang="zh-CN" altLang="en-US" sz="1600" dirty="0"/>
              <a:t> 覆盖率评价分</a:t>
            </a:r>
            <a:r>
              <a:rPr lang="en-US" altLang="zh-CN" sz="1600" dirty="0"/>
              <a:t> </a:t>
            </a:r>
            <a:endParaRPr lang="en-US" altLang="zh-CN" sz="1600" dirty="0"/>
          </a:p>
        </p:txBody>
      </p:sp>
      <p:sp>
        <p:nvSpPr>
          <p:cNvPr id="29" name="文本框 28"/>
          <p:cNvSpPr txBox="1"/>
          <p:nvPr/>
        </p:nvSpPr>
        <p:spPr>
          <a:xfrm>
            <a:off x="1066508" y="1760379"/>
            <a:ext cx="6388392"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覆盖率评价</a:t>
            </a:r>
            <a:r>
              <a:rPr lang="zh-CN" altLang="en-US" sz="1600" dirty="0"/>
              <a:t>：</a:t>
            </a:r>
            <a:endParaRPr lang="en-US" altLang="zh-CN" sz="1600" dirty="0"/>
          </a:p>
        </p:txBody>
      </p:sp>
      <p:sp>
        <p:nvSpPr>
          <p:cNvPr id="16" name="文本框 15"/>
          <p:cNvSpPr txBox="1"/>
          <p:nvPr/>
        </p:nvSpPr>
        <p:spPr>
          <a:xfrm>
            <a:off x="1438019" y="2069414"/>
            <a:ext cx="7833310" cy="1060450"/>
          </a:xfrm>
          <a:prstGeom prst="rect">
            <a:avLst/>
          </a:prstGeom>
          <a:noFill/>
        </p:spPr>
        <p:txBody>
          <a:bodyPr wrap="square">
            <a:spAutoFit/>
          </a:bodyPr>
          <a:lstStyle/>
          <a:p>
            <a:pPr>
              <a:lnSpc>
                <a:spcPct val="150000"/>
              </a:lnSpc>
            </a:pPr>
            <a:r>
              <a:rPr lang="en-US" altLang="zh-CN" sz="1400" dirty="0"/>
              <a:t>1.</a:t>
            </a:r>
            <a:r>
              <a:rPr lang="zh-CN" altLang="en-US" sz="1400" dirty="0"/>
              <a:t>计算参赛选手编写的测试脚本对被测件的代码覆盖率</a:t>
            </a:r>
            <a:endParaRPr lang="zh-CN" altLang="en-US" sz="1400" dirty="0"/>
          </a:p>
          <a:p>
            <a:pPr>
              <a:lnSpc>
                <a:spcPct val="150000"/>
              </a:lnSpc>
            </a:pPr>
            <a:r>
              <a:rPr lang="en-US" altLang="zh-CN" sz="1400" dirty="0"/>
              <a:t>2.</a:t>
            </a:r>
            <a:r>
              <a:rPr lang="zh-CN" altLang="en-US" sz="1400" dirty="0"/>
              <a:t>选手可以实时查看测试覆盖率得分并上传</a:t>
            </a:r>
            <a:endParaRPr lang="zh-CN" altLang="en-US" sz="1400" dirty="0"/>
          </a:p>
          <a:p>
            <a:pPr>
              <a:lnSpc>
                <a:spcPct val="150000"/>
              </a:lnSpc>
            </a:pPr>
            <a:r>
              <a:rPr lang="en-US" altLang="zh-CN" sz="1400" dirty="0">
                <a:solidFill>
                  <a:schemeClr val="tx1"/>
                </a:solidFill>
                <a:highlight>
                  <a:srgbClr val="FFFF00"/>
                </a:highlight>
              </a:rPr>
              <a:t>3.</a:t>
            </a:r>
            <a:r>
              <a:rPr lang="zh-CN" altLang="en-US" sz="1400" dirty="0">
                <a:solidFill>
                  <a:schemeClr val="tx1"/>
                </a:solidFill>
                <a:highlight>
                  <a:srgbClr val="FFFF00"/>
                </a:highlight>
              </a:rPr>
              <a:t>以最后上传的得分为最终覆盖率得分</a:t>
            </a:r>
            <a:endParaRPr lang="zh-CN" altLang="en-US" sz="1400" dirty="0">
              <a:solidFill>
                <a:schemeClr val="tx1"/>
              </a:solidFill>
              <a:highlight>
                <a:srgbClr val="FFFF00"/>
              </a:highlight>
            </a:endParaRPr>
          </a:p>
        </p:txBody>
      </p:sp>
      <p:pic>
        <p:nvPicPr>
          <p:cNvPr id="4" name="图片 3"/>
          <p:cNvPicPr>
            <a:picLocks noChangeAspect="1"/>
          </p:cNvPicPr>
          <p:nvPr/>
        </p:nvPicPr>
        <p:blipFill>
          <a:blip r:embed="rId1"/>
          <a:stretch>
            <a:fillRect/>
          </a:stretch>
        </p:blipFill>
        <p:spPr>
          <a:xfrm>
            <a:off x="0" y="0"/>
            <a:ext cx="5163671" cy="1148799"/>
          </a:xfrm>
          <a:prstGeom prst="rect">
            <a:avLst/>
          </a:prstGeom>
        </p:spPr>
      </p:pic>
      <p:sp>
        <p:nvSpPr>
          <p:cNvPr id="5" name="文本框 4"/>
          <p:cNvSpPr txBox="1"/>
          <p:nvPr/>
        </p:nvSpPr>
        <p:spPr>
          <a:xfrm>
            <a:off x="1995805" y="471001"/>
            <a:ext cx="4064000" cy="523220"/>
          </a:xfrm>
          <a:prstGeom prst="rect">
            <a:avLst/>
          </a:prstGeom>
          <a:noFill/>
        </p:spPr>
        <p:txBody>
          <a:bodyPr wrap="square" rtlCol="0">
            <a:spAutoFit/>
          </a:bodyPr>
          <a:lstStyle/>
          <a:p>
            <a:r>
              <a:rPr lang="zh-CN" altLang="en-US" sz="2800" b="1" dirty="0">
                <a:solidFill>
                  <a:srgbClr val="136FB8"/>
                </a:solidFill>
              </a:rPr>
              <a:t>评分规则</a:t>
            </a:r>
            <a:r>
              <a:rPr lang="en-US" altLang="zh-CN" sz="2800" b="1" dirty="0">
                <a:solidFill>
                  <a:srgbClr val="136FB8"/>
                </a:solidFill>
              </a:rPr>
              <a:t>-</a:t>
            </a:r>
            <a:r>
              <a:rPr lang="zh-CN" altLang="en-US" sz="2800" b="1" dirty="0">
                <a:solidFill>
                  <a:srgbClr val="136FB8"/>
                </a:solidFill>
              </a:rPr>
              <a:t>预选赛</a:t>
            </a:r>
            <a:endParaRPr lang="zh-CN" altLang="en-US" sz="2800" b="1" dirty="0">
              <a:solidFill>
                <a:srgbClr val="136FB8"/>
              </a:solidFill>
            </a:endParaRPr>
          </a:p>
        </p:txBody>
      </p:sp>
      <p:sp>
        <p:nvSpPr>
          <p:cNvPr id="6" name="文本框 5"/>
          <p:cNvSpPr txBox="1"/>
          <p:nvPr/>
        </p:nvSpPr>
        <p:spPr>
          <a:xfrm>
            <a:off x="1063333" y="3429159"/>
            <a:ext cx="6388392" cy="337185"/>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答案提交</a:t>
            </a:r>
            <a:r>
              <a:rPr lang="zh-CN" altLang="en-US" sz="1600" dirty="0"/>
              <a:t>：</a:t>
            </a:r>
            <a:endParaRPr lang="en-US" altLang="zh-CN" sz="1600" dirty="0"/>
          </a:p>
        </p:txBody>
      </p:sp>
      <p:sp>
        <p:nvSpPr>
          <p:cNvPr id="7" name="文本框 6"/>
          <p:cNvSpPr txBox="1"/>
          <p:nvPr/>
        </p:nvSpPr>
        <p:spPr>
          <a:xfrm>
            <a:off x="1438019" y="3795344"/>
            <a:ext cx="7833310" cy="414020"/>
          </a:xfrm>
          <a:prstGeom prst="rect">
            <a:avLst/>
          </a:prstGeom>
          <a:noFill/>
        </p:spPr>
        <p:txBody>
          <a:bodyPr wrap="square">
            <a:spAutoFit/>
          </a:bodyPr>
          <a:lstStyle/>
          <a:p>
            <a:pPr>
              <a:lnSpc>
                <a:spcPct val="150000"/>
              </a:lnSpc>
            </a:pPr>
            <a:r>
              <a:rPr lang="zh-CN" altLang="en-US" sz="1400" dirty="0">
                <a:solidFill>
                  <a:schemeClr val="tx1"/>
                </a:solidFill>
                <a:highlight>
                  <a:srgbClr val="FFFF00"/>
                </a:highlight>
              </a:rPr>
              <a:t>提交覆盖率成绩截屏、项目工程文件及测试脚本</a:t>
            </a:r>
            <a:endParaRPr lang="zh-CN" altLang="en-US" sz="1400" dirty="0">
              <a:solidFill>
                <a:schemeClr val="tx1"/>
              </a:solidFill>
              <a:highlight>
                <a:srgbClr val="FFFF00"/>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864957" y="1212190"/>
            <a:ext cx="9594937" cy="4300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评分规则</a:t>
            </a:r>
            <a:r>
              <a:rPr lang="en-US" altLang="zh-CN" dirty="0"/>
              <a:t>-</a:t>
            </a:r>
            <a:r>
              <a:rPr lang="zh-CN" altLang="en-US" dirty="0"/>
              <a:t>省赛、决赛</a:t>
            </a:r>
            <a:endParaRPr lang="zh-CN" altLang="en-US" dirty="0"/>
          </a:p>
        </p:txBody>
      </p:sp>
      <p:sp>
        <p:nvSpPr>
          <p:cNvPr id="3" name="内容占位符 2"/>
          <p:cNvSpPr txBox="1"/>
          <p:nvPr/>
        </p:nvSpPr>
        <p:spPr>
          <a:xfrm>
            <a:off x="864957" y="1266599"/>
            <a:ext cx="4590093" cy="2607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t>总分 </a:t>
            </a:r>
            <a:r>
              <a:rPr lang="en-US" altLang="zh-CN" sz="1600" dirty="0"/>
              <a:t>= </a:t>
            </a:r>
            <a:r>
              <a:rPr lang="zh-CN" altLang="en-US" sz="1600" dirty="0"/>
              <a:t> 检错率评价</a:t>
            </a:r>
            <a:r>
              <a:rPr lang="en-US" altLang="zh-CN" sz="1600" dirty="0"/>
              <a:t>*50% + </a:t>
            </a:r>
            <a:r>
              <a:rPr lang="zh-CN" altLang="en-US" sz="1600" dirty="0"/>
              <a:t>覆盖率评价 </a:t>
            </a:r>
            <a:r>
              <a:rPr lang="en-US" altLang="zh-CN" sz="1600" dirty="0"/>
              <a:t>*50% </a:t>
            </a:r>
            <a:endParaRPr lang="en-US" altLang="zh-CN" sz="1600" dirty="0"/>
          </a:p>
        </p:txBody>
      </p:sp>
      <p:sp>
        <p:nvSpPr>
          <p:cNvPr id="5" name="文本框 4"/>
          <p:cNvSpPr txBox="1"/>
          <p:nvPr/>
        </p:nvSpPr>
        <p:spPr>
          <a:xfrm>
            <a:off x="1066508" y="1674967"/>
            <a:ext cx="9434085"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检错率评价</a:t>
            </a:r>
            <a:r>
              <a:rPr lang="zh-CN" altLang="en-US" sz="1600" dirty="0"/>
              <a:t>：审查选手上传的</a:t>
            </a:r>
            <a:r>
              <a:rPr lang="en-US" altLang="zh-CN" sz="1600" dirty="0"/>
              <a:t>【</a:t>
            </a:r>
            <a:r>
              <a:rPr lang="zh-CN" altLang="en-US" sz="1600" dirty="0"/>
              <a:t>问题报告</a:t>
            </a:r>
            <a:r>
              <a:rPr lang="en-US" altLang="zh-CN" sz="1600" dirty="0"/>
              <a:t>】</a:t>
            </a:r>
            <a:r>
              <a:rPr lang="zh-CN" altLang="en-US" sz="1600" dirty="0"/>
              <a:t>，以报告中描述的问题为依据进行评分。</a:t>
            </a:r>
            <a:endParaRPr lang="en-US" altLang="zh-CN" sz="1600" dirty="0"/>
          </a:p>
        </p:txBody>
      </p:sp>
      <p:sp>
        <p:nvSpPr>
          <p:cNvPr id="20" name="内容占位符 2"/>
          <p:cNvSpPr txBox="1"/>
          <p:nvPr/>
        </p:nvSpPr>
        <p:spPr>
          <a:xfrm>
            <a:off x="2644065" y="2046486"/>
            <a:ext cx="5499099" cy="846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功能测试：检查软件功能是否符合需求描述。</a:t>
            </a:r>
            <a:endParaRPr lang="en-US" altLang="zh-CN" sz="1400" dirty="0"/>
          </a:p>
          <a:p>
            <a:r>
              <a:rPr lang="zh-CN" altLang="en-US" sz="1400" dirty="0"/>
              <a:t>接口测试：考察待测件与其他模块之间的接口是否符合需求描述。</a:t>
            </a:r>
            <a:endParaRPr lang="en-US" altLang="zh-CN" sz="1400" dirty="0"/>
          </a:p>
          <a:p>
            <a:r>
              <a:rPr lang="zh-CN" altLang="en-US" sz="1400" dirty="0"/>
              <a:t>性能测试：考察软件完成功能的时间指标。</a:t>
            </a:r>
            <a:endParaRPr lang="zh-CN" altLang="en-US" sz="1400" dirty="0"/>
          </a:p>
        </p:txBody>
      </p:sp>
      <p:sp>
        <p:nvSpPr>
          <p:cNvPr id="25" name="内容占位符 2"/>
          <p:cNvSpPr txBox="1"/>
          <p:nvPr/>
        </p:nvSpPr>
        <p:spPr>
          <a:xfrm>
            <a:off x="2644140" y="3066415"/>
            <a:ext cx="5320030" cy="7029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只填写发现的缺陷（没有缺陷不用填写）</a:t>
            </a:r>
            <a:endParaRPr lang="en-US" altLang="zh-CN" sz="1400" dirty="0"/>
          </a:p>
          <a:p>
            <a:endParaRPr lang="en-US" altLang="zh-CN" sz="1400" dirty="0"/>
          </a:p>
          <a:p>
            <a:r>
              <a:rPr lang="zh-CN" altLang="en-US" sz="1400" dirty="0"/>
              <a:t>性能测试需求提交具体的结果数据</a:t>
            </a:r>
            <a:endParaRPr lang="zh-CN" altLang="en-US" sz="1400" dirty="0"/>
          </a:p>
        </p:txBody>
      </p:sp>
      <p:sp>
        <p:nvSpPr>
          <p:cNvPr id="27" name="文本框 26"/>
          <p:cNvSpPr txBox="1"/>
          <p:nvPr/>
        </p:nvSpPr>
        <p:spPr>
          <a:xfrm>
            <a:off x="1317913" y="3036873"/>
            <a:ext cx="1536992" cy="306705"/>
          </a:xfrm>
          <a:prstGeom prst="rect">
            <a:avLst/>
          </a:prstGeom>
          <a:noFill/>
        </p:spPr>
        <p:txBody>
          <a:bodyPr wrap="square">
            <a:spAutoFit/>
          </a:bodyPr>
          <a:lstStyle>
            <a:defPPr>
              <a:defRPr lang="zh-CN"/>
            </a:defPPr>
            <a:lvl1pPr>
              <a:defRPr sz="1400" b="1"/>
            </a:lvl1pPr>
          </a:lstStyle>
          <a:p>
            <a:r>
              <a:rPr lang="zh-CN" altLang="en-US" dirty="0"/>
              <a:t>测试报告填写：</a:t>
            </a:r>
            <a:endParaRPr lang="zh-CN" altLang="en-US" dirty="0"/>
          </a:p>
        </p:txBody>
      </p:sp>
      <p:sp>
        <p:nvSpPr>
          <p:cNvPr id="28" name="文本框 27"/>
          <p:cNvSpPr txBox="1"/>
          <p:nvPr/>
        </p:nvSpPr>
        <p:spPr>
          <a:xfrm>
            <a:off x="1637318" y="2063209"/>
            <a:ext cx="1349087" cy="306705"/>
          </a:xfrm>
          <a:prstGeom prst="rect">
            <a:avLst/>
          </a:prstGeom>
          <a:noFill/>
        </p:spPr>
        <p:txBody>
          <a:bodyPr wrap="square">
            <a:spAutoFit/>
          </a:bodyPr>
          <a:lstStyle/>
          <a:p>
            <a:r>
              <a:rPr lang="zh-CN" altLang="en-US" sz="1400" b="1" dirty="0"/>
              <a:t>测试要求：</a:t>
            </a:r>
            <a:endParaRPr lang="zh-CN" altLang="en-US" sz="1400" b="1" dirty="0"/>
          </a:p>
        </p:txBody>
      </p:sp>
      <p:sp>
        <p:nvSpPr>
          <p:cNvPr id="29" name="文本框 28"/>
          <p:cNvSpPr txBox="1"/>
          <p:nvPr/>
        </p:nvSpPr>
        <p:spPr>
          <a:xfrm>
            <a:off x="1100163" y="4595019"/>
            <a:ext cx="6388392"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覆盖率评价</a:t>
            </a:r>
            <a:r>
              <a:rPr lang="zh-CN" altLang="en-US" sz="1600" dirty="0"/>
              <a:t>：</a:t>
            </a:r>
            <a:endParaRPr lang="en-US" altLang="zh-CN" sz="1600" dirty="0"/>
          </a:p>
        </p:txBody>
      </p:sp>
      <p:grpSp>
        <p:nvGrpSpPr>
          <p:cNvPr id="12" name="组合 11"/>
          <p:cNvGrpSpPr/>
          <p:nvPr/>
        </p:nvGrpSpPr>
        <p:grpSpPr>
          <a:xfrm>
            <a:off x="2977306" y="3997751"/>
            <a:ext cx="7833310" cy="509214"/>
            <a:chOff x="3386138" y="5152118"/>
            <a:chExt cx="7833310" cy="509214"/>
          </a:xfrm>
        </p:grpSpPr>
        <p:pic>
          <p:nvPicPr>
            <p:cNvPr id="8" name="图片 7"/>
            <p:cNvPicPr>
              <a:picLocks noChangeAspect="1"/>
            </p:cNvPicPr>
            <p:nvPr/>
          </p:nvPicPr>
          <p:blipFill rotWithShape="1">
            <a:blip r:embed="rId1"/>
            <a:srcRect t="-319" b="1"/>
            <a:stretch>
              <a:fillRect/>
            </a:stretch>
          </p:blipFill>
          <p:spPr>
            <a:xfrm>
              <a:off x="3426994" y="5171546"/>
              <a:ext cx="7721804" cy="489786"/>
            </a:xfrm>
            <a:prstGeom prst="rect">
              <a:avLst/>
            </a:prstGeom>
          </p:spPr>
        </p:pic>
        <p:pic>
          <p:nvPicPr>
            <p:cNvPr id="11" name="图片 10"/>
            <p:cNvPicPr>
              <a:picLocks noChangeAspect="1"/>
            </p:cNvPicPr>
            <p:nvPr/>
          </p:nvPicPr>
          <p:blipFill>
            <a:blip r:embed="rId2"/>
            <a:stretch>
              <a:fillRect/>
            </a:stretch>
          </p:blipFill>
          <p:spPr>
            <a:xfrm>
              <a:off x="3386138" y="5152118"/>
              <a:ext cx="7833310" cy="45719"/>
            </a:xfrm>
            <a:prstGeom prst="rect">
              <a:avLst/>
            </a:prstGeom>
          </p:spPr>
        </p:pic>
      </p:grpSp>
      <p:grpSp>
        <p:nvGrpSpPr>
          <p:cNvPr id="14" name="组合 13"/>
          <p:cNvGrpSpPr/>
          <p:nvPr/>
        </p:nvGrpSpPr>
        <p:grpSpPr>
          <a:xfrm>
            <a:off x="3018054" y="3343324"/>
            <a:ext cx="7833310" cy="352726"/>
            <a:chOff x="3426994" y="4324879"/>
            <a:chExt cx="7833310" cy="352726"/>
          </a:xfrm>
        </p:grpSpPr>
        <p:pic>
          <p:nvPicPr>
            <p:cNvPr id="6" name="图片 5"/>
            <p:cNvPicPr>
              <a:picLocks noChangeAspect="1"/>
            </p:cNvPicPr>
            <p:nvPr/>
          </p:nvPicPr>
          <p:blipFill>
            <a:blip r:embed="rId3"/>
            <a:stretch>
              <a:fillRect/>
            </a:stretch>
          </p:blipFill>
          <p:spPr>
            <a:xfrm>
              <a:off x="3426994" y="4324879"/>
              <a:ext cx="7792454" cy="336830"/>
            </a:xfrm>
            <a:prstGeom prst="rect">
              <a:avLst/>
            </a:prstGeom>
          </p:spPr>
        </p:pic>
        <p:pic>
          <p:nvPicPr>
            <p:cNvPr id="13" name="图片 12"/>
            <p:cNvPicPr>
              <a:picLocks noChangeAspect="1"/>
            </p:cNvPicPr>
            <p:nvPr/>
          </p:nvPicPr>
          <p:blipFill>
            <a:blip r:embed="rId2"/>
            <a:stretch>
              <a:fillRect/>
            </a:stretch>
          </p:blipFill>
          <p:spPr>
            <a:xfrm>
              <a:off x="3426994" y="4631886"/>
              <a:ext cx="7833310" cy="45719"/>
            </a:xfrm>
            <a:prstGeom prst="rect">
              <a:avLst/>
            </a:prstGeom>
          </p:spPr>
        </p:pic>
      </p:grpSp>
      <p:sp>
        <p:nvSpPr>
          <p:cNvPr id="16" name="文本框 15"/>
          <p:cNvSpPr txBox="1"/>
          <p:nvPr/>
        </p:nvSpPr>
        <p:spPr>
          <a:xfrm>
            <a:off x="2644140" y="4529455"/>
            <a:ext cx="8095615" cy="829945"/>
          </a:xfrm>
          <a:prstGeom prst="rect">
            <a:avLst/>
          </a:prstGeom>
          <a:noFill/>
        </p:spPr>
        <p:txBody>
          <a:bodyPr wrap="square">
            <a:spAutoFit/>
          </a:bodyPr>
          <a:lstStyle/>
          <a:p>
            <a:pPr>
              <a:lnSpc>
                <a:spcPct val="150000"/>
              </a:lnSpc>
            </a:pPr>
            <a:r>
              <a:rPr lang="zh-CN" altLang="en-US" sz="1600" dirty="0"/>
              <a:t>计算参赛选手编写的测试脚本对待测件的代码覆盖率，选手可以实时查看测试覆盖率得分并上传，</a:t>
            </a:r>
            <a:r>
              <a:rPr lang="zh-CN" altLang="en-US" sz="1600" dirty="0">
                <a:highlight>
                  <a:srgbClr val="FFFF00"/>
                </a:highlight>
              </a:rPr>
              <a:t>以最后上传的得分为最终覆盖率得分。</a:t>
            </a:r>
            <a:endParaRPr lang="zh-CN" altLang="en-US" sz="1600" dirty="0">
              <a:highlight>
                <a:srgbClr val="FFFF00"/>
              </a:highlight>
            </a:endParaRPr>
          </a:p>
        </p:txBody>
      </p:sp>
      <p:pic>
        <p:nvPicPr>
          <p:cNvPr id="4" name="图片 3"/>
          <p:cNvPicPr>
            <a:picLocks noChangeAspect="1"/>
          </p:cNvPicPr>
          <p:nvPr/>
        </p:nvPicPr>
        <p:blipFill>
          <a:blip r:embed="rId4"/>
          <a:stretch>
            <a:fillRect/>
          </a:stretch>
        </p:blipFill>
        <p:spPr>
          <a:xfrm>
            <a:off x="0" y="0"/>
            <a:ext cx="5163671" cy="1148799"/>
          </a:xfrm>
          <a:prstGeom prst="rect">
            <a:avLst/>
          </a:prstGeom>
        </p:spPr>
      </p:pic>
      <p:sp>
        <p:nvSpPr>
          <p:cNvPr id="7" name="文本框 6"/>
          <p:cNvSpPr txBox="1"/>
          <p:nvPr/>
        </p:nvSpPr>
        <p:spPr>
          <a:xfrm>
            <a:off x="1995805" y="471001"/>
            <a:ext cx="4064000" cy="523220"/>
          </a:xfrm>
          <a:prstGeom prst="rect">
            <a:avLst/>
          </a:prstGeom>
          <a:noFill/>
        </p:spPr>
        <p:txBody>
          <a:bodyPr wrap="square" rtlCol="0">
            <a:spAutoFit/>
          </a:bodyPr>
          <a:lstStyle/>
          <a:p>
            <a:r>
              <a:rPr lang="zh-CN" altLang="en-US" sz="2800" b="1" dirty="0">
                <a:solidFill>
                  <a:srgbClr val="136FB8"/>
                </a:solidFill>
              </a:rPr>
              <a:t>评分规则</a:t>
            </a:r>
            <a:r>
              <a:rPr lang="en-US" altLang="zh-CN" sz="2800" b="1" dirty="0">
                <a:solidFill>
                  <a:srgbClr val="136FB8"/>
                </a:solidFill>
              </a:rPr>
              <a:t>-</a:t>
            </a:r>
            <a:r>
              <a:rPr lang="zh-CN" altLang="en-US" sz="2800" b="1" dirty="0">
                <a:solidFill>
                  <a:srgbClr val="136FB8"/>
                </a:solidFill>
              </a:rPr>
              <a:t>省赛</a:t>
            </a:r>
            <a:endParaRPr lang="zh-CN" altLang="en-US" sz="2800" b="1" dirty="0">
              <a:solidFill>
                <a:srgbClr val="136FB8"/>
              </a:solidFill>
            </a:endParaRPr>
          </a:p>
        </p:txBody>
      </p:sp>
      <p:sp>
        <p:nvSpPr>
          <p:cNvPr id="9" name="文本框 8"/>
          <p:cNvSpPr txBox="1"/>
          <p:nvPr/>
        </p:nvSpPr>
        <p:spPr>
          <a:xfrm>
            <a:off x="1100163" y="5462429"/>
            <a:ext cx="6388392" cy="337185"/>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答案提交</a:t>
            </a:r>
            <a:r>
              <a:rPr lang="zh-CN" altLang="en-US" sz="1600" dirty="0"/>
              <a:t>：</a:t>
            </a:r>
            <a:endParaRPr lang="en-US" altLang="zh-CN" sz="1600" dirty="0"/>
          </a:p>
        </p:txBody>
      </p:sp>
      <p:sp>
        <p:nvSpPr>
          <p:cNvPr id="10" name="文本框 9"/>
          <p:cNvSpPr txBox="1"/>
          <p:nvPr/>
        </p:nvSpPr>
        <p:spPr>
          <a:xfrm>
            <a:off x="2644140" y="5440680"/>
            <a:ext cx="7484110" cy="337185"/>
          </a:xfrm>
          <a:prstGeom prst="rect">
            <a:avLst/>
          </a:prstGeom>
          <a:noFill/>
        </p:spPr>
        <p:txBody>
          <a:bodyPr wrap="square" rtlCol="0">
            <a:spAutoFit/>
          </a:bodyPr>
          <a:p>
            <a:r>
              <a:rPr lang="zh-CN" altLang="en-US" sz="1600">
                <a:highlight>
                  <a:srgbClr val="FFFF00"/>
                </a:highlight>
              </a:rPr>
              <a:t>提交问题报告文档、覆盖率成绩截屏、项目工程文件及测试脚本。</a:t>
            </a:r>
            <a:endParaRPr lang="zh-CN" altLang="en-US" sz="1600">
              <a:highlight>
                <a:srgbClr val="FF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864957" y="1212190"/>
            <a:ext cx="9594937" cy="4300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评分规则</a:t>
            </a:r>
            <a:r>
              <a:rPr lang="en-US" altLang="zh-CN" dirty="0"/>
              <a:t>-</a:t>
            </a:r>
            <a:r>
              <a:rPr lang="zh-CN" altLang="en-US" dirty="0"/>
              <a:t>省赛、决赛</a:t>
            </a:r>
            <a:endParaRPr lang="zh-CN" altLang="en-US" dirty="0"/>
          </a:p>
        </p:txBody>
      </p:sp>
      <p:sp>
        <p:nvSpPr>
          <p:cNvPr id="3" name="内容占位符 2"/>
          <p:cNvSpPr txBox="1"/>
          <p:nvPr/>
        </p:nvSpPr>
        <p:spPr>
          <a:xfrm>
            <a:off x="864957" y="1266599"/>
            <a:ext cx="7578653" cy="2607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sym typeface="+mn-ea"/>
              </a:rPr>
              <a:t>总分 </a:t>
            </a:r>
            <a:r>
              <a:rPr lang="en-US" altLang="zh-CN" sz="1600" dirty="0">
                <a:sym typeface="+mn-ea"/>
              </a:rPr>
              <a:t>= </a:t>
            </a:r>
            <a:r>
              <a:rPr lang="zh-CN" altLang="en-US" sz="1600" dirty="0">
                <a:sym typeface="+mn-ea"/>
              </a:rPr>
              <a:t> 检错率评价</a:t>
            </a:r>
            <a:r>
              <a:rPr lang="en-US" altLang="zh-CN" sz="1600" dirty="0">
                <a:sym typeface="+mn-ea"/>
              </a:rPr>
              <a:t>*50% + </a:t>
            </a:r>
            <a:r>
              <a:rPr lang="zh-CN" altLang="en-US" sz="1600" dirty="0">
                <a:sym typeface="+mn-ea"/>
              </a:rPr>
              <a:t>覆盖率评价 </a:t>
            </a:r>
            <a:r>
              <a:rPr lang="en-US" altLang="zh-CN" sz="1600" dirty="0">
                <a:sym typeface="+mn-ea"/>
              </a:rPr>
              <a:t>*30% + </a:t>
            </a:r>
            <a:r>
              <a:rPr lang="zh-CN" altLang="en-US" sz="1600" dirty="0">
                <a:sym typeface="+mn-ea"/>
              </a:rPr>
              <a:t>脚本质量评价 </a:t>
            </a:r>
            <a:r>
              <a:rPr lang="en-US" altLang="zh-CN" sz="1600" dirty="0">
                <a:sym typeface="+mn-ea"/>
              </a:rPr>
              <a:t>*20% </a:t>
            </a:r>
            <a:endParaRPr lang="en-US" altLang="zh-CN" sz="1600" dirty="0"/>
          </a:p>
          <a:p>
            <a:pPr marL="0" indent="0">
              <a:buNone/>
            </a:pPr>
            <a:r>
              <a:rPr lang="en-US" altLang="zh-CN" sz="1600" dirty="0"/>
              <a:t> </a:t>
            </a:r>
            <a:endParaRPr lang="en-US" altLang="zh-CN" sz="1600" dirty="0"/>
          </a:p>
        </p:txBody>
      </p:sp>
      <p:sp>
        <p:nvSpPr>
          <p:cNvPr id="5" name="文本框 4"/>
          <p:cNvSpPr txBox="1"/>
          <p:nvPr/>
        </p:nvSpPr>
        <p:spPr>
          <a:xfrm>
            <a:off x="1066508" y="1833717"/>
            <a:ext cx="9434085" cy="337185"/>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检错率评价</a:t>
            </a:r>
            <a:r>
              <a:rPr lang="zh-CN" altLang="en-US" sz="1600" dirty="0"/>
              <a:t>：审查选手</a:t>
            </a:r>
            <a:r>
              <a:rPr lang="zh-CN" altLang="en-US" sz="1600" dirty="0"/>
              <a:t>提交的</a:t>
            </a:r>
            <a:r>
              <a:rPr lang="en-US" altLang="zh-CN" sz="1600" dirty="0"/>
              <a:t>【</a:t>
            </a:r>
            <a:r>
              <a:rPr lang="zh-CN" altLang="en-US" sz="1600" dirty="0"/>
              <a:t>问题报告</a:t>
            </a:r>
            <a:r>
              <a:rPr lang="en-US" altLang="zh-CN" sz="1600" dirty="0"/>
              <a:t>】</a:t>
            </a:r>
            <a:r>
              <a:rPr lang="zh-CN" altLang="en-US" sz="1600" dirty="0"/>
              <a:t>，以报告中描述的问题为依据进行评分。</a:t>
            </a:r>
            <a:endParaRPr lang="en-US" altLang="zh-CN" sz="1600" dirty="0"/>
          </a:p>
        </p:txBody>
      </p:sp>
      <p:sp>
        <p:nvSpPr>
          <p:cNvPr id="20" name="内容占位符 2"/>
          <p:cNvSpPr txBox="1"/>
          <p:nvPr/>
        </p:nvSpPr>
        <p:spPr>
          <a:xfrm>
            <a:off x="2626285" y="2363986"/>
            <a:ext cx="5499099" cy="846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功能测试：检查软件功能是否符合需求描述。</a:t>
            </a:r>
            <a:endParaRPr lang="en-US" altLang="zh-CN" sz="1400" dirty="0"/>
          </a:p>
          <a:p>
            <a:r>
              <a:rPr lang="zh-CN" altLang="en-US" sz="1400" dirty="0"/>
              <a:t>接口测试：考察待测件与其他模块之间的接口是否符合需求描述。</a:t>
            </a:r>
            <a:endParaRPr lang="en-US" altLang="zh-CN" sz="1400" dirty="0"/>
          </a:p>
          <a:p>
            <a:r>
              <a:rPr lang="zh-CN" altLang="en-US" sz="1400" dirty="0"/>
              <a:t>性能测试：考察软件完成功能的时间指标。</a:t>
            </a:r>
            <a:endParaRPr lang="zh-CN" altLang="en-US" sz="1400" dirty="0"/>
          </a:p>
        </p:txBody>
      </p:sp>
      <p:sp>
        <p:nvSpPr>
          <p:cNvPr id="25" name="内容占位符 2"/>
          <p:cNvSpPr txBox="1"/>
          <p:nvPr/>
        </p:nvSpPr>
        <p:spPr>
          <a:xfrm>
            <a:off x="2664385" y="3522382"/>
            <a:ext cx="5320120" cy="8466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只填写发现的缺陷（没有缺陷不用填写）</a:t>
            </a:r>
            <a:endParaRPr lang="en-US" altLang="zh-CN" sz="1400" dirty="0"/>
          </a:p>
          <a:p>
            <a:endParaRPr lang="en-US" altLang="zh-CN" sz="1400" dirty="0"/>
          </a:p>
          <a:p>
            <a:pPr marL="0" indent="0">
              <a:buNone/>
            </a:pPr>
            <a:endParaRPr lang="en-US" altLang="zh-CN" sz="1400" dirty="0"/>
          </a:p>
          <a:p>
            <a:r>
              <a:rPr lang="zh-CN" altLang="en-US" sz="1400" dirty="0"/>
              <a:t>性能测试需求提交具体的结果数据</a:t>
            </a:r>
            <a:endParaRPr lang="zh-CN" altLang="en-US" sz="1400" dirty="0"/>
          </a:p>
        </p:txBody>
      </p:sp>
      <p:sp>
        <p:nvSpPr>
          <p:cNvPr id="27" name="文本框 26"/>
          <p:cNvSpPr txBox="1"/>
          <p:nvPr/>
        </p:nvSpPr>
        <p:spPr>
          <a:xfrm>
            <a:off x="1361728" y="3508043"/>
            <a:ext cx="1536992" cy="306705"/>
          </a:xfrm>
          <a:prstGeom prst="rect">
            <a:avLst/>
          </a:prstGeom>
          <a:noFill/>
        </p:spPr>
        <p:txBody>
          <a:bodyPr wrap="square">
            <a:spAutoFit/>
          </a:bodyPr>
          <a:lstStyle>
            <a:defPPr>
              <a:defRPr lang="zh-CN"/>
            </a:defPPr>
            <a:lvl1pPr>
              <a:defRPr sz="1400" b="1"/>
            </a:lvl1pPr>
          </a:lstStyle>
          <a:p>
            <a:r>
              <a:rPr lang="zh-CN" altLang="en-US" dirty="0"/>
              <a:t>测试报告填写：</a:t>
            </a:r>
            <a:endParaRPr lang="zh-CN" altLang="en-US" dirty="0"/>
          </a:p>
        </p:txBody>
      </p:sp>
      <p:sp>
        <p:nvSpPr>
          <p:cNvPr id="28" name="文本框 27"/>
          <p:cNvSpPr txBox="1"/>
          <p:nvPr/>
        </p:nvSpPr>
        <p:spPr>
          <a:xfrm>
            <a:off x="1677323" y="2364199"/>
            <a:ext cx="1349087" cy="306705"/>
          </a:xfrm>
          <a:prstGeom prst="rect">
            <a:avLst/>
          </a:prstGeom>
          <a:noFill/>
        </p:spPr>
        <p:txBody>
          <a:bodyPr wrap="square">
            <a:spAutoFit/>
          </a:bodyPr>
          <a:lstStyle/>
          <a:p>
            <a:r>
              <a:rPr lang="zh-CN" altLang="en-US" sz="1400" b="1" dirty="0"/>
              <a:t>测试要求：</a:t>
            </a:r>
            <a:endParaRPr lang="zh-CN" altLang="en-US" sz="1400" b="1" dirty="0"/>
          </a:p>
        </p:txBody>
      </p:sp>
      <p:grpSp>
        <p:nvGrpSpPr>
          <p:cNvPr id="12" name="组合 11"/>
          <p:cNvGrpSpPr/>
          <p:nvPr/>
        </p:nvGrpSpPr>
        <p:grpSpPr>
          <a:xfrm>
            <a:off x="2985561" y="4822616"/>
            <a:ext cx="7833310" cy="509214"/>
            <a:chOff x="3386138" y="5152118"/>
            <a:chExt cx="7833310" cy="509214"/>
          </a:xfrm>
        </p:grpSpPr>
        <p:pic>
          <p:nvPicPr>
            <p:cNvPr id="8" name="图片 7"/>
            <p:cNvPicPr>
              <a:picLocks noChangeAspect="1"/>
            </p:cNvPicPr>
            <p:nvPr/>
          </p:nvPicPr>
          <p:blipFill rotWithShape="1">
            <a:blip r:embed="rId1"/>
            <a:srcRect t="-319" b="1"/>
            <a:stretch>
              <a:fillRect/>
            </a:stretch>
          </p:blipFill>
          <p:spPr>
            <a:xfrm>
              <a:off x="3426994" y="5171546"/>
              <a:ext cx="7721804" cy="489786"/>
            </a:xfrm>
            <a:prstGeom prst="rect">
              <a:avLst/>
            </a:prstGeom>
          </p:spPr>
        </p:pic>
        <p:pic>
          <p:nvPicPr>
            <p:cNvPr id="11" name="图片 10"/>
            <p:cNvPicPr>
              <a:picLocks noChangeAspect="1"/>
            </p:cNvPicPr>
            <p:nvPr/>
          </p:nvPicPr>
          <p:blipFill>
            <a:blip r:embed="rId2"/>
            <a:stretch>
              <a:fillRect/>
            </a:stretch>
          </p:blipFill>
          <p:spPr>
            <a:xfrm>
              <a:off x="3386138" y="5152118"/>
              <a:ext cx="7833310" cy="45719"/>
            </a:xfrm>
            <a:prstGeom prst="rect">
              <a:avLst/>
            </a:prstGeom>
          </p:spPr>
        </p:pic>
      </p:grpSp>
      <p:grpSp>
        <p:nvGrpSpPr>
          <p:cNvPr id="14" name="组合 13"/>
          <p:cNvGrpSpPr/>
          <p:nvPr/>
        </p:nvGrpSpPr>
        <p:grpSpPr>
          <a:xfrm>
            <a:off x="3026309" y="3895139"/>
            <a:ext cx="7833310" cy="352726"/>
            <a:chOff x="3426994" y="4324879"/>
            <a:chExt cx="7833310" cy="352726"/>
          </a:xfrm>
        </p:grpSpPr>
        <p:pic>
          <p:nvPicPr>
            <p:cNvPr id="6" name="图片 5"/>
            <p:cNvPicPr>
              <a:picLocks noChangeAspect="1"/>
            </p:cNvPicPr>
            <p:nvPr/>
          </p:nvPicPr>
          <p:blipFill>
            <a:blip r:embed="rId3"/>
            <a:stretch>
              <a:fillRect/>
            </a:stretch>
          </p:blipFill>
          <p:spPr>
            <a:xfrm>
              <a:off x="3426994" y="4324879"/>
              <a:ext cx="7792454" cy="336830"/>
            </a:xfrm>
            <a:prstGeom prst="rect">
              <a:avLst/>
            </a:prstGeom>
          </p:spPr>
        </p:pic>
        <p:pic>
          <p:nvPicPr>
            <p:cNvPr id="13" name="图片 12"/>
            <p:cNvPicPr>
              <a:picLocks noChangeAspect="1"/>
            </p:cNvPicPr>
            <p:nvPr/>
          </p:nvPicPr>
          <p:blipFill>
            <a:blip r:embed="rId2"/>
            <a:stretch>
              <a:fillRect/>
            </a:stretch>
          </p:blipFill>
          <p:spPr>
            <a:xfrm>
              <a:off x="3426994" y="4631886"/>
              <a:ext cx="7833310" cy="45719"/>
            </a:xfrm>
            <a:prstGeom prst="rect">
              <a:avLst/>
            </a:prstGeom>
          </p:spPr>
        </p:pic>
      </p:grpSp>
      <p:pic>
        <p:nvPicPr>
          <p:cNvPr id="4" name="图片 3"/>
          <p:cNvPicPr>
            <a:picLocks noChangeAspect="1"/>
          </p:cNvPicPr>
          <p:nvPr/>
        </p:nvPicPr>
        <p:blipFill>
          <a:blip r:embed="rId4"/>
          <a:stretch>
            <a:fillRect/>
          </a:stretch>
        </p:blipFill>
        <p:spPr>
          <a:xfrm>
            <a:off x="0" y="0"/>
            <a:ext cx="5163671" cy="1148799"/>
          </a:xfrm>
          <a:prstGeom prst="rect">
            <a:avLst/>
          </a:prstGeom>
        </p:spPr>
      </p:pic>
      <p:sp>
        <p:nvSpPr>
          <p:cNvPr id="7" name="文本框 6"/>
          <p:cNvSpPr txBox="1"/>
          <p:nvPr/>
        </p:nvSpPr>
        <p:spPr>
          <a:xfrm>
            <a:off x="1995805" y="471001"/>
            <a:ext cx="4064000" cy="523220"/>
          </a:xfrm>
          <a:prstGeom prst="rect">
            <a:avLst/>
          </a:prstGeom>
          <a:noFill/>
        </p:spPr>
        <p:txBody>
          <a:bodyPr wrap="square" rtlCol="0">
            <a:spAutoFit/>
          </a:bodyPr>
          <a:lstStyle/>
          <a:p>
            <a:r>
              <a:rPr lang="zh-CN" altLang="en-US" sz="2800" b="1" dirty="0">
                <a:solidFill>
                  <a:srgbClr val="136FB8"/>
                </a:solidFill>
              </a:rPr>
              <a:t>评分规则</a:t>
            </a:r>
            <a:r>
              <a:rPr lang="en-US" altLang="zh-CN" sz="2800" b="1" dirty="0">
                <a:solidFill>
                  <a:srgbClr val="136FB8"/>
                </a:solidFill>
              </a:rPr>
              <a:t>-</a:t>
            </a:r>
            <a:r>
              <a:rPr lang="zh-CN" altLang="en-US" sz="2800" b="1" dirty="0">
                <a:solidFill>
                  <a:srgbClr val="136FB8"/>
                </a:solidFill>
              </a:rPr>
              <a:t>决赛</a:t>
            </a:r>
            <a:endParaRPr lang="zh-CN" altLang="en-US" sz="2800" b="1" dirty="0">
              <a:solidFill>
                <a:srgbClr val="136FB8"/>
              </a:solidFill>
            </a:endParaRPr>
          </a:p>
        </p:txBody>
      </p:sp>
      <p:sp>
        <p:nvSpPr>
          <p:cNvPr id="10" name="文本框 9"/>
          <p:cNvSpPr txBox="1"/>
          <p:nvPr/>
        </p:nvSpPr>
        <p:spPr>
          <a:xfrm>
            <a:off x="1066508" y="5455829"/>
            <a:ext cx="2210291"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覆盖率评价</a:t>
            </a:r>
            <a:r>
              <a:rPr lang="zh-CN" altLang="en-US" sz="1600" dirty="0"/>
              <a:t>：</a:t>
            </a:r>
            <a:endParaRPr lang="en-US" altLang="zh-CN" sz="1600" dirty="0"/>
          </a:p>
        </p:txBody>
      </p:sp>
      <p:sp>
        <p:nvSpPr>
          <p:cNvPr id="15" name="文本框 14"/>
          <p:cNvSpPr txBox="1"/>
          <p:nvPr/>
        </p:nvSpPr>
        <p:spPr>
          <a:xfrm>
            <a:off x="2626584" y="5487143"/>
            <a:ext cx="7833310" cy="306705"/>
          </a:xfrm>
          <a:prstGeom prst="rect">
            <a:avLst/>
          </a:prstGeom>
          <a:noFill/>
        </p:spPr>
        <p:txBody>
          <a:bodyPr wrap="square">
            <a:spAutoFit/>
          </a:bodyPr>
          <a:lstStyle/>
          <a:p>
            <a:pPr indent="0">
              <a:buFont typeface="Wingdings" panose="05000000000000000000" pitchFamily="2" charset="2"/>
              <a:buNone/>
            </a:pPr>
            <a:r>
              <a:rPr lang="zh-CN" altLang="en-US" sz="1400" dirty="0">
                <a:sym typeface="+mn-ea"/>
              </a:rPr>
              <a:t>计算参赛选手编写的测试脚本对待测件的代码覆盖率，选手通过试验箱显示屏查看覆盖率。</a:t>
            </a:r>
            <a:endParaRPr lang="zh-CN" altLang="en-US" sz="1400" dirty="0">
              <a:highlight>
                <a:srgbClr val="FFFF00"/>
              </a:highlight>
            </a:endParaRPr>
          </a:p>
        </p:txBody>
      </p:sp>
      <p:sp>
        <p:nvSpPr>
          <p:cNvPr id="17" name="文本框 16"/>
          <p:cNvSpPr txBox="1"/>
          <p:nvPr/>
        </p:nvSpPr>
        <p:spPr>
          <a:xfrm>
            <a:off x="1066508" y="5986780"/>
            <a:ext cx="1797050" cy="337185"/>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sym typeface="+mn-ea"/>
              </a:rPr>
              <a:t>脚本质量评价</a:t>
            </a:r>
            <a:r>
              <a:rPr lang="zh-CN" altLang="en-US" sz="1600" dirty="0"/>
              <a:t>：</a:t>
            </a:r>
            <a:endParaRPr lang="en-US" altLang="zh-CN" sz="1600" dirty="0"/>
          </a:p>
        </p:txBody>
      </p:sp>
      <p:sp>
        <p:nvSpPr>
          <p:cNvPr id="18" name="文本框 17"/>
          <p:cNvSpPr txBox="1"/>
          <p:nvPr/>
        </p:nvSpPr>
        <p:spPr>
          <a:xfrm>
            <a:off x="2820670" y="6017260"/>
            <a:ext cx="7307580" cy="306705"/>
          </a:xfrm>
          <a:prstGeom prst="rect">
            <a:avLst/>
          </a:prstGeom>
          <a:noFill/>
        </p:spPr>
        <p:txBody>
          <a:bodyPr wrap="square" rtlCol="0" anchor="t">
            <a:spAutoFit/>
          </a:bodyPr>
          <a:lstStyle/>
          <a:p>
            <a:pPr indent="0">
              <a:buFont typeface="Wingdings" panose="05000000000000000000" pitchFamily="2" charset="2"/>
              <a:buNone/>
            </a:pPr>
            <a:r>
              <a:rPr lang="zh-CN" altLang="en-US" sz="1400" dirty="0">
                <a:sym typeface="+mn-ea"/>
              </a:rPr>
              <a:t>能够结合提交的测试数据，通过脚本运行复现测试结果。</a:t>
            </a:r>
            <a:endParaRPr lang="zh-CN" altLang="en-US" sz="1400" dirty="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873875" y="2522220"/>
            <a:ext cx="3361690" cy="2325370"/>
          </a:xfrm>
          <a:prstGeom prst="rect">
            <a:avLst/>
          </a:prstGeom>
        </p:spPr>
      </p:pic>
      <p:pic>
        <p:nvPicPr>
          <p:cNvPr id="7" name="图片 6"/>
          <p:cNvPicPr>
            <a:picLocks noChangeAspect="1"/>
          </p:cNvPicPr>
          <p:nvPr/>
        </p:nvPicPr>
        <p:blipFill>
          <a:blip r:embed="rId2"/>
          <a:stretch>
            <a:fillRect/>
          </a:stretch>
        </p:blipFill>
        <p:spPr>
          <a:xfrm>
            <a:off x="1605968" y="2770257"/>
            <a:ext cx="1875816" cy="1936818"/>
          </a:xfrm>
          <a:prstGeom prst="rect">
            <a:avLst/>
          </a:prstGeom>
        </p:spPr>
      </p:pic>
      <p:sp>
        <p:nvSpPr>
          <p:cNvPr id="2" name="标题 1"/>
          <p:cNvSpPr>
            <a:spLocks noGrp="1"/>
          </p:cNvSpPr>
          <p:nvPr>
            <p:ph type="title"/>
          </p:nvPr>
        </p:nvSpPr>
        <p:spPr/>
        <p:txBody>
          <a:bodyPr/>
          <a:lstStyle/>
          <a:p>
            <a:r>
              <a:rPr lang="zh-CN" altLang="en-US" dirty="0"/>
              <a:t>使用工具</a:t>
            </a:r>
            <a:endParaRPr lang="zh-CN" altLang="en-US" dirty="0"/>
          </a:p>
        </p:txBody>
      </p:sp>
      <p:sp>
        <p:nvSpPr>
          <p:cNvPr id="4" name="文本框 3"/>
          <p:cNvSpPr txBox="1"/>
          <p:nvPr/>
        </p:nvSpPr>
        <p:spPr>
          <a:xfrm>
            <a:off x="1544186" y="1597583"/>
            <a:ext cx="3850796" cy="738664"/>
          </a:xfrm>
          <a:prstGeom prst="rect">
            <a:avLst/>
          </a:prstGeom>
          <a:noFill/>
        </p:spPr>
        <p:txBody>
          <a:bodyPr wrap="square">
            <a:spAutoFit/>
          </a:bodyPr>
          <a:lstStyle/>
          <a:p>
            <a:r>
              <a:rPr lang="zh-CN" altLang="en-US" sz="1400" dirty="0"/>
              <a:t>功能：</a:t>
            </a:r>
            <a:endParaRPr lang="en-US" altLang="zh-CN" sz="1400" dirty="0"/>
          </a:p>
          <a:p>
            <a:r>
              <a:rPr lang="zh-CN" altLang="en-US" sz="1400" dirty="0"/>
              <a:t>搭建被测件需要的测试环境，编写测试脚本</a:t>
            </a:r>
            <a:endParaRPr lang="en-US" altLang="zh-CN" sz="1400" dirty="0"/>
          </a:p>
          <a:p>
            <a:r>
              <a:rPr lang="zh-CN" altLang="en-US" sz="1400" dirty="0"/>
              <a:t>输出测试结果，并记录测试数据</a:t>
            </a:r>
            <a:endParaRPr lang="zh-CN" altLang="en-US" sz="1400" dirty="0"/>
          </a:p>
        </p:txBody>
      </p:sp>
      <p:sp>
        <p:nvSpPr>
          <p:cNvPr id="6" name="文本框 5"/>
          <p:cNvSpPr txBox="1"/>
          <p:nvPr/>
        </p:nvSpPr>
        <p:spPr>
          <a:xfrm>
            <a:off x="1544186" y="1135918"/>
            <a:ext cx="1364325" cy="369332"/>
          </a:xfrm>
          <a:prstGeom prst="rect">
            <a:avLst/>
          </a:prstGeom>
          <a:noFill/>
        </p:spPr>
        <p:txBody>
          <a:bodyPr wrap="square">
            <a:spAutoFit/>
          </a:bodyPr>
          <a:lstStyle/>
          <a:p>
            <a:r>
              <a:rPr lang="en-US" altLang="zh-CN" dirty="0">
                <a:latin typeface="+mn-ea"/>
              </a:rPr>
              <a:t>ETest</a:t>
            </a:r>
            <a:endParaRPr lang="en-US" altLang="zh-CN" dirty="0">
              <a:latin typeface="+mn-ea"/>
            </a:endParaRPr>
          </a:p>
        </p:txBody>
      </p:sp>
      <p:sp>
        <p:nvSpPr>
          <p:cNvPr id="15" name="文本框 14"/>
          <p:cNvSpPr txBox="1"/>
          <p:nvPr/>
        </p:nvSpPr>
        <p:spPr>
          <a:xfrm>
            <a:off x="6758405" y="1135918"/>
            <a:ext cx="2058269" cy="369332"/>
          </a:xfrm>
          <a:prstGeom prst="rect">
            <a:avLst/>
          </a:prstGeom>
          <a:noFill/>
        </p:spPr>
        <p:txBody>
          <a:bodyPr wrap="square">
            <a:spAutoFit/>
          </a:bodyPr>
          <a:lstStyle/>
          <a:p>
            <a:r>
              <a:rPr lang="en-US" altLang="zh-CN" dirty="0"/>
              <a:t>VSPD</a:t>
            </a:r>
            <a:endParaRPr lang="zh-CN" altLang="en-US" dirty="0"/>
          </a:p>
        </p:txBody>
      </p:sp>
      <p:pic>
        <p:nvPicPr>
          <p:cNvPr id="8" name="图片 7"/>
          <p:cNvPicPr>
            <a:picLocks noChangeAspect="1"/>
          </p:cNvPicPr>
          <p:nvPr/>
        </p:nvPicPr>
        <p:blipFill>
          <a:blip r:embed="rId3"/>
          <a:stretch>
            <a:fillRect/>
          </a:stretch>
        </p:blipFill>
        <p:spPr>
          <a:xfrm>
            <a:off x="820688" y="1135918"/>
            <a:ext cx="540210" cy="588442"/>
          </a:xfrm>
          <a:prstGeom prst="rect">
            <a:avLst/>
          </a:prstGeom>
        </p:spPr>
      </p:pic>
      <p:sp>
        <p:nvSpPr>
          <p:cNvPr id="9" name="矩形 8"/>
          <p:cNvSpPr/>
          <p:nvPr/>
        </p:nvSpPr>
        <p:spPr>
          <a:xfrm>
            <a:off x="9660034" y="3308666"/>
            <a:ext cx="455774" cy="241300"/>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976745" y="3191510"/>
            <a:ext cx="1078865" cy="567055"/>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对话气泡: 圆角矩形 15"/>
          <p:cNvSpPr/>
          <p:nvPr/>
        </p:nvSpPr>
        <p:spPr>
          <a:xfrm>
            <a:off x="3683000" y="4432935"/>
            <a:ext cx="1623060" cy="414655"/>
          </a:xfrm>
          <a:prstGeom prst="wedgeRoundRectCallout">
            <a:avLst>
              <a:gd name="adj1" fmla="val -66750"/>
              <a:gd name="adj2" fmla="val -7501"/>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solidFill>
                  <a:srgbClr val="000000"/>
                </a:solidFill>
                <a:latin typeface="+mn-ea"/>
              </a:rPr>
              <a:t>免安装，解压后点击</a:t>
            </a:r>
            <a:r>
              <a:rPr lang="en-US" altLang="zh-CN" sz="1050" dirty="0">
                <a:solidFill>
                  <a:srgbClr val="000000"/>
                </a:solidFill>
                <a:latin typeface="+mn-ea"/>
              </a:rPr>
              <a:t>ETest.exe</a:t>
            </a:r>
            <a:r>
              <a:rPr lang="zh-CN" altLang="en-US" sz="1050" dirty="0">
                <a:solidFill>
                  <a:srgbClr val="000000"/>
                </a:solidFill>
                <a:latin typeface="+mn-ea"/>
              </a:rPr>
              <a:t>启动运行</a:t>
            </a:r>
            <a:endParaRPr lang="en-US" altLang="zh-CN" sz="1050" dirty="0">
              <a:solidFill>
                <a:srgbClr val="000000"/>
              </a:solidFill>
              <a:latin typeface="+mn-ea"/>
            </a:endParaRPr>
          </a:p>
        </p:txBody>
      </p:sp>
      <p:sp>
        <p:nvSpPr>
          <p:cNvPr id="18" name="对话气泡: 圆角矩形 17"/>
          <p:cNvSpPr/>
          <p:nvPr/>
        </p:nvSpPr>
        <p:spPr>
          <a:xfrm>
            <a:off x="3525520" y="2765425"/>
            <a:ext cx="1780540" cy="663575"/>
          </a:xfrm>
          <a:prstGeom prst="wedgeRoundRectCallout">
            <a:avLst>
              <a:gd name="adj1" fmla="val -71013"/>
              <a:gd name="adj2" fmla="val -23384"/>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t>注意：存放路径不能有中文，不能有全角标点符号，如全角括号（）</a:t>
            </a:r>
            <a:endParaRPr lang="zh-CN" altLang="en-US" sz="1050" dirty="0"/>
          </a:p>
          <a:p>
            <a:r>
              <a:rPr lang="zh-CN" altLang="en-US" sz="1050" dirty="0">
                <a:solidFill>
                  <a:srgbClr val="000000"/>
                </a:solidFill>
                <a:latin typeface="+mn-ea"/>
              </a:rPr>
              <a:t>最好放在根路径下</a:t>
            </a:r>
            <a:endParaRPr lang="zh-CN" altLang="en-US" sz="1050" dirty="0">
              <a:solidFill>
                <a:srgbClr val="000000"/>
              </a:solidFill>
              <a:latin typeface="+mn-ea"/>
            </a:endParaRPr>
          </a:p>
        </p:txBody>
      </p:sp>
      <p:pic>
        <p:nvPicPr>
          <p:cNvPr id="27" name="图片 26"/>
          <p:cNvPicPr>
            <a:picLocks noChangeAspect="1"/>
          </p:cNvPicPr>
          <p:nvPr/>
        </p:nvPicPr>
        <p:blipFill>
          <a:blip r:embed="rId4"/>
          <a:stretch>
            <a:fillRect/>
          </a:stretch>
        </p:blipFill>
        <p:spPr>
          <a:xfrm>
            <a:off x="6015455" y="1131691"/>
            <a:ext cx="742950" cy="904875"/>
          </a:xfrm>
          <a:prstGeom prst="rect">
            <a:avLst/>
          </a:prstGeom>
        </p:spPr>
      </p:pic>
      <p:sp>
        <p:nvSpPr>
          <p:cNvPr id="29" name="文本框 28"/>
          <p:cNvSpPr txBox="1"/>
          <p:nvPr/>
        </p:nvSpPr>
        <p:spPr>
          <a:xfrm>
            <a:off x="6764655" y="1630680"/>
            <a:ext cx="4458970" cy="737235"/>
          </a:xfrm>
          <a:prstGeom prst="rect">
            <a:avLst/>
          </a:prstGeom>
          <a:noFill/>
        </p:spPr>
        <p:txBody>
          <a:bodyPr wrap="square">
            <a:spAutoFit/>
          </a:bodyPr>
          <a:lstStyle>
            <a:defPPr>
              <a:defRPr lang="zh-CN"/>
            </a:defPPr>
            <a:lvl1pPr>
              <a:defRPr sz="1400"/>
            </a:lvl1pPr>
          </a:lstStyle>
          <a:p>
            <a:r>
              <a:rPr lang="zh-CN" altLang="en-US" dirty="0"/>
              <a:t>本地虚拟串口的软件。增加串口数量，一次 虚拟2个串口，一个读，一个发。</a:t>
            </a:r>
            <a:endParaRPr lang="zh-CN" altLang="en-US" dirty="0"/>
          </a:p>
          <a:p>
            <a:r>
              <a:rPr lang="zh-CN" altLang="en-US" dirty="0"/>
              <a:t>如图所示，生成了</a:t>
            </a:r>
            <a:r>
              <a:rPr lang="en-US" altLang="zh-CN" dirty="0"/>
              <a:t>2</a:t>
            </a:r>
            <a:r>
              <a:rPr lang="zh-CN" altLang="en-US" dirty="0"/>
              <a:t>对虚拟串口。</a:t>
            </a:r>
            <a:endParaRPr lang="zh-CN" altLang="en-US" dirty="0"/>
          </a:p>
        </p:txBody>
      </p:sp>
      <p:pic>
        <p:nvPicPr>
          <p:cNvPr id="3" name="图片 2"/>
          <p:cNvPicPr>
            <a:picLocks noChangeAspect="1"/>
          </p:cNvPicPr>
          <p:nvPr/>
        </p:nvPicPr>
        <p:blipFill>
          <a:blip r:embed="rId5"/>
          <a:stretch>
            <a:fillRect/>
          </a:stretch>
        </p:blipFill>
        <p:spPr>
          <a:xfrm>
            <a:off x="6873875" y="5078730"/>
            <a:ext cx="5015230" cy="1047750"/>
          </a:xfrm>
          <a:prstGeom prst="rect">
            <a:avLst/>
          </a:prstGeom>
        </p:spPr>
      </p:pic>
      <p:pic>
        <p:nvPicPr>
          <p:cNvPr id="10" name="图片 9"/>
          <p:cNvPicPr>
            <a:picLocks noChangeAspect="1"/>
          </p:cNvPicPr>
          <p:nvPr/>
        </p:nvPicPr>
        <p:blipFill>
          <a:blip r:embed="rId6"/>
          <a:stretch>
            <a:fillRect/>
          </a:stretch>
        </p:blipFill>
        <p:spPr>
          <a:xfrm>
            <a:off x="0" y="0"/>
            <a:ext cx="5163671" cy="1148799"/>
          </a:xfrm>
          <a:prstGeom prst="rect">
            <a:avLst/>
          </a:prstGeom>
        </p:spPr>
      </p:pic>
      <p:sp>
        <p:nvSpPr>
          <p:cNvPr id="11" name="文本框 10"/>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使用工具</a:t>
            </a:r>
            <a:endParaRPr lang="zh-CN" altLang="en-US" sz="2800" b="1" dirty="0">
              <a:solidFill>
                <a:srgbClr val="136FB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赛前准备</a:t>
            </a:r>
            <a:endParaRPr lang="zh-CN" altLang="en-US" dirty="0"/>
          </a:p>
        </p:txBody>
      </p:sp>
      <p:sp>
        <p:nvSpPr>
          <p:cNvPr id="3" name="内容占位符 2"/>
          <p:cNvSpPr txBox="1"/>
          <p:nvPr/>
        </p:nvSpPr>
        <p:spPr>
          <a:xfrm>
            <a:off x="1174377" y="1227667"/>
            <a:ext cx="7380036" cy="4176183"/>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注册慕测网站用户</a:t>
            </a:r>
            <a:endParaRPr lang="en-US" altLang="zh-CN" sz="1800" dirty="0"/>
          </a:p>
          <a:p>
            <a:r>
              <a:rPr lang="zh-CN" altLang="en-US" sz="1800" dirty="0"/>
              <a:t>下载工具：</a:t>
            </a:r>
            <a:endParaRPr lang="en-US" altLang="zh-CN" sz="1800" dirty="0"/>
          </a:p>
          <a:p>
            <a:pPr marL="0" indent="0">
              <a:buNone/>
            </a:pPr>
            <a:r>
              <a:rPr lang="en-US" altLang="zh-CN" sz="1800" dirty="0"/>
              <a:t>             ETest</a:t>
            </a:r>
            <a:r>
              <a:rPr lang="zh-CN" altLang="en-US" sz="1800" dirty="0"/>
              <a:t>：在慕测网站下载</a:t>
            </a:r>
            <a:endParaRPr lang="en-US" altLang="zh-CN" sz="1800" dirty="0"/>
          </a:p>
          <a:p>
            <a:endParaRPr lang="en-US" altLang="zh-CN" sz="1800" dirty="0"/>
          </a:p>
          <a:p>
            <a:endParaRPr lang="en-US" altLang="zh-CN" sz="1800" dirty="0"/>
          </a:p>
          <a:p>
            <a:endParaRPr lang="en-US" altLang="zh-CN" sz="1800" dirty="0"/>
          </a:p>
          <a:p>
            <a:endParaRPr lang="en-US" altLang="zh-CN" sz="1800" dirty="0"/>
          </a:p>
          <a:p>
            <a:pPr marL="0" indent="0">
              <a:buNone/>
            </a:pPr>
            <a:r>
              <a:rPr lang="en-US" altLang="zh-CN" sz="1800" dirty="0"/>
              <a:t>             </a:t>
            </a:r>
            <a:r>
              <a:rPr lang="en-US" altLang="zh-CN" sz="1800" dirty="0" err="1"/>
              <a:t>VSPD</a:t>
            </a:r>
            <a:r>
              <a:rPr lang="zh-CN" altLang="en-US" sz="1800" dirty="0"/>
              <a:t>：需要考生自行百度下载</a:t>
            </a:r>
            <a:endParaRPr lang="en-US" altLang="zh-CN" sz="1800" dirty="0"/>
          </a:p>
          <a:p>
            <a:r>
              <a:rPr lang="zh-CN" altLang="en-US" sz="1800" dirty="0"/>
              <a:t>安装、配置环境</a:t>
            </a:r>
            <a:endParaRPr lang="en-US" altLang="zh-CN" sz="1800" dirty="0"/>
          </a:p>
          <a:p>
            <a:r>
              <a:rPr lang="zh-CN" altLang="en-US" sz="1800" dirty="0"/>
              <a:t>下载练习题目</a:t>
            </a:r>
            <a:endParaRPr lang="en-US" altLang="zh-CN" sz="1800" dirty="0"/>
          </a:p>
          <a:p>
            <a:r>
              <a:rPr lang="zh-CN" altLang="en-US" sz="1800" dirty="0"/>
              <a:t>导入示例工程</a:t>
            </a:r>
            <a:endParaRPr lang="en-US" altLang="zh-CN" sz="1800" dirty="0"/>
          </a:p>
          <a:p>
            <a:r>
              <a:rPr lang="zh-CN" altLang="en-US" sz="1800" dirty="0"/>
              <a:t>执行测试</a:t>
            </a:r>
            <a:endParaRPr lang="en-US" altLang="zh-CN" sz="1800" dirty="0"/>
          </a:p>
          <a:p>
            <a:r>
              <a:rPr lang="zh-CN" altLang="en-US" sz="1800" dirty="0"/>
              <a:t>发现问题，报告问题</a:t>
            </a:r>
            <a:endParaRPr lang="en-US" altLang="zh-CN" sz="1800" dirty="0"/>
          </a:p>
          <a:p>
            <a:r>
              <a:rPr lang="zh-CN" altLang="en-US" sz="1800" dirty="0"/>
              <a:t>提交分数</a:t>
            </a:r>
            <a:endParaRPr lang="en-US" altLang="zh-CN" sz="1800" dirty="0"/>
          </a:p>
        </p:txBody>
      </p:sp>
      <p:pic>
        <p:nvPicPr>
          <p:cNvPr id="5" name="图片 4"/>
          <p:cNvPicPr>
            <a:picLocks noChangeAspect="1"/>
          </p:cNvPicPr>
          <p:nvPr/>
        </p:nvPicPr>
        <p:blipFill rotWithShape="1">
          <a:blip r:embed="rId1"/>
          <a:srcRect l="4018"/>
          <a:stretch>
            <a:fillRect/>
          </a:stretch>
        </p:blipFill>
        <p:spPr>
          <a:xfrm>
            <a:off x="4105254" y="2077355"/>
            <a:ext cx="1707450" cy="673300"/>
          </a:xfrm>
          <a:prstGeom prst="rect">
            <a:avLst/>
          </a:prstGeom>
        </p:spPr>
      </p:pic>
      <p:pic>
        <p:nvPicPr>
          <p:cNvPr id="7" name="图片 6"/>
          <p:cNvPicPr>
            <a:picLocks noChangeAspect="1"/>
          </p:cNvPicPr>
          <p:nvPr/>
        </p:nvPicPr>
        <p:blipFill>
          <a:blip r:embed="rId2"/>
          <a:stretch>
            <a:fillRect/>
          </a:stretch>
        </p:blipFill>
        <p:spPr>
          <a:xfrm>
            <a:off x="2502748" y="2130673"/>
            <a:ext cx="983126" cy="566664"/>
          </a:xfrm>
          <a:prstGeom prst="rect">
            <a:avLst/>
          </a:prstGeom>
        </p:spPr>
      </p:pic>
      <p:sp>
        <p:nvSpPr>
          <p:cNvPr id="8" name="箭头: 右 7"/>
          <p:cNvSpPr/>
          <p:nvPr/>
        </p:nvSpPr>
        <p:spPr>
          <a:xfrm>
            <a:off x="3570292" y="2236205"/>
            <a:ext cx="324485" cy="2319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a:stretch>
            <a:fillRect/>
          </a:stretch>
        </p:blipFill>
        <p:spPr>
          <a:xfrm>
            <a:off x="0" y="0"/>
            <a:ext cx="5163671" cy="1148799"/>
          </a:xfrm>
          <a:prstGeom prst="rect">
            <a:avLst/>
          </a:prstGeom>
        </p:spPr>
      </p:pic>
      <p:sp>
        <p:nvSpPr>
          <p:cNvPr id="6" name="文本框 5"/>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赛前准备</a:t>
            </a:r>
            <a:endParaRPr lang="zh-CN" altLang="en-US" sz="2800" b="1" dirty="0">
              <a:solidFill>
                <a:srgbClr val="136FB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比赛开始</a:t>
            </a:r>
            <a:r>
              <a:rPr lang="en-US" altLang="zh-CN" dirty="0"/>
              <a:t>(1/2)</a:t>
            </a:r>
            <a:endParaRPr lang="zh-CN" altLang="en-US" dirty="0"/>
          </a:p>
        </p:txBody>
      </p:sp>
      <p:sp>
        <p:nvSpPr>
          <p:cNvPr id="3" name="内容占位符 2"/>
          <p:cNvSpPr txBox="1"/>
          <p:nvPr/>
        </p:nvSpPr>
        <p:spPr>
          <a:xfrm>
            <a:off x="929005" y="1110706"/>
            <a:ext cx="5699894" cy="372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t>1. </a:t>
            </a:r>
            <a:r>
              <a:rPr lang="zh-CN" altLang="en-US" sz="1600" dirty="0"/>
              <a:t>登录慕测网站：</a:t>
            </a:r>
            <a:r>
              <a:rPr lang="en-US" altLang="zh-CN" sz="1600" dirty="0"/>
              <a:t>http://www.mooctest.net</a:t>
            </a:r>
            <a:endParaRPr lang="en-US" altLang="zh-CN" sz="1600" dirty="0"/>
          </a:p>
          <a:p>
            <a:endParaRPr lang="zh-CN" altLang="en-US" sz="1600" dirty="0"/>
          </a:p>
        </p:txBody>
      </p:sp>
      <p:pic>
        <p:nvPicPr>
          <p:cNvPr id="5" name="图片 4"/>
          <p:cNvPicPr>
            <a:picLocks noChangeAspect="1"/>
          </p:cNvPicPr>
          <p:nvPr/>
        </p:nvPicPr>
        <p:blipFill rotWithShape="1">
          <a:blip r:embed="rId1"/>
          <a:srcRect b="8705"/>
          <a:stretch>
            <a:fillRect/>
          </a:stretch>
        </p:blipFill>
        <p:spPr>
          <a:xfrm>
            <a:off x="1978844" y="1464093"/>
            <a:ext cx="4543115" cy="2284827"/>
          </a:xfrm>
          <a:prstGeom prst="rect">
            <a:avLst/>
          </a:prstGeom>
        </p:spPr>
      </p:pic>
      <p:pic>
        <p:nvPicPr>
          <p:cNvPr id="7" name="图片 6"/>
          <p:cNvPicPr>
            <a:picLocks noChangeAspect="1"/>
          </p:cNvPicPr>
          <p:nvPr/>
        </p:nvPicPr>
        <p:blipFill rotWithShape="1">
          <a:blip r:embed="rId2"/>
          <a:srcRect b="17259"/>
          <a:stretch>
            <a:fillRect/>
          </a:stretch>
        </p:blipFill>
        <p:spPr>
          <a:xfrm>
            <a:off x="1978844" y="4193626"/>
            <a:ext cx="4547058" cy="2073402"/>
          </a:xfrm>
          <a:prstGeom prst="rect">
            <a:avLst/>
          </a:prstGeom>
        </p:spPr>
      </p:pic>
      <p:sp>
        <p:nvSpPr>
          <p:cNvPr id="9" name="文本框 8"/>
          <p:cNvSpPr txBox="1"/>
          <p:nvPr/>
        </p:nvSpPr>
        <p:spPr>
          <a:xfrm>
            <a:off x="930277" y="3784304"/>
            <a:ext cx="6162674" cy="338554"/>
          </a:xfrm>
          <a:prstGeom prst="rect">
            <a:avLst/>
          </a:prstGeom>
          <a:noFill/>
        </p:spPr>
        <p:txBody>
          <a:bodyPr wrap="square">
            <a:spAutoFit/>
          </a:bodyPr>
          <a:lstStyle/>
          <a:p>
            <a:r>
              <a:rPr lang="en-US" altLang="zh-CN" sz="1600" dirty="0"/>
              <a:t>2. </a:t>
            </a:r>
            <a:r>
              <a:rPr lang="zh-CN" altLang="en-US" sz="1600" dirty="0"/>
              <a:t>打开</a:t>
            </a:r>
            <a:r>
              <a:rPr lang="zh-CN" altLang="en-US" sz="1600"/>
              <a:t>比赛题目，获取</a:t>
            </a:r>
            <a:r>
              <a:rPr lang="zh-CN" altLang="en-US" sz="1600" dirty="0"/>
              <a:t>个人密钥</a:t>
            </a:r>
            <a:endParaRPr lang="en-US" altLang="zh-CN" sz="1600" dirty="0"/>
          </a:p>
        </p:txBody>
      </p:sp>
      <p:sp>
        <p:nvSpPr>
          <p:cNvPr id="18" name="矩形 17"/>
          <p:cNvSpPr/>
          <p:nvPr/>
        </p:nvSpPr>
        <p:spPr>
          <a:xfrm>
            <a:off x="2686618" y="6184704"/>
            <a:ext cx="1282700" cy="214034"/>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a:stretch>
            <a:fillRect/>
          </a:stretch>
        </p:blipFill>
        <p:spPr>
          <a:xfrm>
            <a:off x="0" y="0"/>
            <a:ext cx="5163671" cy="1148799"/>
          </a:xfrm>
          <a:prstGeom prst="rect">
            <a:avLst/>
          </a:prstGeom>
        </p:spPr>
      </p:pic>
      <p:sp>
        <p:nvSpPr>
          <p:cNvPr id="6" name="文本框 5"/>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比赛开始</a:t>
            </a:r>
            <a:r>
              <a:rPr lang="en-US" altLang="zh-CN" sz="2800" b="1" dirty="0">
                <a:solidFill>
                  <a:srgbClr val="136FB8"/>
                </a:solidFill>
              </a:rPr>
              <a:t>(1/2)</a:t>
            </a:r>
            <a:endParaRPr lang="zh-CN" altLang="en-US" sz="2800" b="1" dirty="0">
              <a:solidFill>
                <a:srgbClr val="136FB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比赛开始</a:t>
            </a:r>
            <a:r>
              <a:rPr lang="en-US" altLang="zh-CN" dirty="0"/>
              <a:t>(2/2)</a:t>
            </a:r>
            <a:endParaRPr lang="zh-CN" altLang="en-US" dirty="0"/>
          </a:p>
        </p:txBody>
      </p:sp>
      <p:pic>
        <p:nvPicPr>
          <p:cNvPr id="4" name="图片 3"/>
          <p:cNvPicPr>
            <a:picLocks noChangeAspect="1"/>
          </p:cNvPicPr>
          <p:nvPr/>
        </p:nvPicPr>
        <p:blipFill>
          <a:blip r:embed="rId1"/>
          <a:stretch>
            <a:fillRect/>
          </a:stretch>
        </p:blipFill>
        <p:spPr>
          <a:xfrm>
            <a:off x="1740520" y="1480880"/>
            <a:ext cx="1282700" cy="1558368"/>
          </a:xfrm>
          <a:prstGeom prst="rect">
            <a:avLst/>
          </a:prstGeom>
        </p:spPr>
      </p:pic>
      <p:sp>
        <p:nvSpPr>
          <p:cNvPr id="5" name="文本框 4"/>
          <p:cNvSpPr txBox="1"/>
          <p:nvPr/>
        </p:nvSpPr>
        <p:spPr>
          <a:xfrm>
            <a:off x="929005" y="3657037"/>
            <a:ext cx="8105140" cy="313690"/>
          </a:xfrm>
          <a:prstGeom prst="rect">
            <a:avLst/>
          </a:prstGeom>
        </p:spPr>
        <p:txBody>
          <a:bodyPr/>
          <a:lstStyle>
            <a:defPPr>
              <a:defRPr lang="zh-CN"/>
            </a:defPPr>
            <a:lvl1pPr indent="0">
              <a:lnSpc>
                <a:spcPct val="90000"/>
              </a:lnSpc>
              <a:spcBef>
                <a:spcPts val="1000"/>
              </a:spcBef>
              <a:buFont typeface="Arial" panose="020B0604020202020204" pitchFamily="34" charset="0"/>
              <a:buNone/>
              <a:defRPr sz="16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4. </a:t>
            </a:r>
            <a:r>
              <a:rPr lang="zh-CN" altLang="en-US" dirty="0"/>
              <a:t>打开项目，开始测试</a:t>
            </a:r>
            <a:r>
              <a:rPr lang="zh-CN" altLang="en-US" dirty="0">
                <a:highlight>
                  <a:srgbClr val="FFFF00"/>
                </a:highlight>
              </a:rPr>
              <a:t>（</a:t>
            </a:r>
            <a:r>
              <a:rPr lang="zh-CN" altLang="en-US" dirty="0">
                <a:highlight>
                  <a:srgbClr val="FFFF00"/>
                </a:highlight>
                <a:sym typeface="+mn-ea"/>
              </a:rPr>
              <a:t>注：启动</a:t>
            </a:r>
            <a:r>
              <a:rPr lang="en-US" altLang="zh-CN" dirty="0">
                <a:highlight>
                  <a:srgbClr val="FFFF00"/>
                </a:highlight>
                <a:sym typeface="+mn-ea"/>
              </a:rPr>
              <a:t>ETest</a:t>
            </a:r>
            <a:r>
              <a:rPr lang="zh-CN" altLang="en-US" dirty="0">
                <a:highlight>
                  <a:srgbClr val="FFFF00"/>
                </a:highlight>
                <a:sym typeface="+mn-ea"/>
              </a:rPr>
              <a:t>时，请勿禁用网络通信</a:t>
            </a:r>
            <a:r>
              <a:rPr lang="zh-CN" altLang="en-US" dirty="0">
                <a:highlight>
                  <a:srgbClr val="FFFF00"/>
                </a:highlight>
              </a:rPr>
              <a:t>）</a:t>
            </a:r>
            <a:endParaRPr lang="zh-CN" altLang="en-US" dirty="0">
              <a:highlight>
                <a:srgbClr val="FFFF00"/>
              </a:highlight>
            </a:endParaRPr>
          </a:p>
        </p:txBody>
      </p:sp>
      <p:pic>
        <p:nvPicPr>
          <p:cNvPr id="6" name="图片 5"/>
          <p:cNvPicPr>
            <a:picLocks noChangeAspect="1"/>
          </p:cNvPicPr>
          <p:nvPr/>
        </p:nvPicPr>
        <p:blipFill>
          <a:blip r:embed="rId2"/>
          <a:stretch>
            <a:fillRect/>
          </a:stretch>
        </p:blipFill>
        <p:spPr>
          <a:xfrm>
            <a:off x="7431957" y="1358873"/>
            <a:ext cx="4214092" cy="1802382"/>
          </a:xfrm>
          <a:prstGeom prst="rect">
            <a:avLst/>
          </a:prstGeom>
        </p:spPr>
      </p:pic>
      <p:sp>
        <p:nvSpPr>
          <p:cNvPr id="7" name="矩形 6"/>
          <p:cNvSpPr/>
          <p:nvPr/>
        </p:nvSpPr>
        <p:spPr>
          <a:xfrm>
            <a:off x="9353550" y="1515300"/>
            <a:ext cx="652262" cy="214034"/>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729823" y="2813923"/>
            <a:ext cx="1282700" cy="214034"/>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2"/>
          <p:cNvSpPr txBox="1"/>
          <p:nvPr/>
        </p:nvSpPr>
        <p:spPr>
          <a:xfrm>
            <a:off x="920933" y="1136371"/>
            <a:ext cx="7122795" cy="372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t>3. </a:t>
            </a:r>
            <a:r>
              <a:rPr lang="zh-CN" altLang="en-US" sz="1600" dirty="0"/>
              <a:t>打开</a:t>
            </a:r>
            <a:r>
              <a:rPr lang="en-US" altLang="zh-CN" sz="1600" dirty="0"/>
              <a:t>ETest</a:t>
            </a:r>
            <a:r>
              <a:rPr lang="zh-CN" altLang="en-US" sz="1600" dirty="0"/>
              <a:t>，打开考试客户端，输入密钥，下载</a:t>
            </a:r>
            <a:r>
              <a:rPr lang="en-US" altLang="zh-CN" sz="1600" dirty="0"/>
              <a:t>【</a:t>
            </a:r>
            <a:r>
              <a:rPr lang="zh-CN" altLang="en-US" sz="1600" dirty="0"/>
              <a:t>被测件</a:t>
            </a:r>
            <a:r>
              <a:rPr lang="en-US" altLang="zh-CN" sz="1600" dirty="0"/>
              <a:t>】</a:t>
            </a:r>
            <a:r>
              <a:rPr lang="zh-CN" altLang="en-US" sz="1600" dirty="0"/>
              <a:t>及其他文档</a:t>
            </a:r>
            <a:endParaRPr lang="zh-CN" altLang="en-US" sz="1600" dirty="0"/>
          </a:p>
        </p:txBody>
      </p:sp>
      <p:pic>
        <p:nvPicPr>
          <p:cNvPr id="11" name="图片 10"/>
          <p:cNvPicPr>
            <a:picLocks noChangeAspect="1"/>
          </p:cNvPicPr>
          <p:nvPr/>
        </p:nvPicPr>
        <p:blipFill>
          <a:blip r:embed="rId3"/>
          <a:stretch>
            <a:fillRect/>
          </a:stretch>
        </p:blipFill>
        <p:spPr>
          <a:xfrm>
            <a:off x="1765965" y="4033344"/>
            <a:ext cx="2081664" cy="2291182"/>
          </a:xfrm>
          <a:prstGeom prst="rect">
            <a:avLst/>
          </a:prstGeom>
        </p:spPr>
      </p:pic>
      <p:sp>
        <p:nvSpPr>
          <p:cNvPr id="12" name="矩形 11"/>
          <p:cNvSpPr/>
          <p:nvPr/>
        </p:nvSpPr>
        <p:spPr>
          <a:xfrm>
            <a:off x="2241079" y="5178936"/>
            <a:ext cx="1546061" cy="257050"/>
          </a:xfrm>
          <a:prstGeom prst="rect">
            <a:avLst/>
          </a:prstGeom>
          <a:noFill/>
          <a:ln w="38100">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4"/>
          <a:stretch>
            <a:fillRect/>
          </a:stretch>
        </p:blipFill>
        <p:spPr>
          <a:xfrm>
            <a:off x="3679796" y="1553400"/>
            <a:ext cx="3164912" cy="1314086"/>
          </a:xfrm>
          <a:prstGeom prst="rect">
            <a:avLst/>
          </a:prstGeom>
        </p:spPr>
      </p:pic>
      <p:sp>
        <p:nvSpPr>
          <p:cNvPr id="14" name="箭头: 右 13"/>
          <p:cNvSpPr/>
          <p:nvPr/>
        </p:nvSpPr>
        <p:spPr>
          <a:xfrm>
            <a:off x="3127488" y="2121251"/>
            <a:ext cx="388307" cy="277626"/>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15" name="箭头: 右 14"/>
          <p:cNvSpPr/>
          <p:nvPr/>
        </p:nvSpPr>
        <p:spPr>
          <a:xfrm>
            <a:off x="6991804" y="2071630"/>
            <a:ext cx="388307" cy="277626"/>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5"/>
          <a:stretch>
            <a:fillRect/>
          </a:stretch>
        </p:blipFill>
        <p:spPr>
          <a:xfrm>
            <a:off x="4482465" y="4101465"/>
            <a:ext cx="2802890" cy="2223135"/>
          </a:xfrm>
          <a:prstGeom prst="rect">
            <a:avLst/>
          </a:prstGeom>
        </p:spPr>
      </p:pic>
      <p:pic>
        <p:nvPicPr>
          <p:cNvPr id="16" name="图片 15"/>
          <p:cNvPicPr>
            <a:picLocks noChangeAspect="1"/>
          </p:cNvPicPr>
          <p:nvPr/>
        </p:nvPicPr>
        <p:blipFill>
          <a:blip r:embed="rId6"/>
          <a:stretch>
            <a:fillRect/>
          </a:stretch>
        </p:blipFill>
        <p:spPr>
          <a:xfrm>
            <a:off x="7795895" y="4033520"/>
            <a:ext cx="2894330" cy="2291080"/>
          </a:xfrm>
          <a:prstGeom prst="rect">
            <a:avLst/>
          </a:prstGeom>
        </p:spPr>
      </p:pic>
      <p:pic>
        <p:nvPicPr>
          <p:cNvPr id="3" name="图片 2"/>
          <p:cNvPicPr>
            <a:picLocks noChangeAspect="1"/>
          </p:cNvPicPr>
          <p:nvPr/>
        </p:nvPicPr>
        <p:blipFill>
          <a:blip r:embed="rId7"/>
          <a:stretch>
            <a:fillRect/>
          </a:stretch>
        </p:blipFill>
        <p:spPr>
          <a:xfrm>
            <a:off x="0" y="0"/>
            <a:ext cx="5163671" cy="1148799"/>
          </a:xfrm>
          <a:prstGeom prst="rect">
            <a:avLst/>
          </a:prstGeom>
        </p:spPr>
      </p:pic>
      <p:sp>
        <p:nvSpPr>
          <p:cNvPr id="17" name="文本框 16"/>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比赛开始</a:t>
            </a:r>
            <a:r>
              <a:rPr lang="en-US" altLang="zh-CN" sz="2800" b="1" dirty="0">
                <a:solidFill>
                  <a:srgbClr val="136FB8"/>
                </a:solidFill>
              </a:rPr>
              <a:t>(2/2)</a:t>
            </a:r>
            <a:endParaRPr lang="zh-CN" altLang="en-US" sz="2800" b="1" dirty="0">
              <a:solidFill>
                <a:srgbClr val="136FB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p:nvPr/>
        </p:nvSpPr>
        <p:spPr>
          <a:xfrm>
            <a:off x="1065140" y="1485371"/>
            <a:ext cx="7757824" cy="5682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打开被测件（不要关闭，关闭后覆盖率清零）</a:t>
            </a:r>
            <a:endParaRPr lang="en-US" altLang="zh-CN" sz="1400" dirty="0"/>
          </a:p>
          <a:p>
            <a:r>
              <a:rPr lang="zh-CN" altLang="en-US" sz="1400" dirty="0"/>
              <a:t>获取成绩，提交成绩（可多次提交，</a:t>
            </a:r>
            <a:r>
              <a:rPr lang="zh-CN" altLang="en-US" sz="1400" dirty="0">
                <a:highlight>
                  <a:srgbClr val="FFFF00"/>
                </a:highlight>
              </a:rPr>
              <a:t>以最后一次提交的成绩为准</a:t>
            </a:r>
            <a:r>
              <a:rPr lang="zh-CN" altLang="en-US" sz="1400" dirty="0"/>
              <a:t>）。</a:t>
            </a:r>
            <a:endParaRPr lang="en-US" altLang="zh-CN" sz="1400" dirty="0"/>
          </a:p>
          <a:p>
            <a:endParaRPr lang="en-US" altLang="zh-CN" sz="1400" dirty="0"/>
          </a:p>
          <a:p>
            <a:endParaRPr lang="en-US" altLang="zh-CN" sz="1400" dirty="0"/>
          </a:p>
          <a:p>
            <a:endParaRPr lang="en-US" altLang="zh-CN" sz="1400" dirty="0"/>
          </a:p>
          <a:p>
            <a:endParaRPr lang="en-US" altLang="zh-CN" sz="1400" dirty="0"/>
          </a:p>
          <a:p>
            <a:endParaRPr lang="en-US" altLang="zh-CN" sz="1400" dirty="0"/>
          </a:p>
          <a:p>
            <a:endParaRPr lang="en-US" altLang="zh-CN" sz="1400" dirty="0"/>
          </a:p>
        </p:txBody>
      </p:sp>
      <p:pic>
        <p:nvPicPr>
          <p:cNvPr id="6" name="图片 5"/>
          <p:cNvPicPr>
            <a:picLocks noChangeAspect="1"/>
          </p:cNvPicPr>
          <p:nvPr/>
        </p:nvPicPr>
        <p:blipFill rotWithShape="1">
          <a:blip r:embed="rId1"/>
          <a:srcRect l="889" t="27871" r="1060" b="25643"/>
          <a:stretch>
            <a:fillRect/>
          </a:stretch>
        </p:blipFill>
        <p:spPr>
          <a:xfrm>
            <a:off x="1936243" y="2208421"/>
            <a:ext cx="5679476" cy="2019502"/>
          </a:xfrm>
          <a:prstGeom prst="rect">
            <a:avLst/>
          </a:prstGeom>
        </p:spPr>
      </p:pic>
      <p:sp>
        <p:nvSpPr>
          <p:cNvPr id="2" name="标题 1"/>
          <p:cNvSpPr>
            <a:spLocks noGrp="1"/>
          </p:cNvSpPr>
          <p:nvPr>
            <p:ph type="title"/>
          </p:nvPr>
        </p:nvSpPr>
        <p:spPr/>
        <p:txBody>
          <a:bodyPr/>
          <a:lstStyle/>
          <a:p>
            <a:r>
              <a:rPr lang="zh-CN" altLang="en-US"/>
              <a:t>比赛中，比赛</a:t>
            </a:r>
            <a:r>
              <a:rPr lang="zh-CN" altLang="en-US" dirty="0"/>
              <a:t>结束前</a:t>
            </a:r>
            <a:endParaRPr lang="zh-CN" altLang="en-US" dirty="0"/>
          </a:p>
        </p:txBody>
      </p:sp>
      <p:sp>
        <p:nvSpPr>
          <p:cNvPr id="7" name="内容占位符 2"/>
          <p:cNvSpPr txBox="1"/>
          <p:nvPr/>
        </p:nvSpPr>
        <p:spPr>
          <a:xfrm>
            <a:off x="1055683" y="5186343"/>
            <a:ext cx="2722274" cy="33855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dirty="0"/>
              <a:t>上传</a:t>
            </a:r>
            <a:r>
              <a:rPr lang="en-US" altLang="zh-CN" sz="1400" dirty="0"/>
              <a:t>【</a:t>
            </a:r>
            <a:r>
              <a:rPr lang="zh-CN" altLang="en-US" sz="1400" dirty="0"/>
              <a:t>问题报告</a:t>
            </a:r>
            <a:r>
              <a:rPr lang="en-US" altLang="zh-CN" sz="1400" dirty="0"/>
              <a:t>】</a:t>
            </a:r>
            <a:endParaRPr lang="en-US" altLang="zh-CN" sz="1400" dirty="0"/>
          </a:p>
        </p:txBody>
      </p:sp>
      <p:sp>
        <p:nvSpPr>
          <p:cNvPr id="8" name="文本框 7"/>
          <p:cNvSpPr txBox="1"/>
          <p:nvPr/>
        </p:nvSpPr>
        <p:spPr>
          <a:xfrm>
            <a:off x="628359" y="4701661"/>
            <a:ext cx="2292643"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比赛结束前</a:t>
            </a:r>
            <a:endParaRPr lang="en-US" altLang="zh-CN" sz="1600" dirty="0"/>
          </a:p>
        </p:txBody>
      </p:sp>
      <p:sp>
        <p:nvSpPr>
          <p:cNvPr id="9" name="文本框 8"/>
          <p:cNvSpPr txBox="1"/>
          <p:nvPr/>
        </p:nvSpPr>
        <p:spPr>
          <a:xfrm>
            <a:off x="628359" y="1122386"/>
            <a:ext cx="4508792" cy="338554"/>
          </a:xfrm>
          <a:prstGeom prst="rect">
            <a:avLst/>
          </a:prstGeom>
          <a:noFill/>
        </p:spPr>
        <p:txBody>
          <a:bodyPr wrap="square">
            <a:spAutoFit/>
          </a:bodyPr>
          <a:lstStyle/>
          <a:p>
            <a:pPr marL="285750" indent="-285750">
              <a:buFont typeface="Wingdings" panose="05000000000000000000" pitchFamily="2" charset="2"/>
              <a:buChar char="Ø"/>
            </a:pPr>
            <a:r>
              <a:rPr lang="zh-CN" altLang="en-US" sz="1600" b="1" dirty="0"/>
              <a:t>比赛中</a:t>
            </a:r>
            <a:endParaRPr lang="en-US" altLang="zh-CN" sz="1600" dirty="0"/>
          </a:p>
        </p:txBody>
      </p:sp>
      <p:pic>
        <p:nvPicPr>
          <p:cNvPr id="5" name="图片 4"/>
          <p:cNvPicPr>
            <a:picLocks noChangeAspect="1"/>
          </p:cNvPicPr>
          <p:nvPr/>
        </p:nvPicPr>
        <p:blipFill>
          <a:blip r:embed="rId2"/>
          <a:stretch>
            <a:fillRect/>
          </a:stretch>
        </p:blipFill>
        <p:spPr>
          <a:xfrm>
            <a:off x="5107706" y="5186343"/>
            <a:ext cx="1976588" cy="1494222"/>
          </a:xfrm>
          <a:prstGeom prst="rect">
            <a:avLst/>
          </a:prstGeom>
        </p:spPr>
      </p:pic>
      <p:cxnSp>
        <p:nvCxnSpPr>
          <p:cNvPr id="10" name="直接箭头连接符 9"/>
          <p:cNvCxnSpPr/>
          <p:nvPr/>
        </p:nvCxnSpPr>
        <p:spPr>
          <a:xfrm>
            <a:off x="2882755" y="5355620"/>
            <a:ext cx="2527445" cy="1117199"/>
          </a:xfrm>
          <a:prstGeom prst="straightConnector1">
            <a:avLst/>
          </a:prstGeom>
          <a:noFill/>
          <a:ln w="38100">
            <a:solidFill>
              <a:srgbClr val="8DC21F"/>
            </a:solidFill>
            <a:tailEnd type="triangle"/>
          </a:ln>
        </p:spPr>
        <p:style>
          <a:lnRef idx="2">
            <a:schemeClr val="accent1">
              <a:shade val="15000"/>
            </a:schemeClr>
          </a:lnRef>
          <a:fillRef idx="1">
            <a:schemeClr val="accent1"/>
          </a:fillRef>
          <a:effectRef idx="0">
            <a:schemeClr val="accent1"/>
          </a:effectRef>
          <a:fontRef idx="minor">
            <a:schemeClr val="lt1"/>
          </a:fontRef>
        </p:style>
      </p:cxnSp>
      <p:sp>
        <p:nvSpPr>
          <p:cNvPr id="21" name="文本框 20"/>
          <p:cNvSpPr txBox="1"/>
          <p:nvPr/>
        </p:nvSpPr>
        <p:spPr>
          <a:xfrm>
            <a:off x="1065140" y="4312561"/>
            <a:ext cx="6162674" cy="286232"/>
          </a:xfrm>
          <a:prstGeom prst="rect">
            <a:avLst/>
          </a:prstGeom>
        </p:spPr>
        <p:txBody>
          <a:bodyPr/>
          <a:lstStyle>
            <a:defPPr>
              <a:defRPr lang="zh-CN"/>
            </a:defPPr>
            <a:lvl1pPr marL="228600" indent="-228600">
              <a:lnSpc>
                <a:spcPct val="90000"/>
              </a:lnSpc>
              <a:spcBef>
                <a:spcPts val="1000"/>
              </a:spcBef>
              <a:buFont typeface="Arial" panose="020B0604020202020204" pitchFamily="34" charset="0"/>
              <a:buChar char="•"/>
              <a:defRPr sz="14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记录</a:t>
            </a:r>
            <a:r>
              <a:rPr lang="en-US" altLang="zh-CN" dirty="0"/>
              <a:t>【</a:t>
            </a:r>
            <a:r>
              <a:rPr lang="zh-CN" altLang="en-US" dirty="0"/>
              <a:t>问题报告</a:t>
            </a:r>
            <a:r>
              <a:rPr lang="en-US" altLang="zh-CN" dirty="0"/>
              <a:t>】</a:t>
            </a:r>
            <a:r>
              <a:rPr lang="zh-CN" altLang="en-US" dirty="0"/>
              <a:t> </a:t>
            </a:r>
            <a:r>
              <a:rPr lang="en-US" altLang="zh-CN" dirty="0"/>
              <a:t>(*.xlsx)</a:t>
            </a:r>
            <a:endParaRPr lang="zh-CN" altLang="en-US" dirty="0"/>
          </a:p>
        </p:txBody>
      </p:sp>
      <p:pic>
        <p:nvPicPr>
          <p:cNvPr id="4" name="图片 3"/>
          <p:cNvPicPr>
            <a:picLocks noChangeAspect="1"/>
          </p:cNvPicPr>
          <p:nvPr/>
        </p:nvPicPr>
        <p:blipFill>
          <a:blip r:embed="rId3"/>
          <a:stretch>
            <a:fillRect/>
          </a:stretch>
        </p:blipFill>
        <p:spPr>
          <a:xfrm>
            <a:off x="0" y="0"/>
            <a:ext cx="5163671" cy="1148799"/>
          </a:xfrm>
          <a:prstGeom prst="rect">
            <a:avLst/>
          </a:prstGeom>
        </p:spPr>
      </p:pic>
      <p:sp>
        <p:nvSpPr>
          <p:cNvPr id="11" name="文本框 10"/>
          <p:cNvSpPr txBox="1"/>
          <p:nvPr/>
        </p:nvSpPr>
        <p:spPr>
          <a:xfrm>
            <a:off x="1995805" y="471001"/>
            <a:ext cx="4064000" cy="523220"/>
          </a:xfrm>
          <a:prstGeom prst="rect">
            <a:avLst/>
          </a:prstGeom>
          <a:noFill/>
        </p:spPr>
        <p:txBody>
          <a:bodyPr wrap="square" rtlCol="0">
            <a:spAutoFit/>
          </a:bodyPr>
          <a:lstStyle/>
          <a:p>
            <a:r>
              <a:rPr lang="zh-CN" altLang="en-US" sz="2800" b="1" dirty="0">
                <a:solidFill>
                  <a:srgbClr val="136FB8"/>
                </a:solidFill>
              </a:rPr>
              <a:t>比赛中，比赛结束前</a:t>
            </a:r>
            <a:endParaRPr lang="zh-CN" altLang="en-US" sz="2800" b="1" dirty="0">
              <a:solidFill>
                <a:srgbClr val="136FB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988142" y="2824241"/>
            <a:ext cx="3281045" cy="922020"/>
          </a:xfrm>
          <a:prstGeom prst="rect">
            <a:avLst/>
          </a:prstGeom>
        </p:spPr>
        <p:txBody>
          <a:bodyPr wrap="none">
            <a:spAutoFit/>
          </a:bodyPr>
          <a:lstStyle/>
          <a:p>
            <a:pPr algn="l"/>
            <a:r>
              <a:rPr lang="en-US" altLang="zh-CN"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Lua</a:t>
            </a:r>
            <a:r>
              <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和</a:t>
            </a:r>
            <a:r>
              <a:rPr lang="en-US" altLang="zh-CN"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API</a:t>
            </a:r>
            <a:endParaRPr lang="en-US" altLang="zh-CN"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p:cNvSpPr/>
          <p:nvPr/>
        </p:nvSpPr>
        <p:spPr>
          <a:xfrm>
            <a:off x="5148346" y="3868120"/>
            <a:ext cx="5657767" cy="15020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菱形 5"/>
          <p:cNvSpPr/>
          <p:nvPr>
            <p:custDataLst>
              <p:tags r:id="rId1"/>
            </p:custDataLst>
          </p:nvPr>
        </p:nvSpPr>
        <p:spPr>
          <a:xfrm>
            <a:off x="955040" y="1601470"/>
            <a:ext cx="3403600" cy="3427095"/>
          </a:xfrm>
          <a:prstGeom prst="diamond">
            <a:avLst/>
          </a:prstGeom>
          <a:blipFill dpi="0" rotWithShape="1">
            <a:blip r:embed="rId2" cstate="screen"/>
            <a:srcRect/>
            <a:tile sx="100000" sy="100000"/>
          </a:blipFill>
          <a:ln w="762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Lua</a:t>
            </a:r>
            <a:endParaRPr lang="zh-CN" altLang="en-US" dirty="0"/>
          </a:p>
        </p:txBody>
      </p:sp>
      <p:pic>
        <p:nvPicPr>
          <p:cNvPr id="4" name="赛前培训lua">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755949" y="1440293"/>
            <a:ext cx="8973578" cy="5171539"/>
          </a:xfrm>
          <a:prstGeom prst="rect">
            <a:avLst/>
          </a:prstGeom>
        </p:spPr>
      </p:pic>
      <p:sp>
        <p:nvSpPr>
          <p:cNvPr id="3" name="文本框 2"/>
          <p:cNvSpPr txBox="1"/>
          <p:nvPr/>
        </p:nvSpPr>
        <p:spPr>
          <a:xfrm>
            <a:off x="6214110" y="2823125"/>
            <a:ext cx="4064000" cy="1476375"/>
          </a:xfrm>
          <a:prstGeom prst="rect">
            <a:avLst/>
          </a:prstGeom>
        </p:spPr>
        <p:txBody>
          <a:bodyPr>
            <a:spAutoFit/>
            <a:extLst>
              <a:ext uri="{4A0BC546-FE56-4ADE-93B0-CB8AF2F6F144}">
                <wpsdc:textFrameExt xmlns:wpsdc="http://www.wps.cn/officeDocument/2022/drawingmlCustomData" type="text"/>
              </a:ext>
            </a:extLst>
          </a:bodyPr>
          <a:lstStyle/>
          <a:p>
            <a:pPr algn="l"/>
            <a:r>
              <a:rPr lang="zh-CN" altLang="en-US" sz="1800">
                <a:latin typeface="Arial" panose="020B0604020202020204" pitchFamily="34" charset="0"/>
                <a:ea typeface="微软雅黑" panose="020B0503020204020204" pitchFamily="34" charset="-122"/>
              </a:rPr>
              <a:t>Lua 是一个小巧的脚本语言。通过灵活嵌入应用程序中从而为应用程序提供灵活的扩展和定制功能。Lua由标准C编写而成，几乎在所有操作系统和平台上都可以编译、运行。</a:t>
            </a:r>
            <a:endParaRPr lang="zh-CN" altLang="en-US" sz="1800">
              <a:latin typeface="Arial" panose="020B0604020202020204" pitchFamily="34" charset="0"/>
              <a:ea typeface="微软雅黑" panose="020B0503020204020204" pitchFamily="34" charset="-122"/>
            </a:endParaRPr>
          </a:p>
        </p:txBody>
      </p:sp>
      <p:pic>
        <p:nvPicPr>
          <p:cNvPr id="5" name="图片 4"/>
          <p:cNvPicPr>
            <a:picLocks noChangeAspect="1"/>
          </p:cNvPicPr>
          <p:nvPr/>
        </p:nvPicPr>
        <p:blipFill>
          <a:blip r:embed="rId4"/>
          <a:stretch>
            <a:fillRect/>
          </a:stretch>
        </p:blipFill>
        <p:spPr>
          <a:xfrm>
            <a:off x="0" y="0"/>
            <a:ext cx="5163671" cy="1148799"/>
          </a:xfrm>
          <a:prstGeom prst="rect">
            <a:avLst/>
          </a:prstGeom>
        </p:spPr>
      </p:pic>
      <p:sp>
        <p:nvSpPr>
          <p:cNvPr id="6" name="文本框 5"/>
          <p:cNvSpPr txBox="1"/>
          <p:nvPr/>
        </p:nvSpPr>
        <p:spPr>
          <a:xfrm>
            <a:off x="1995805" y="471001"/>
            <a:ext cx="4064000" cy="521970"/>
          </a:xfrm>
          <a:prstGeom prst="rect">
            <a:avLst/>
          </a:prstGeom>
          <a:noFill/>
        </p:spPr>
        <p:txBody>
          <a:bodyPr wrap="square" rtlCol="0">
            <a:spAutoFit/>
          </a:bodyPr>
          <a:lstStyle/>
          <a:p>
            <a:r>
              <a:rPr lang="en-US" altLang="zh-CN" sz="2800" b="1" dirty="0">
                <a:solidFill>
                  <a:srgbClr val="136FB8"/>
                </a:solidFill>
              </a:rPr>
              <a:t>Lua</a:t>
            </a:r>
            <a:endParaRPr lang="zh-CN" altLang="en-US" sz="2800" b="1" dirty="0">
              <a:solidFill>
                <a:srgbClr val="136FB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5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a:t>
            </a:r>
            <a:endParaRPr lang="zh-CN" altLang="en-US" dirty="0"/>
          </a:p>
        </p:txBody>
      </p:sp>
      <p:sp>
        <p:nvSpPr>
          <p:cNvPr id="9" name="矩形 8"/>
          <p:cNvSpPr/>
          <p:nvPr/>
        </p:nvSpPr>
        <p:spPr>
          <a:xfrm>
            <a:off x="1560619" y="1808360"/>
            <a:ext cx="4795731" cy="1384995"/>
          </a:xfrm>
          <a:prstGeom prst="rect">
            <a:avLst/>
          </a:prstGeom>
        </p:spPr>
        <p:txBody>
          <a:bodyPr wrap="square">
            <a:spAutoFit/>
          </a:bodyPr>
          <a:lstStyle/>
          <a:p>
            <a:r>
              <a:rPr lang="en-US" altLang="zh-CN" sz="1200" dirty="0">
                <a:solidFill>
                  <a:srgbClr val="001080"/>
                </a:solidFill>
                <a:latin typeface="Consolas" panose="020B0609020204030204" pitchFamily="49" charset="0"/>
              </a:rPr>
              <a:t>local</a:t>
            </a:r>
            <a:r>
              <a:rPr lang="en-US" altLang="zh-CN" sz="1200" dirty="0">
                <a:solidFill>
                  <a:srgbClr val="333333"/>
                </a:solidFill>
                <a:latin typeface="Consolas" panose="020B0609020204030204" pitchFamily="49" charset="0"/>
              </a:rPr>
              <a:t> </a:t>
            </a:r>
            <a:r>
              <a:rPr lang="en-US" altLang="zh-CN" sz="1200" dirty="0">
                <a:solidFill>
                  <a:srgbClr val="AF00DB"/>
                </a:solidFill>
                <a:latin typeface="Consolas" panose="020B0609020204030204" pitchFamily="49" charset="0"/>
              </a:rPr>
              <a:t>function</a:t>
            </a:r>
            <a:r>
              <a:rPr lang="en-US" altLang="zh-CN" sz="1200" dirty="0">
                <a:solidFill>
                  <a:srgbClr val="333333"/>
                </a:solidFill>
                <a:latin typeface="Consolas" panose="020B0609020204030204" pitchFamily="49" charset="0"/>
              </a:rPr>
              <a:t> </a:t>
            </a:r>
            <a:r>
              <a:rPr lang="zh-CN" altLang="en-US" sz="1200" dirty="0">
                <a:solidFill>
                  <a:srgbClr val="795E26"/>
                </a:solidFill>
                <a:latin typeface="Consolas" panose="020B0609020204030204" pitchFamily="49" charset="0"/>
              </a:rPr>
              <a:t>函数名</a:t>
            </a:r>
            <a:r>
              <a:rPr lang="en-US" altLang="zh-CN" sz="1200" dirty="0">
                <a:solidFill>
                  <a:srgbClr val="333333"/>
                </a:solidFill>
                <a:latin typeface="Consolas" panose="020B0609020204030204" pitchFamily="49" charset="0"/>
              </a:rPr>
              <a:t>( </a:t>
            </a:r>
            <a:r>
              <a:rPr lang="zh-CN" altLang="en-US" sz="1200" dirty="0">
                <a:solidFill>
                  <a:srgbClr val="001080"/>
                </a:solidFill>
                <a:latin typeface="Consolas" panose="020B0609020204030204" pitchFamily="49" charset="0"/>
              </a:rPr>
              <a:t>参数</a:t>
            </a:r>
            <a:r>
              <a:rPr lang="en-US" altLang="zh-CN" sz="1200" dirty="0">
                <a:solidFill>
                  <a:srgbClr val="001080"/>
                </a:solidFill>
                <a:latin typeface="Consolas" panose="020B0609020204030204" pitchFamily="49" charset="0"/>
              </a:rPr>
              <a:t>1</a:t>
            </a:r>
            <a:r>
              <a:rPr lang="zh-CN" altLang="en-US" sz="1200" dirty="0">
                <a:solidFill>
                  <a:srgbClr val="001080"/>
                </a:solidFill>
                <a:latin typeface="Consolas" panose="020B0609020204030204" pitchFamily="49" charset="0"/>
              </a:rPr>
              <a:t>，参数</a:t>
            </a:r>
            <a:r>
              <a:rPr lang="en-US" altLang="zh-CN" sz="1200" dirty="0">
                <a:solidFill>
                  <a:srgbClr val="001080"/>
                </a:solidFill>
                <a:latin typeface="Consolas" panose="020B0609020204030204" pitchFamily="49" charset="0"/>
              </a:rPr>
              <a:t>2</a:t>
            </a:r>
            <a:r>
              <a:rPr lang="en-US" altLang="zh-CN" sz="1200" dirty="0">
                <a:solidFill>
                  <a:srgbClr val="333333"/>
                </a:solidFill>
                <a:latin typeface="Consolas" panose="020B0609020204030204" pitchFamily="49" charset="0"/>
              </a:rPr>
              <a:t>...</a:t>
            </a:r>
            <a:r>
              <a:rPr lang="zh-CN" altLang="en-US" sz="1200" dirty="0">
                <a:solidFill>
                  <a:srgbClr val="001080"/>
                </a:solidFill>
                <a:latin typeface="Consolas" panose="020B0609020204030204" pitchFamily="49" charset="0"/>
              </a:rPr>
              <a:t>，参数</a:t>
            </a:r>
            <a:r>
              <a:rPr lang="en-US" altLang="zh-CN" sz="1200" dirty="0">
                <a:solidFill>
                  <a:srgbClr val="001080"/>
                </a:solidFill>
                <a:latin typeface="Consolas" panose="020B0609020204030204" pitchFamily="49" charset="0"/>
              </a:rPr>
              <a:t>n</a:t>
            </a:r>
            <a:r>
              <a:rPr lang="en-US" altLang="zh-CN" sz="1200" dirty="0">
                <a:solidFill>
                  <a:srgbClr val="333333"/>
                </a:solidFill>
                <a:latin typeface="Consolas" panose="020B0609020204030204" pitchFamily="49" charset="0"/>
              </a:rPr>
              <a:t>)</a:t>
            </a:r>
            <a:endParaRPr lang="en-US" altLang="zh-CN" sz="1200" dirty="0">
              <a:solidFill>
                <a:srgbClr val="333333"/>
              </a:solidFill>
              <a:latin typeface="Consolas" panose="020B0609020204030204" pitchFamily="49" charset="0"/>
            </a:endParaRPr>
          </a:p>
          <a:p>
            <a:endParaRPr lang="en-US" altLang="zh-CN" sz="1200" dirty="0">
              <a:solidFill>
                <a:srgbClr val="333333"/>
              </a:solidFill>
              <a:latin typeface="Consolas" panose="020B0609020204030204" pitchFamily="49" charset="0"/>
            </a:endParaRPr>
          </a:p>
          <a:p>
            <a:r>
              <a:rPr lang="en-US" altLang="zh-CN" sz="1200" dirty="0">
                <a:solidFill>
                  <a:srgbClr val="333333"/>
                </a:solidFill>
                <a:latin typeface="Consolas" panose="020B0609020204030204" pitchFamily="49" charset="0"/>
              </a:rPr>
              <a:t>  </a:t>
            </a:r>
            <a:r>
              <a:rPr lang="zh-CN" altLang="en-US" sz="1200" dirty="0">
                <a:solidFill>
                  <a:srgbClr val="001080"/>
                </a:solidFill>
                <a:latin typeface="Consolas" panose="020B0609020204030204" pitchFamily="49" charset="0"/>
              </a:rPr>
              <a:t>函数体</a:t>
            </a:r>
            <a:endParaRPr lang="en-US" altLang="zh-CN" sz="1200" dirty="0">
              <a:solidFill>
                <a:srgbClr val="001080"/>
              </a:solidFill>
              <a:latin typeface="Consolas" panose="020B0609020204030204" pitchFamily="49" charset="0"/>
            </a:endParaRPr>
          </a:p>
          <a:p>
            <a:endParaRPr lang="en-US" altLang="zh-CN" sz="1200" dirty="0">
              <a:solidFill>
                <a:srgbClr val="333333"/>
              </a:solidFill>
              <a:latin typeface="Consolas" panose="020B0609020204030204" pitchFamily="49" charset="0"/>
            </a:endParaRPr>
          </a:p>
          <a:p>
            <a:r>
              <a:rPr lang="en-US" altLang="zh-CN" sz="1200" dirty="0">
                <a:solidFill>
                  <a:srgbClr val="333333"/>
                </a:solidFill>
                <a:latin typeface="Consolas" panose="020B0609020204030204" pitchFamily="49" charset="0"/>
              </a:rPr>
              <a:t>  </a:t>
            </a:r>
            <a:r>
              <a:rPr lang="en-US" altLang="zh-CN" sz="1200" dirty="0">
                <a:solidFill>
                  <a:srgbClr val="AF00DB"/>
                </a:solidFill>
                <a:latin typeface="Consolas" panose="020B0609020204030204" pitchFamily="49" charset="0"/>
              </a:rPr>
              <a:t>return</a:t>
            </a:r>
            <a:r>
              <a:rPr lang="en-US" altLang="zh-CN" sz="1200" dirty="0">
                <a:solidFill>
                  <a:srgbClr val="333333"/>
                </a:solidFill>
                <a:latin typeface="Consolas" panose="020B0609020204030204" pitchFamily="49" charset="0"/>
              </a:rPr>
              <a:t> </a:t>
            </a:r>
            <a:r>
              <a:rPr lang="zh-CN" altLang="en-US" sz="1200" dirty="0">
                <a:solidFill>
                  <a:srgbClr val="001080"/>
                </a:solidFill>
                <a:latin typeface="Consolas" panose="020B0609020204030204" pitchFamily="49" charset="0"/>
              </a:rPr>
              <a:t>返回值</a:t>
            </a:r>
            <a:endParaRPr lang="en-US" altLang="zh-CN" sz="1200" dirty="0">
              <a:solidFill>
                <a:srgbClr val="001080"/>
              </a:solidFill>
              <a:latin typeface="Consolas" panose="020B0609020204030204" pitchFamily="49" charset="0"/>
            </a:endParaRPr>
          </a:p>
          <a:p>
            <a:endParaRPr lang="en-US" altLang="zh-CN" sz="1200" dirty="0">
              <a:solidFill>
                <a:srgbClr val="333333"/>
              </a:solidFill>
              <a:latin typeface="Consolas" panose="020B0609020204030204" pitchFamily="49" charset="0"/>
            </a:endParaRPr>
          </a:p>
          <a:p>
            <a:r>
              <a:rPr lang="en-US" altLang="zh-CN" sz="1200" dirty="0">
                <a:solidFill>
                  <a:srgbClr val="AF00DB"/>
                </a:solidFill>
                <a:latin typeface="Consolas" panose="020B0609020204030204" pitchFamily="49" charset="0"/>
              </a:rPr>
              <a:t>end</a:t>
            </a:r>
            <a:endParaRPr lang="en-US" altLang="zh-CN" sz="1200" b="0" dirty="0">
              <a:solidFill>
                <a:srgbClr val="333333"/>
              </a:solidFill>
              <a:effectLst/>
              <a:latin typeface="Consolas" panose="020B0609020204030204" pitchFamily="49" charset="0"/>
            </a:endParaRPr>
          </a:p>
        </p:txBody>
      </p:sp>
      <p:sp>
        <p:nvSpPr>
          <p:cNvPr id="14" name="标注: 弯曲线形 13"/>
          <p:cNvSpPr/>
          <p:nvPr/>
        </p:nvSpPr>
        <p:spPr>
          <a:xfrm>
            <a:off x="2471644" y="1434542"/>
            <a:ext cx="4648200" cy="304800"/>
          </a:xfrm>
          <a:prstGeom prst="borderCallout2">
            <a:avLst>
              <a:gd name="adj1" fmla="val 56250"/>
              <a:gd name="adj2" fmla="val -2868"/>
              <a:gd name="adj3" fmla="val 58334"/>
              <a:gd name="adj4" fmla="val -11066"/>
              <a:gd name="adj5" fmla="val 145833"/>
              <a:gd name="adj6" fmla="val -12698"/>
            </a:avLst>
          </a:prstGeom>
          <a:ln>
            <a:solidFill>
              <a:srgbClr val="8DC21F"/>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en-US" altLang="zh-CN" sz="1400" dirty="0"/>
              <a:t>local</a:t>
            </a:r>
            <a:r>
              <a:rPr lang="zh-CN" altLang="en-US" sz="1400" dirty="0"/>
              <a:t>代表局部函数，未设置该参数默认为全局函数</a:t>
            </a:r>
            <a:endParaRPr lang="zh-CN" altLang="en-US" sz="1400" dirty="0"/>
          </a:p>
        </p:txBody>
      </p:sp>
      <p:sp>
        <p:nvSpPr>
          <p:cNvPr id="5" name="矩形 4"/>
          <p:cNvSpPr/>
          <p:nvPr/>
        </p:nvSpPr>
        <p:spPr>
          <a:xfrm>
            <a:off x="1490768" y="3553397"/>
            <a:ext cx="9332595" cy="306705"/>
          </a:xfrm>
          <a:prstGeom prst="rect">
            <a:avLst/>
          </a:prstGeom>
        </p:spPr>
        <p:txBody>
          <a:bodyPr wrap="square">
            <a:spAutoFit/>
          </a:bodyPr>
          <a:lstStyle/>
          <a:p>
            <a:r>
              <a:rPr lang="zh-CN" altLang="en-US" sz="1400" dirty="0"/>
              <a:t>程序运行时，从入口函数</a:t>
            </a:r>
            <a:r>
              <a:rPr lang="en-US" altLang="zh-CN" sz="1400" dirty="0"/>
              <a:t>entry()</a:t>
            </a:r>
            <a:r>
              <a:rPr lang="zh-CN" altLang="en-US" sz="1400" dirty="0"/>
              <a:t>开始执行，执行到</a:t>
            </a:r>
            <a:r>
              <a:rPr lang="en-US" altLang="zh-CN" sz="1400" dirty="0"/>
              <a:t>exit()</a:t>
            </a:r>
            <a:r>
              <a:rPr lang="zh-CN" altLang="en-US" sz="1400" dirty="0"/>
              <a:t>时，退出执行。</a:t>
            </a:r>
            <a:endParaRPr lang="en-US" altLang="zh-CN" sz="1400" dirty="0"/>
          </a:p>
        </p:txBody>
      </p:sp>
      <p:pic>
        <p:nvPicPr>
          <p:cNvPr id="7" name="图片 6"/>
          <p:cNvPicPr>
            <a:picLocks noChangeAspect="1"/>
          </p:cNvPicPr>
          <p:nvPr/>
        </p:nvPicPr>
        <p:blipFill rotWithShape="1">
          <a:blip r:embed="rId1">
            <a:extLst>
              <a:ext uri="{28A0092B-C50C-407E-A947-70E740481C1C}">
                <a14:useLocalDpi xmlns:a14="http://schemas.microsoft.com/office/drawing/2010/main" val="0"/>
              </a:ext>
            </a:extLst>
          </a:blip>
          <a:srcRect b="46057"/>
          <a:stretch>
            <a:fillRect/>
          </a:stretch>
        </p:blipFill>
        <p:spPr>
          <a:xfrm>
            <a:off x="1490768" y="3960801"/>
            <a:ext cx="8710246" cy="2020738"/>
          </a:xfrm>
          <a:prstGeom prst="rect">
            <a:avLst/>
          </a:prstGeom>
          <a:ln>
            <a:noFill/>
          </a:ln>
          <a:effectLst>
            <a:outerShdw blurRad="292100" dist="139700" dir="2700000" algn="tl" rotWithShape="0">
              <a:srgbClr val="333333">
                <a:alpha val="65000"/>
              </a:srgbClr>
            </a:outerShdw>
          </a:effectLst>
        </p:spPr>
      </p:pic>
      <p:sp>
        <p:nvSpPr>
          <p:cNvPr id="3" name="标注: 弯曲线形 2"/>
          <p:cNvSpPr/>
          <p:nvPr/>
        </p:nvSpPr>
        <p:spPr>
          <a:xfrm>
            <a:off x="6578599" y="4732136"/>
            <a:ext cx="1835150" cy="304800"/>
          </a:xfrm>
          <a:prstGeom prst="borderCallout2">
            <a:avLst>
              <a:gd name="adj1" fmla="val 18750"/>
              <a:gd name="adj2" fmla="val -8333"/>
              <a:gd name="adj3" fmla="val 18750"/>
              <a:gd name="adj4" fmla="val -16667"/>
              <a:gd name="adj5" fmla="val 64583"/>
              <a:gd name="adj6" fmla="val -34542"/>
            </a:avLst>
          </a:prstGeom>
          <a:ln>
            <a:solidFill>
              <a:srgbClr val="8DC21F"/>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zh-CN" altLang="en-US" sz="1400" dirty="0"/>
              <a:t>入口函数</a:t>
            </a:r>
            <a:endParaRPr lang="en-US" altLang="zh-CN" sz="1400" dirty="0"/>
          </a:p>
        </p:txBody>
      </p:sp>
      <p:pic>
        <p:nvPicPr>
          <p:cNvPr id="4" name="图片 3"/>
          <p:cNvPicPr>
            <a:picLocks noChangeAspect="1"/>
          </p:cNvPicPr>
          <p:nvPr/>
        </p:nvPicPr>
        <p:blipFill>
          <a:blip r:embed="rId2"/>
          <a:stretch>
            <a:fillRect/>
          </a:stretch>
        </p:blipFill>
        <p:spPr>
          <a:xfrm>
            <a:off x="0" y="0"/>
            <a:ext cx="5163671" cy="1148799"/>
          </a:xfrm>
          <a:prstGeom prst="rect">
            <a:avLst/>
          </a:prstGeom>
        </p:spPr>
      </p:pic>
      <p:sp>
        <p:nvSpPr>
          <p:cNvPr id="6" name="文本框 5"/>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函数</a:t>
            </a:r>
            <a:endParaRPr lang="zh-CN" altLang="en-US" sz="2800" b="1" dirty="0">
              <a:solidFill>
                <a:srgbClr val="136FB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API(1/5)</a:t>
            </a:r>
            <a:endParaRPr lang="zh-CN" altLang="en-US" dirty="0"/>
          </a:p>
        </p:txBody>
      </p:sp>
      <p:pic>
        <p:nvPicPr>
          <p:cNvPr id="5" name="图片 4"/>
          <p:cNvPicPr>
            <a:picLocks noChangeAspect="1"/>
          </p:cNvPicPr>
          <p:nvPr/>
        </p:nvPicPr>
        <p:blipFill>
          <a:blip r:embed="rId1"/>
          <a:stretch>
            <a:fillRect/>
          </a:stretch>
        </p:blipFill>
        <p:spPr>
          <a:xfrm>
            <a:off x="1076325" y="1274445"/>
            <a:ext cx="7776845" cy="2033905"/>
          </a:xfrm>
          <a:prstGeom prst="rect">
            <a:avLst/>
          </a:prstGeom>
        </p:spPr>
      </p:pic>
      <p:pic>
        <p:nvPicPr>
          <p:cNvPr id="7" name="图片 6"/>
          <p:cNvPicPr>
            <a:picLocks noChangeAspect="1"/>
          </p:cNvPicPr>
          <p:nvPr/>
        </p:nvPicPr>
        <p:blipFill>
          <a:blip r:embed="rId2"/>
          <a:stretch>
            <a:fillRect/>
          </a:stretch>
        </p:blipFill>
        <p:spPr>
          <a:xfrm>
            <a:off x="1076325" y="3429000"/>
            <a:ext cx="7813675" cy="1329690"/>
          </a:xfrm>
          <a:prstGeom prst="rect">
            <a:avLst/>
          </a:prstGeom>
        </p:spPr>
      </p:pic>
      <p:pic>
        <p:nvPicPr>
          <p:cNvPr id="8" name="图片 7"/>
          <p:cNvPicPr>
            <a:picLocks noChangeAspect="1"/>
          </p:cNvPicPr>
          <p:nvPr/>
        </p:nvPicPr>
        <p:blipFill>
          <a:blip r:embed="rId3"/>
          <a:stretch>
            <a:fillRect/>
          </a:stretch>
        </p:blipFill>
        <p:spPr>
          <a:xfrm>
            <a:off x="1024255" y="4879340"/>
            <a:ext cx="6595110" cy="1219200"/>
          </a:xfrm>
          <a:prstGeom prst="rect">
            <a:avLst/>
          </a:prstGeom>
        </p:spPr>
      </p:pic>
      <p:pic>
        <p:nvPicPr>
          <p:cNvPr id="3" name="图片 2"/>
          <p:cNvPicPr>
            <a:picLocks noChangeAspect="1"/>
          </p:cNvPicPr>
          <p:nvPr/>
        </p:nvPicPr>
        <p:blipFill>
          <a:blip r:embed="rId4"/>
          <a:stretch>
            <a:fillRect/>
          </a:stretch>
        </p:blipFill>
        <p:spPr>
          <a:xfrm>
            <a:off x="0" y="0"/>
            <a:ext cx="5163671" cy="1148799"/>
          </a:xfrm>
          <a:prstGeom prst="rect">
            <a:avLst/>
          </a:prstGeom>
        </p:spPr>
      </p:pic>
      <p:sp>
        <p:nvSpPr>
          <p:cNvPr id="4" name="文本框 3"/>
          <p:cNvSpPr txBox="1"/>
          <p:nvPr/>
        </p:nvSpPr>
        <p:spPr>
          <a:xfrm>
            <a:off x="1995805" y="471001"/>
            <a:ext cx="4064000" cy="523220"/>
          </a:xfrm>
          <a:prstGeom prst="rect">
            <a:avLst/>
          </a:prstGeom>
          <a:noFill/>
        </p:spPr>
        <p:txBody>
          <a:bodyPr wrap="square" rtlCol="0">
            <a:spAutoFit/>
          </a:bodyPr>
          <a:lstStyle/>
          <a:p>
            <a:r>
              <a:rPr lang="en-US" altLang="zh-CN" sz="2800" b="1" dirty="0">
                <a:solidFill>
                  <a:srgbClr val="136FB8"/>
                </a:solidFill>
              </a:rPr>
              <a:t>API(1/5)</a:t>
            </a:r>
            <a:endParaRPr lang="zh-CN" altLang="en-US" sz="2800" b="1" dirty="0">
              <a:solidFill>
                <a:srgbClr val="136FB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API(2/5)</a:t>
            </a:r>
            <a:endParaRPr lang="zh-CN" altLang="en-US" dirty="0"/>
          </a:p>
        </p:txBody>
      </p:sp>
      <p:pic>
        <p:nvPicPr>
          <p:cNvPr id="3" name="图片 2"/>
          <p:cNvPicPr>
            <a:picLocks noChangeAspect="1"/>
          </p:cNvPicPr>
          <p:nvPr/>
        </p:nvPicPr>
        <p:blipFill>
          <a:blip r:embed="rId1"/>
          <a:stretch>
            <a:fillRect/>
          </a:stretch>
        </p:blipFill>
        <p:spPr>
          <a:xfrm>
            <a:off x="2152052" y="1196453"/>
            <a:ext cx="6694170" cy="5417185"/>
          </a:xfrm>
          <a:prstGeom prst="rect">
            <a:avLst/>
          </a:prstGeom>
        </p:spPr>
      </p:pic>
      <p:pic>
        <p:nvPicPr>
          <p:cNvPr id="4" name="图片 3"/>
          <p:cNvPicPr>
            <a:picLocks noChangeAspect="1"/>
          </p:cNvPicPr>
          <p:nvPr/>
        </p:nvPicPr>
        <p:blipFill>
          <a:blip r:embed="rId2"/>
          <a:stretch>
            <a:fillRect/>
          </a:stretch>
        </p:blipFill>
        <p:spPr>
          <a:xfrm>
            <a:off x="0" y="0"/>
            <a:ext cx="5163671" cy="1148799"/>
          </a:xfrm>
          <a:prstGeom prst="rect">
            <a:avLst/>
          </a:prstGeom>
        </p:spPr>
      </p:pic>
      <p:sp>
        <p:nvSpPr>
          <p:cNvPr id="5" name="文本框 4"/>
          <p:cNvSpPr txBox="1"/>
          <p:nvPr/>
        </p:nvSpPr>
        <p:spPr>
          <a:xfrm>
            <a:off x="1995805" y="471001"/>
            <a:ext cx="4064000" cy="521970"/>
          </a:xfrm>
          <a:prstGeom prst="rect">
            <a:avLst/>
          </a:prstGeom>
          <a:noFill/>
        </p:spPr>
        <p:txBody>
          <a:bodyPr wrap="square" rtlCol="0">
            <a:spAutoFit/>
          </a:bodyPr>
          <a:lstStyle/>
          <a:p>
            <a:r>
              <a:rPr lang="en-US" altLang="zh-CN" sz="2800" b="1" dirty="0">
                <a:solidFill>
                  <a:srgbClr val="136FB8"/>
                </a:solidFill>
              </a:rPr>
              <a:t>API(2/5)</a:t>
            </a:r>
            <a:endParaRPr lang="zh-CN" altLang="en-US" sz="2800" b="1" dirty="0">
              <a:solidFill>
                <a:srgbClr val="136FB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API(3/5)</a:t>
            </a:r>
            <a:endParaRPr lang="zh-CN" altLang="en-US" dirty="0"/>
          </a:p>
        </p:txBody>
      </p:sp>
      <p:sp>
        <p:nvSpPr>
          <p:cNvPr id="4" name="文本框 3"/>
          <p:cNvSpPr txBox="1"/>
          <p:nvPr/>
        </p:nvSpPr>
        <p:spPr>
          <a:xfrm>
            <a:off x="687178" y="1739963"/>
            <a:ext cx="5056956" cy="4537845"/>
          </a:xfrm>
          <a:prstGeom prst="rect">
            <a:avLst/>
          </a:prstGeom>
          <a:noFill/>
        </p:spPr>
        <p:txBody>
          <a:bodyPr wrap="square">
            <a:spAutoFit/>
          </a:bodyPr>
          <a:lstStyle/>
          <a:p>
            <a:pPr>
              <a:lnSpc>
                <a:spcPct val="150000"/>
              </a:lnSpc>
            </a:pPr>
            <a:r>
              <a:rPr lang="en-US" altLang="zh-CN" sz="1200" dirty="0">
                <a:latin typeface="+mj-ea"/>
                <a:ea typeface="+mj-ea"/>
              </a:rPr>
              <a:t>local </a:t>
            </a:r>
            <a:r>
              <a:rPr lang="en-US" altLang="zh-CN" sz="1200" dirty="0" err="1">
                <a:latin typeface="+mj-ea"/>
                <a:ea typeface="+mj-ea"/>
              </a:rPr>
              <a:t>r_res</a:t>
            </a:r>
            <a:r>
              <a:rPr lang="en-US" altLang="zh-CN" sz="1200" dirty="0">
                <a:latin typeface="+mj-ea"/>
                <a:ea typeface="+mj-ea"/>
              </a:rPr>
              <a:t> = </a:t>
            </a:r>
            <a:r>
              <a:rPr lang="en-US" altLang="zh-CN" sz="1200" dirty="0" err="1">
                <a:solidFill>
                  <a:srgbClr val="0070C0"/>
                </a:solidFill>
                <a:latin typeface="+mj-ea"/>
                <a:ea typeface="+mj-ea"/>
              </a:rPr>
              <a:t>read_buff</a:t>
            </a:r>
            <a:r>
              <a:rPr lang="en-US" altLang="zh-CN" sz="1200" dirty="0">
                <a:latin typeface="+mj-ea"/>
                <a:ea typeface="+mj-ea"/>
              </a:rPr>
              <a:t>(channel, </a:t>
            </a:r>
            <a:r>
              <a:rPr lang="zh-CN" altLang="en-US" sz="1200" dirty="0">
                <a:latin typeface="+mj-ea"/>
                <a:ea typeface="+mj-ea"/>
              </a:rPr>
              <a:t> </a:t>
            </a:r>
            <a:r>
              <a:rPr lang="en-US" altLang="zh-CN" sz="1200" dirty="0">
                <a:latin typeface="+mj-ea"/>
                <a:ea typeface="+mj-ea"/>
              </a:rPr>
              <a:t>size, </a:t>
            </a:r>
            <a:r>
              <a:rPr lang="zh-CN" altLang="en-US" sz="1200" dirty="0">
                <a:latin typeface="+mj-ea"/>
                <a:ea typeface="+mj-ea"/>
              </a:rPr>
              <a:t> </a:t>
            </a:r>
            <a:r>
              <a:rPr lang="en-US" altLang="zh-CN" sz="1200" dirty="0" err="1">
                <a:latin typeface="+mj-ea"/>
                <a:ea typeface="+mj-ea"/>
              </a:rPr>
              <a:t>tout_ms</a:t>
            </a:r>
            <a:r>
              <a:rPr lang="en-US" altLang="zh-CN" sz="1200" dirty="0">
                <a:latin typeface="+mj-ea"/>
                <a:ea typeface="+mj-ea"/>
              </a:rPr>
              <a:t>)</a:t>
            </a:r>
            <a:endParaRPr lang="en-US" altLang="zh-CN" sz="1200" dirty="0">
              <a:latin typeface="+mj-ea"/>
              <a:ea typeface="+mj-ea"/>
            </a:endParaRPr>
          </a:p>
          <a:p>
            <a:pPr>
              <a:lnSpc>
                <a:spcPct val="150000"/>
              </a:lnSpc>
            </a:pPr>
            <a:r>
              <a:rPr lang="zh-CN" altLang="en-US" sz="1200" b="0" i="0" dirty="0">
                <a:effectLst/>
                <a:latin typeface="-apple-system"/>
              </a:rPr>
              <a:t>功能：</a:t>
            </a:r>
            <a:r>
              <a:rPr lang="zh-CN" altLang="en-US" sz="1200" b="1" i="0" dirty="0">
                <a:effectLst/>
                <a:latin typeface="-apple-system"/>
              </a:rPr>
              <a:t>异步读取通信通道的输入数据</a:t>
            </a:r>
            <a:endParaRPr lang="en-US" altLang="zh-CN" sz="1200" b="1" dirty="0">
              <a:latin typeface="+mj-ea"/>
              <a:ea typeface="+mj-ea"/>
            </a:endParaRPr>
          </a:p>
          <a:p>
            <a:pPr>
              <a:lnSpc>
                <a:spcPct val="150000"/>
              </a:lnSpc>
            </a:pPr>
            <a:r>
              <a:rPr lang="zh-CN" altLang="en-US" sz="1200" dirty="0">
                <a:latin typeface="+mj-ea"/>
                <a:ea typeface="+mj-ea"/>
              </a:rPr>
              <a:t>例：</a:t>
            </a:r>
            <a:r>
              <a:rPr lang="en-US" altLang="zh-CN" sz="1200" dirty="0" err="1">
                <a:latin typeface="+mj-ea"/>
                <a:ea typeface="+mj-ea"/>
              </a:rPr>
              <a:t>read_buff</a:t>
            </a:r>
            <a:r>
              <a:rPr lang="en-US" altLang="zh-CN" sz="1200" dirty="0">
                <a:latin typeface="+mj-ea"/>
                <a:ea typeface="+mj-ea"/>
              </a:rPr>
              <a:t>(</a:t>
            </a:r>
            <a:r>
              <a:rPr lang="en-US" altLang="zh-CN" sz="1200" dirty="0" err="1">
                <a:latin typeface="+mj-ea"/>
                <a:ea typeface="+mj-ea"/>
              </a:rPr>
              <a:t>channels.gas</a:t>
            </a:r>
            <a:r>
              <a:rPr lang="en-US" altLang="zh-CN" sz="1200" dirty="0">
                <a:latin typeface="+mj-ea"/>
                <a:ea typeface="+mj-ea"/>
              </a:rPr>
              <a:t>, 0, 5000)</a:t>
            </a:r>
            <a:endParaRPr lang="en-US" altLang="zh-CN" sz="1200" dirty="0">
              <a:latin typeface="+mj-ea"/>
              <a:ea typeface="+mj-ea"/>
            </a:endParaRPr>
          </a:p>
          <a:p>
            <a:pPr>
              <a:lnSpc>
                <a:spcPct val="150000"/>
              </a:lnSpc>
            </a:pPr>
            <a:endParaRPr lang="en-US" altLang="zh-CN" sz="1200" dirty="0">
              <a:latin typeface="+mj-ea"/>
              <a:ea typeface="+mj-ea"/>
            </a:endParaRPr>
          </a:p>
          <a:p>
            <a:pPr>
              <a:lnSpc>
                <a:spcPct val="150000"/>
              </a:lnSpc>
            </a:pPr>
            <a:r>
              <a:rPr lang="en-US" altLang="zh-CN" sz="1200" dirty="0">
                <a:latin typeface="+mj-ea"/>
                <a:ea typeface="+mj-ea"/>
              </a:rPr>
              <a:t>local </a:t>
            </a:r>
            <a:r>
              <a:rPr lang="en-US" altLang="zh-CN" sz="1200" dirty="0" err="1">
                <a:latin typeface="+mj-ea"/>
                <a:ea typeface="+mj-ea"/>
              </a:rPr>
              <a:t>w_res</a:t>
            </a:r>
            <a:r>
              <a:rPr lang="en-US" altLang="zh-CN" sz="1200" dirty="0">
                <a:latin typeface="+mj-ea"/>
                <a:ea typeface="+mj-ea"/>
              </a:rPr>
              <a:t> = </a:t>
            </a:r>
            <a:r>
              <a:rPr lang="en-US" altLang="zh-CN" sz="1200" dirty="0" err="1">
                <a:solidFill>
                  <a:srgbClr val="0070C0"/>
                </a:solidFill>
                <a:latin typeface="+mj-ea"/>
                <a:ea typeface="+mj-ea"/>
              </a:rPr>
              <a:t>write_buff</a:t>
            </a:r>
            <a:r>
              <a:rPr lang="en-US" altLang="zh-CN" sz="1200" dirty="0">
                <a:latin typeface="+mj-ea"/>
                <a:ea typeface="+mj-ea"/>
              </a:rPr>
              <a:t>(channel, </a:t>
            </a:r>
            <a:r>
              <a:rPr lang="zh-CN" altLang="en-US" sz="1200" dirty="0">
                <a:latin typeface="+mj-ea"/>
                <a:ea typeface="+mj-ea"/>
              </a:rPr>
              <a:t> </a:t>
            </a:r>
            <a:r>
              <a:rPr lang="en-US" altLang="zh-CN" sz="1200" dirty="0">
                <a:latin typeface="+mj-ea"/>
                <a:ea typeface="+mj-ea"/>
              </a:rPr>
              <a:t>buff, </a:t>
            </a:r>
            <a:r>
              <a:rPr lang="zh-CN" altLang="en-US" sz="1200" dirty="0">
                <a:latin typeface="+mj-ea"/>
                <a:ea typeface="+mj-ea"/>
              </a:rPr>
              <a:t> </a:t>
            </a:r>
            <a:r>
              <a:rPr lang="en-US" altLang="zh-CN" sz="1200" dirty="0">
                <a:latin typeface="+mj-ea"/>
                <a:ea typeface="+mj-ea"/>
              </a:rPr>
              <a:t>option)</a:t>
            </a:r>
            <a:endParaRPr lang="en-US" altLang="zh-CN" sz="1200" dirty="0">
              <a:latin typeface="+mj-ea"/>
              <a:ea typeface="+mj-ea"/>
            </a:endParaRPr>
          </a:p>
          <a:p>
            <a:pPr>
              <a:lnSpc>
                <a:spcPct val="150000"/>
              </a:lnSpc>
            </a:pPr>
            <a:r>
              <a:rPr lang="zh-CN" altLang="en-US" sz="1200" dirty="0">
                <a:latin typeface="-apple-system"/>
              </a:rPr>
              <a:t>功能：</a:t>
            </a:r>
            <a:r>
              <a:rPr lang="zh-CN" altLang="en-US" sz="1200" b="1" dirty="0">
                <a:latin typeface="-apple-system"/>
              </a:rPr>
              <a:t>异步输出数据缓存</a:t>
            </a:r>
            <a:endParaRPr lang="en-US" altLang="zh-CN" sz="1200" b="1" dirty="0">
              <a:latin typeface="-apple-system"/>
            </a:endParaRPr>
          </a:p>
          <a:p>
            <a:pPr>
              <a:lnSpc>
                <a:spcPct val="150000"/>
              </a:lnSpc>
            </a:pPr>
            <a:r>
              <a:rPr lang="zh-CN" altLang="en-US" sz="1200" dirty="0">
                <a:latin typeface="+mj-ea"/>
                <a:ea typeface="+mj-ea"/>
              </a:rPr>
              <a:t>例： </a:t>
            </a:r>
            <a:r>
              <a:rPr lang="en-US" altLang="zh-CN" sz="1200" b="0" i="0" dirty="0">
                <a:effectLst/>
                <a:latin typeface="+mj-ea"/>
                <a:ea typeface="+mj-ea"/>
              </a:rPr>
              <a:t>result = </a:t>
            </a:r>
            <a:r>
              <a:rPr lang="en-US" altLang="zh-CN" sz="1200" b="0" i="0" dirty="0" err="1">
                <a:effectLst/>
                <a:latin typeface="+mj-ea"/>
                <a:ea typeface="+mj-ea"/>
              </a:rPr>
              <a:t>write_buff</a:t>
            </a:r>
            <a:r>
              <a:rPr lang="en-US" altLang="zh-CN" sz="1200" b="0" i="0" dirty="0">
                <a:effectLst/>
                <a:latin typeface="+mj-ea"/>
                <a:ea typeface="+mj-ea"/>
              </a:rPr>
              <a:t>(channels.com, buff)</a:t>
            </a:r>
            <a:endParaRPr lang="en-US" altLang="zh-CN" sz="1200" b="0" i="0" dirty="0">
              <a:effectLst/>
              <a:latin typeface="+mj-ea"/>
              <a:ea typeface="+mj-ea"/>
            </a:endParaRPr>
          </a:p>
          <a:p>
            <a:pPr>
              <a:lnSpc>
                <a:spcPct val="150000"/>
              </a:lnSpc>
            </a:pPr>
            <a:endParaRPr lang="en-US" altLang="zh-CN" sz="1400" b="1" dirty="0">
              <a:latin typeface="+mj-ea"/>
              <a:ea typeface="+mj-ea"/>
            </a:endParaRPr>
          </a:p>
          <a:p>
            <a:pPr>
              <a:lnSpc>
                <a:spcPct val="150000"/>
              </a:lnSpc>
            </a:pPr>
            <a:r>
              <a:rPr lang="en-US" altLang="zh-CN" sz="1200" dirty="0">
                <a:latin typeface="+mj-ea"/>
                <a:ea typeface="+mj-ea"/>
              </a:rPr>
              <a:t>local </a:t>
            </a:r>
            <a:r>
              <a:rPr lang="en-US" altLang="zh-CN" sz="1200" dirty="0" err="1">
                <a:latin typeface="+mj-ea"/>
                <a:ea typeface="+mj-ea"/>
              </a:rPr>
              <a:t>r_res</a:t>
            </a:r>
            <a:r>
              <a:rPr lang="en-US" altLang="zh-CN" sz="1200" dirty="0">
                <a:latin typeface="+mj-ea"/>
                <a:ea typeface="+mj-ea"/>
              </a:rPr>
              <a:t> = </a:t>
            </a:r>
            <a:r>
              <a:rPr lang="en-US" altLang="zh-CN" sz="1200" dirty="0" err="1">
                <a:solidFill>
                  <a:srgbClr val="0070C0"/>
                </a:solidFill>
                <a:latin typeface="+mj-ea"/>
                <a:ea typeface="+mj-ea"/>
              </a:rPr>
              <a:t>read_msg</a:t>
            </a:r>
            <a:r>
              <a:rPr lang="en-US" altLang="zh-CN" sz="1200" dirty="0">
                <a:latin typeface="+mj-ea"/>
                <a:ea typeface="+mj-ea"/>
              </a:rPr>
              <a:t>(channel, </a:t>
            </a:r>
            <a:r>
              <a:rPr lang="zh-CN" altLang="en-US" sz="1200" dirty="0">
                <a:latin typeface="+mj-ea"/>
                <a:ea typeface="+mj-ea"/>
              </a:rPr>
              <a:t> </a:t>
            </a:r>
            <a:r>
              <a:rPr lang="en-US" altLang="zh-CN" sz="1200" dirty="0" err="1">
                <a:latin typeface="+mj-ea"/>
                <a:ea typeface="+mj-ea"/>
              </a:rPr>
              <a:t>prot</a:t>
            </a:r>
            <a:r>
              <a:rPr lang="en-US" altLang="zh-CN" sz="1200" dirty="0">
                <a:latin typeface="+mj-ea"/>
                <a:ea typeface="+mj-ea"/>
              </a:rPr>
              <a:t>, </a:t>
            </a:r>
            <a:r>
              <a:rPr lang="zh-CN" altLang="en-US" sz="1200" dirty="0">
                <a:latin typeface="+mj-ea"/>
                <a:ea typeface="+mj-ea"/>
              </a:rPr>
              <a:t> </a:t>
            </a:r>
            <a:r>
              <a:rPr lang="en-US" altLang="zh-CN" sz="1200" dirty="0" err="1">
                <a:latin typeface="+mj-ea"/>
                <a:ea typeface="+mj-ea"/>
              </a:rPr>
              <a:t>tout_ms</a:t>
            </a:r>
            <a:r>
              <a:rPr lang="en-US" altLang="zh-CN" sz="1200" dirty="0">
                <a:latin typeface="+mj-ea"/>
                <a:ea typeface="+mj-ea"/>
              </a:rPr>
              <a:t>)</a:t>
            </a:r>
            <a:endParaRPr lang="en-US" altLang="zh-CN" sz="1200" dirty="0">
              <a:latin typeface="+mj-ea"/>
              <a:ea typeface="+mj-ea"/>
            </a:endParaRPr>
          </a:p>
          <a:p>
            <a:pPr>
              <a:lnSpc>
                <a:spcPct val="150000"/>
              </a:lnSpc>
            </a:pPr>
            <a:r>
              <a:rPr lang="zh-CN" altLang="en-US" sz="1200" b="0" i="0" dirty="0">
                <a:effectLst/>
                <a:latin typeface="-apple-system"/>
              </a:rPr>
              <a:t>功能：</a:t>
            </a:r>
            <a:r>
              <a:rPr lang="zh-CN" altLang="en-US" sz="1200" b="1" i="0" dirty="0">
                <a:effectLst/>
                <a:latin typeface="-apple-system"/>
              </a:rPr>
              <a:t>异步读取通信通道的输入数据，并解析</a:t>
            </a:r>
            <a:endParaRPr lang="en-US" altLang="zh-CN" sz="1200" b="1" dirty="0">
              <a:latin typeface="+mj-ea"/>
              <a:ea typeface="+mj-ea"/>
            </a:endParaRPr>
          </a:p>
          <a:p>
            <a:pPr>
              <a:lnSpc>
                <a:spcPct val="150000"/>
              </a:lnSpc>
            </a:pPr>
            <a:r>
              <a:rPr lang="zh-CN" altLang="en-US" sz="1200" dirty="0">
                <a:latin typeface="+mj-ea"/>
                <a:ea typeface="+mj-ea"/>
              </a:rPr>
              <a:t>例：</a:t>
            </a:r>
            <a:r>
              <a:rPr lang="en-US" altLang="zh-CN" sz="1200" dirty="0">
                <a:latin typeface="+mj-ea"/>
                <a:ea typeface="+mj-ea"/>
              </a:rPr>
              <a:t> local res = </a:t>
            </a:r>
            <a:r>
              <a:rPr lang="en-US" altLang="zh-CN" sz="1200" dirty="0" err="1">
                <a:latin typeface="+mj-ea"/>
                <a:ea typeface="+mj-ea"/>
              </a:rPr>
              <a:t>read_msg</a:t>
            </a:r>
            <a:r>
              <a:rPr lang="en-US" altLang="zh-CN" sz="1200" dirty="0">
                <a:latin typeface="+mj-ea"/>
                <a:ea typeface="+mj-ea"/>
              </a:rPr>
              <a:t>(</a:t>
            </a:r>
            <a:r>
              <a:rPr lang="en-US" altLang="zh-CN" sz="1200" dirty="0" err="1">
                <a:latin typeface="+mj-ea"/>
                <a:ea typeface="+mj-ea"/>
              </a:rPr>
              <a:t>channels.gas</a:t>
            </a:r>
            <a:r>
              <a:rPr lang="en-US" altLang="zh-CN" sz="1200" dirty="0">
                <a:latin typeface="+mj-ea"/>
                <a:ea typeface="+mj-ea"/>
              </a:rPr>
              <a:t>, protocols.P_gas,10000)</a:t>
            </a:r>
            <a:endParaRPr lang="en-US" altLang="zh-CN" sz="1200" dirty="0">
              <a:latin typeface="+mj-ea"/>
              <a:ea typeface="+mj-ea"/>
            </a:endParaRPr>
          </a:p>
          <a:p>
            <a:pPr>
              <a:lnSpc>
                <a:spcPct val="150000"/>
              </a:lnSpc>
            </a:pPr>
            <a:r>
              <a:rPr lang="en-US" altLang="zh-CN" sz="1200" dirty="0">
                <a:latin typeface="+mj-ea"/>
                <a:ea typeface="+mj-ea"/>
              </a:rPr>
              <a:t>        print ("</a:t>
            </a:r>
            <a:r>
              <a:rPr lang="zh-CN" altLang="en-US" sz="1200" dirty="0">
                <a:latin typeface="+mj-ea"/>
                <a:ea typeface="+mj-ea"/>
              </a:rPr>
              <a:t>实际电压值为</a:t>
            </a:r>
            <a:r>
              <a:rPr lang="en-US" altLang="zh-CN" sz="1200" dirty="0">
                <a:latin typeface="+mj-ea"/>
                <a:ea typeface="+mj-ea"/>
              </a:rPr>
              <a:t>"..</a:t>
            </a:r>
            <a:r>
              <a:rPr lang="en-US" altLang="zh-CN" sz="1200" dirty="0" err="1">
                <a:latin typeface="+mj-ea"/>
                <a:ea typeface="+mj-ea"/>
              </a:rPr>
              <a:t>resl.value.voltage</a:t>
            </a:r>
            <a:r>
              <a:rPr lang="en-US" altLang="zh-CN" sz="1200" dirty="0">
                <a:latin typeface="+mj-ea"/>
                <a:ea typeface="+mj-ea"/>
              </a:rPr>
              <a:t>)</a:t>
            </a:r>
            <a:endParaRPr lang="en-US" altLang="zh-CN" sz="1200" dirty="0">
              <a:latin typeface="+mj-ea"/>
              <a:ea typeface="+mj-ea"/>
            </a:endParaRPr>
          </a:p>
          <a:p>
            <a:pPr>
              <a:lnSpc>
                <a:spcPct val="150000"/>
              </a:lnSpc>
            </a:pPr>
            <a:endParaRPr lang="en-US" altLang="zh-CN" sz="1200" dirty="0">
              <a:latin typeface="+mj-ea"/>
              <a:ea typeface="+mj-ea"/>
            </a:endParaRPr>
          </a:p>
          <a:p>
            <a:pPr>
              <a:lnSpc>
                <a:spcPct val="150000"/>
              </a:lnSpc>
            </a:pPr>
            <a:r>
              <a:rPr lang="en-US" altLang="zh-CN" sz="1200" dirty="0">
                <a:latin typeface="+mj-ea"/>
                <a:ea typeface="+mj-ea"/>
              </a:rPr>
              <a:t>local </a:t>
            </a:r>
            <a:r>
              <a:rPr lang="en-US" altLang="zh-CN" sz="1200" dirty="0" err="1">
                <a:latin typeface="+mj-ea"/>
                <a:ea typeface="+mj-ea"/>
              </a:rPr>
              <a:t>w_res</a:t>
            </a:r>
            <a:r>
              <a:rPr lang="en-US" altLang="zh-CN" sz="1200" dirty="0">
                <a:latin typeface="+mj-ea"/>
                <a:ea typeface="+mj-ea"/>
              </a:rPr>
              <a:t> = </a:t>
            </a:r>
            <a:r>
              <a:rPr lang="en-US" altLang="zh-CN" sz="1200" dirty="0" err="1">
                <a:solidFill>
                  <a:srgbClr val="0070C0"/>
                </a:solidFill>
                <a:latin typeface="+mj-ea"/>
                <a:ea typeface="+mj-ea"/>
              </a:rPr>
              <a:t>write_msg</a:t>
            </a:r>
            <a:r>
              <a:rPr lang="en-US" altLang="zh-CN" sz="1200" dirty="0">
                <a:latin typeface="+mj-ea"/>
                <a:ea typeface="+mj-ea"/>
              </a:rPr>
              <a:t>(channel, </a:t>
            </a:r>
            <a:r>
              <a:rPr lang="zh-CN" altLang="en-US" sz="1200" dirty="0">
                <a:latin typeface="+mj-ea"/>
                <a:ea typeface="+mj-ea"/>
              </a:rPr>
              <a:t> </a:t>
            </a:r>
            <a:r>
              <a:rPr lang="en-US" altLang="zh-CN" sz="1200" dirty="0" err="1">
                <a:latin typeface="+mj-ea"/>
                <a:ea typeface="+mj-ea"/>
              </a:rPr>
              <a:t>prot</a:t>
            </a:r>
            <a:r>
              <a:rPr lang="en-US" altLang="zh-CN" sz="1200" dirty="0">
                <a:latin typeface="+mj-ea"/>
                <a:ea typeface="+mj-ea"/>
              </a:rPr>
              <a:t>, </a:t>
            </a:r>
            <a:r>
              <a:rPr lang="zh-CN" altLang="en-US" sz="1200" dirty="0">
                <a:latin typeface="+mj-ea"/>
                <a:ea typeface="+mj-ea"/>
              </a:rPr>
              <a:t> </a:t>
            </a:r>
            <a:r>
              <a:rPr lang="en-US" altLang="zh-CN" sz="1200" dirty="0">
                <a:latin typeface="+mj-ea"/>
                <a:ea typeface="+mj-ea"/>
              </a:rPr>
              <a:t>msg, </a:t>
            </a:r>
            <a:r>
              <a:rPr lang="zh-CN" altLang="en-US" sz="1200" dirty="0">
                <a:latin typeface="+mj-ea"/>
                <a:ea typeface="+mj-ea"/>
              </a:rPr>
              <a:t> </a:t>
            </a:r>
            <a:r>
              <a:rPr lang="en-US" altLang="zh-CN" sz="1200" dirty="0">
                <a:latin typeface="+mj-ea"/>
                <a:ea typeface="+mj-ea"/>
              </a:rPr>
              <a:t>option)</a:t>
            </a:r>
            <a:endParaRPr lang="en-US" altLang="zh-CN" sz="1200" dirty="0">
              <a:latin typeface="+mj-ea"/>
              <a:ea typeface="+mj-ea"/>
            </a:endParaRPr>
          </a:p>
          <a:p>
            <a:pPr>
              <a:lnSpc>
                <a:spcPct val="150000"/>
              </a:lnSpc>
            </a:pPr>
            <a:r>
              <a:rPr lang="zh-CN" altLang="en-US" sz="1200" b="0" i="0" dirty="0">
                <a:effectLst/>
                <a:latin typeface="-apple-system"/>
              </a:rPr>
              <a:t>功能：</a:t>
            </a:r>
            <a:r>
              <a:rPr lang="zh-CN" altLang="en-US" sz="1200" b="1" i="0" dirty="0">
                <a:effectLst/>
                <a:latin typeface="-apple-system"/>
              </a:rPr>
              <a:t>使用协议打包</a:t>
            </a:r>
            <a:r>
              <a:rPr lang="zh-CN" altLang="en-US" sz="1200" b="1" dirty="0">
                <a:latin typeface="-apple-system"/>
              </a:rPr>
              <a:t>报文数据，并</a:t>
            </a:r>
            <a:r>
              <a:rPr lang="zh-CN" altLang="en-US" sz="1200" b="1" i="0" dirty="0">
                <a:effectLst/>
                <a:latin typeface="-apple-system"/>
              </a:rPr>
              <a:t>在通信通道异步输出</a:t>
            </a:r>
            <a:endParaRPr lang="en-US" altLang="zh-CN" sz="1200" b="1" dirty="0">
              <a:latin typeface="+mj-ea"/>
              <a:ea typeface="+mj-ea"/>
            </a:endParaRPr>
          </a:p>
          <a:p>
            <a:pPr>
              <a:lnSpc>
                <a:spcPct val="150000"/>
              </a:lnSpc>
            </a:pPr>
            <a:r>
              <a:rPr lang="zh-CN" altLang="en-US" sz="1200" dirty="0">
                <a:latin typeface="+mj-ea"/>
                <a:ea typeface="+mj-ea"/>
              </a:rPr>
              <a:t>例：</a:t>
            </a:r>
            <a:r>
              <a:rPr lang="en-US" altLang="zh-CN" sz="1200" dirty="0">
                <a:latin typeface="+mj-ea"/>
                <a:ea typeface="+mj-ea"/>
              </a:rPr>
              <a:t> </a:t>
            </a:r>
            <a:r>
              <a:rPr lang="en-US" altLang="zh-CN" sz="1200" dirty="0" err="1">
                <a:latin typeface="+mj-ea"/>
                <a:ea typeface="+mj-ea"/>
              </a:rPr>
              <a:t>write_msg</a:t>
            </a:r>
            <a:r>
              <a:rPr lang="en-US" altLang="zh-CN" sz="1200" dirty="0">
                <a:latin typeface="+mj-ea"/>
                <a:ea typeface="+mj-ea"/>
              </a:rPr>
              <a:t>(</a:t>
            </a:r>
            <a:r>
              <a:rPr lang="en-US" altLang="zh-CN" sz="1200" dirty="0" err="1">
                <a:latin typeface="+mj-ea"/>
                <a:ea typeface="+mj-ea"/>
              </a:rPr>
              <a:t>channels.setting</a:t>
            </a:r>
            <a:r>
              <a:rPr lang="en-US" altLang="zh-CN" sz="1200" dirty="0">
                <a:latin typeface="+mj-ea"/>
                <a:ea typeface="+mj-ea"/>
              </a:rPr>
              <a:t>, </a:t>
            </a:r>
            <a:r>
              <a:rPr lang="en-US" altLang="zh-CN" sz="1200" dirty="0" err="1">
                <a:latin typeface="+mj-ea"/>
                <a:ea typeface="+mj-ea"/>
              </a:rPr>
              <a:t>protocols.P_setting</a:t>
            </a:r>
            <a:r>
              <a:rPr lang="en-US" altLang="zh-CN" sz="1200" dirty="0">
                <a:latin typeface="+mj-ea"/>
                <a:ea typeface="+mj-ea"/>
              </a:rPr>
              <a:t>,{</a:t>
            </a:r>
            <a:r>
              <a:rPr lang="en-US" altLang="zh-CN" sz="1200" dirty="0" err="1">
                <a:latin typeface="+mj-ea"/>
                <a:ea typeface="+mj-ea"/>
              </a:rPr>
              <a:t>dataValue</a:t>
            </a:r>
            <a:r>
              <a:rPr lang="en-US" altLang="zh-CN" sz="1200" dirty="0">
                <a:latin typeface="+mj-ea"/>
                <a:ea typeface="+mj-ea"/>
              </a:rPr>
              <a:t>=0})</a:t>
            </a:r>
            <a:endParaRPr lang="en-US" altLang="zh-CN" sz="1200" dirty="0">
              <a:latin typeface="+mj-ea"/>
              <a:ea typeface="+mj-ea"/>
            </a:endParaRPr>
          </a:p>
        </p:txBody>
      </p:sp>
      <p:sp>
        <p:nvSpPr>
          <p:cNvPr id="9" name="文本框 8"/>
          <p:cNvSpPr txBox="1"/>
          <p:nvPr/>
        </p:nvSpPr>
        <p:spPr>
          <a:xfrm>
            <a:off x="6146800" y="778743"/>
            <a:ext cx="5476056" cy="5599674"/>
          </a:xfrm>
          <a:prstGeom prst="rect">
            <a:avLst/>
          </a:prstGeom>
          <a:noFill/>
        </p:spPr>
        <p:txBody>
          <a:bodyPr wrap="square">
            <a:spAutoFit/>
          </a:bodyPr>
          <a:lstStyle/>
          <a:p>
            <a:pPr>
              <a:lnSpc>
                <a:spcPct val="150000"/>
              </a:lnSpc>
            </a:pPr>
            <a:r>
              <a:rPr lang="zh-CN" altLang="en-US" sz="1200" dirty="0">
                <a:solidFill>
                  <a:srgbClr val="0070C0"/>
                </a:solidFill>
                <a:latin typeface="微软雅黑" panose="020B0503020204020204" pitchFamily="34" charset="-122"/>
                <a:ea typeface="微软雅黑" panose="020B0503020204020204" pitchFamily="34" charset="-122"/>
              </a:rPr>
              <a:t>输入参数</a:t>
            </a:r>
            <a:r>
              <a:rPr lang="zh-CN" altLang="en-US"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channel：EChannel类型， 通信通道对象</a:t>
            </a: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buff：EBuff类型， 数据缓存</a:t>
            </a: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msg：dict类型， 报文数据</a:t>
            </a: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size：number类型， 需要读取的字节长度， 0表示全部读取</a:t>
            </a: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tout_ms：number类型， 超时时长（单位ms）， 超时返回nil</a:t>
            </a: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prot：EProtocol类型， 协议对象</a:t>
            </a: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option：dict类型， 可选参数选项</a:t>
            </a:r>
            <a:endParaRPr lang="zh-CN" altLang="en-US" sz="1200" dirty="0">
              <a:latin typeface="微软雅黑" panose="020B0503020204020204" pitchFamily="34" charset="-122"/>
              <a:ea typeface="微软雅黑" panose="020B0503020204020204" pitchFamily="34" charset="-122"/>
            </a:endParaRPr>
          </a:p>
          <a:p>
            <a:pPr lvl="1">
              <a:lnSpc>
                <a:spcPct val="150000"/>
              </a:lnSpc>
            </a:pPr>
            <a:r>
              <a:rPr lang="zh-CN" altLang="en-US" sz="1200" dirty="0">
                <a:latin typeface="微软雅黑" panose="020B0503020204020204" pitchFamily="34" charset="-122"/>
                <a:ea typeface="微软雅黑" panose="020B0503020204020204" pitchFamily="34" charset="-122"/>
              </a:rPr>
              <a:t>option.to_ip：string类型， 目标ip地址</a:t>
            </a:r>
            <a:endParaRPr lang="zh-CN" altLang="en-US" sz="1200" dirty="0">
              <a:latin typeface="微软雅黑" panose="020B0503020204020204" pitchFamily="34" charset="-122"/>
              <a:ea typeface="微软雅黑" panose="020B0503020204020204" pitchFamily="34" charset="-122"/>
            </a:endParaRPr>
          </a:p>
          <a:p>
            <a:pPr lvl="1">
              <a:lnSpc>
                <a:spcPct val="150000"/>
              </a:lnSpc>
            </a:pPr>
            <a:r>
              <a:rPr lang="zh-CN" altLang="en-US" sz="1200" dirty="0">
                <a:latin typeface="微软雅黑" panose="020B0503020204020204" pitchFamily="34" charset="-122"/>
                <a:ea typeface="微软雅黑" panose="020B0503020204020204" pitchFamily="34" charset="-122"/>
              </a:rPr>
              <a:t>option.to_port：number类型， 目标端口号</a:t>
            </a:r>
            <a:endParaRPr lang="en-US" altLang="zh-CN" sz="1200" dirty="0">
              <a:latin typeface="微软雅黑" panose="020B0503020204020204" pitchFamily="34" charset="-122"/>
              <a:ea typeface="微软雅黑" panose="020B0503020204020204" pitchFamily="34" charset="-122"/>
            </a:endParaRPr>
          </a:p>
          <a:p>
            <a:pPr lvl="1">
              <a:lnSpc>
                <a:spcPct val="150000"/>
              </a:lnSpc>
            </a:pP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solidFill>
                  <a:srgbClr val="0070C0"/>
                </a:solidFill>
                <a:latin typeface="微软雅黑" panose="020B0503020204020204" pitchFamily="34" charset="-122"/>
                <a:ea typeface="微软雅黑" panose="020B0503020204020204" pitchFamily="34" charset="-122"/>
              </a:rPr>
              <a:t>返回值</a:t>
            </a:r>
            <a:r>
              <a:rPr lang="zh-CN" altLang="en-US"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p>
            <a:pPr>
              <a:lnSpc>
                <a:spcPct val="150000"/>
              </a:lnSpc>
            </a:pPr>
            <a:r>
              <a:rPr lang="zh-CN" altLang="en-US" sz="1200" dirty="0">
                <a:latin typeface="微软雅黑" panose="020B0503020204020204" pitchFamily="34" charset="-122"/>
                <a:ea typeface="微软雅黑" panose="020B0503020204020204" pitchFamily="34" charset="-122"/>
              </a:rPr>
              <a:t>w_res：dict类型</a:t>
            </a:r>
            <a:endParaRPr lang="zh-CN" altLang="en-US" sz="1200" dirty="0">
              <a:latin typeface="微软雅黑" panose="020B0503020204020204" pitchFamily="34" charset="-122"/>
              <a:ea typeface="微软雅黑" panose="020B0503020204020204" pitchFamily="34" charset="-122"/>
            </a:endParaRPr>
          </a:p>
          <a:p>
            <a:pPr lvl="1">
              <a:lnSpc>
                <a:spcPct val="150000"/>
              </a:lnSpc>
            </a:pPr>
            <a:r>
              <a:rPr lang="zh-CN" altLang="en-US" sz="1200" dirty="0">
                <a:latin typeface="微软雅黑" panose="020B0503020204020204" pitchFamily="34" charset="-122"/>
                <a:ea typeface="微软雅黑" panose="020B0503020204020204" pitchFamily="34" charset="-122"/>
              </a:rPr>
              <a:t>w_res.timestamp：number类型， 执行的时间（ns）</a:t>
            </a:r>
            <a:endParaRPr lang="zh-CN" altLang="en-US" sz="1200" dirty="0">
              <a:latin typeface="微软雅黑" panose="020B0503020204020204" pitchFamily="34" charset="-122"/>
              <a:ea typeface="微软雅黑" panose="020B0503020204020204" pitchFamily="34" charset="-122"/>
            </a:endParaRPr>
          </a:p>
          <a:p>
            <a:pPr lvl="1">
              <a:lnSpc>
                <a:spcPct val="150000"/>
              </a:lnSpc>
            </a:pPr>
            <a:r>
              <a:rPr lang="zh-CN" altLang="en-US" sz="1200" dirty="0">
                <a:latin typeface="微软雅黑" panose="020B0503020204020204" pitchFamily="34" charset="-122"/>
                <a:ea typeface="微软雅黑" panose="020B0503020204020204" pitchFamily="34" charset="-122"/>
              </a:rPr>
              <a:t>w_res.size：number类型， 输出的字节长度</a:t>
            </a:r>
            <a:endParaRPr lang="zh-CN" altLang="en-US" sz="1200" dirty="0">
              <a:latin typeface="微软雅黑" panose="020B0503020204020204" pitchFamily="34" charset="-122"/>
              <a:ea typeface="微软雅黑" panose="020B0503020204020204" pitchFamily="34" charset="-122"/>
            </a:endParaRPr>
          </a:p>
          <a:p>
            <a:pPr lvl="1">
              <a:lnSpc>
                <a:spcPct val="150000"/>
              </a:lnSpc>
            </a:pPr>
            <a:r>
              <a:rPr lang="zh-CN" altLang="en-US" sz="1200" dirty="0">
                <a:latin typeface="微软雅黑" panose="020B0503020204020204" pitchFamily="34" charset="-122"/>
                <a:ea typeface="微软雅黑" panose="020B0503020204020204" pitchFamily="34" charset="-122"/>
              </a:rPr>
              <a:t>w_res.value：EBuff类型， 输出值</a:t>
            </a:r>
            <a:endParaRPr lang="en-US" altLang="zh-CN" sz="1200" dirty="0">
              <a:latin typeface="微软雅黑" panose="020B0503020204020204" pitchFamily="34" charset="-122"/>
              <a:ea typeface="微软雅黑" panose="020B0503020204020204" pitchFamily="34" charset="-122"/>
            </a:endParaRPr>
          </a:p>
          <a:p>
            <a:pPr marL="0" lvl="1">
              <a:lnSpc>
                <a:spcPct val="150000"/>
              </a:lnSpc>
            </a:pPr>
            <a:r>
              <a:rPr lang="en-US" altLang="zh-CN" sz="1200" dirty="0" err="1">
                <a:latin typeface="微软雅黑" panose="020B0503020204020204" pitchFamily="34" charset="-122"/>
                <a:ea typeface="微软雅黑" panose="020B0503020204020204" pitchFamily="34" charset="-122"/>
              </a:rPr>
              <a:t>r_res</a:t>
            </a:r>
            <a:r>
              <a:rPr lang="zh-CN" altLang="en-US"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dict</a:t>
            </a:r>
            <a:r>
              <a:rPr lang="zh-CN" altLang="en-US" sz="1200" dirty="0">
                <a:latin typeface="微软雅黑" panose="020B0503020204020204" pitchFamily="34" charset="-122"/>
                <a:ea typeface="微软雅黑" panose="020B0503020204020204" pitchFamily="34" charset="-122"/>
              </a:rPr>
              <a:t>类型</a:t>
            </a:r>
            <a:endParaRPr lang="zh-CN" altLang="en-US" sz="1200" dirty="0">
              <a:latin typeface="微软雅黑" panose="020B0503020204020204" pitchFamily="34" charset="-122"/>
              <a:ea typeface="微软雅黑" panose="020B0503020204020204" pitchFamily="34" charset="-122"/>
            </a:endParaRPr>
          </a:p>
          <a:p>
            <a:pPr lvl="1">
              <a:lnSpc>
                <a:spcPct val="150000"/>
              </a:lnSpc>
            </a:pPr>
            <a:r>
              <a:rPr lang="en-US" altLang="zh-CN" sz="1200" dirty="0" err="1">
                <a:latin typeface="微软雅黑" panose="020B0503020204020204" pitchFamily="34" charset="-122"/>
                <a:ea typeface="微软雅黑" panose="020B0503020204020204" pitchFamily="34" charset="-122"/>
              </a:rPr>
              <a:t>r_res.timestamp</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number</a:t>
            </a:r>
            <a:r>
              <a:rPr lang="zh-CN" altLang="en-US" sz="1200" dirty="0">
                <a:latin typeface="微软雅黑" panose="020B0503020204020204" pitchFamily="34" charset="-122"/>
                <a:ea typeface="微软雅黑" panose="020B0503020204020204" pitchFamily="34" charset="-122"/>
              </a:rPr>
              <a:t>类型，</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读取发生时的时间（</a:t>
            </a:r>
            <a:r>
              <a:rPr lang="en-US" altLang="zh-CN" sz="1200" dirty="0">
                <a:latin typeface="微软雅黑" panose="020B0503020204020204" pitchFamily="34" charset="-122"/>
                <a:ea typeface="微软雅黑" panose="020B0503020204020204" pitchFamily="34" charset="-122"/>
              </a:rPr>
              <a:t>ns</a:t>
            </a:r>
            <a:r>
              <a:rPr lang="zh-CN" altLang="en-US"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p>
            <a:pPr lvl="1">
              <a:lnSpc>
                <a:spcPct val="150000"/>
              </a:lnSpc>
            </a:pPr>
            <a:r>
              <a:rPr lang="en-US" altLang="zh-CN" sz="1200" dirty="0" err="1">
                <a:latin typeface="微软雅黑" panose="020B0503020204020204" pitchFamily="34" charset="-122"/>
                <a:ea typeface="微软雅黑" panose="020B0503020204020204" pitchFamily="34" charset="-122"/>
              </a:rPr>
              <a:t>r_res.size</a:t>
            </a:r>
            <a:r>
              <a:rPr lang="zh-CN" altLang="en-US"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number</a:t>
            </a:r>
            <a:r>
              <a:rPr lang="zh-CN" altLang="en-US" sz="1200" dirty="0">
                <a:latin typeface="微软雅黑" panose="020B0503020204020204" pitchFamily="34" charset="-122"/>
                <a:ea typeface="微软雅黑" panose="020B0503020204020204" pitchFamily="34" charset="-122"/>
              </a:rPr>
              <a:t>类型，</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读取到的数据缓存字节长度</a:t>
            </a:r>
            <a:endParaRPr lang="zh-CN" altLang="en-US" sz="1200" dirty="0">
              <a:latin typeface="微软雅黑" panose="020B0503020204020204" pitchFamily="34" charset="-122"/>
              <a:ea typeface="微软雅黑" panose="020B0503020204020204" pitchFamily="34" charset="-122"/>
            </a:endParaRPr>
          </a:p>
          <a:p>
            <a:pPr lvl="1">
              <a:lnSpc>
                <a:spcPct val="150000"/>
              </a:lnSpc>
            </a:pPr>
            <a:r>
              <a:rPr lang="en-US" altLang="zh-CN" sz="1200" b="1" dirty="0" err="1">
                <a:latin typeface="微软雅黑" panose="020B0503020204020204" pitchFamily="34" charset="-122"/>
                <a:ea typeface="微软雅黑" panose="020B0503020204020204" pitchFamily="34" charset="-122"/>
              </a:rPr>
              <a:t>r_res.value</a:t>
            </a:r>
            <a:r>
              <a:rPr lang="zh-CN" altLang="en-US"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EBuff</a:t>
            </a:r>
            <a:r>
              <a:rPr lang="zh-CN" altLang="en-US" sz="1200" dirty="0">
                <a:latin typeface="微软雅黑" panose="020B0503020204020204" pitchFamily="34" charset="-122"/>
                <a:ea typeface="微软雅黑" panose="020B0503020204020204" pitchFamily="34" charset="-122"/>
              </a:rPr>
              <a:t>类型，</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读取到的数据缓存结果</a:t>
            </a:r>
            <a:endParaRPr lang="en-US" altLang="zh-CN" sz="12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0" y="0"/>
            <a:ext cx="5163671" cy="1148799"/>
          </a:xfrm>
          <a:prstGeom prst="rect">
            <a:avLst/>
          </a:prstGeom>
        </p:spPr>
      </p:pic>
      <p:sp>
        <p:nvSpPr>
          <p:cNvPr id="5" name="文本框 4"/>
          <p:cNvSpPr txBox="1"/>
          <p:nvPr/>
        </p:nvSpPr>
        <p:spPr>
          <a:xfrm>
            <a:off x="1995805" y="471001"/>
            <a:ext cx="4064000" cy="521970"/>
          </a:xfrm>
          <a:prstGeom prst="rect">
            <a:avLst/>
          </a:prstGeom>
          <a:noFill/>
        </p:spPr>
        <p:txBody>
          <a:bodyPr wrap="square" rtlCol="0">
            <a:spAutoFit/>
          </a:bodyPr>
          <a:lstStyle/>
          <a:p>
            <a:r>
              <a:rPr lang="en-US" altLang="zh-CN" sz="2800" b="1" dirty="0">
                <a:solidFill>
                  <a:srgbClr val="136FB8"/>
                </a:solidFill>
              </a:rPr>
              <a:t>API(3/5)</a:t>
            </a:r>
            <a:endParaRPr lang="zh-CN" altLang="en-US" sz="2800" b="1" dirty="0">
              <a:solidFill>
                <a:srgbClr val="136FB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5542461" y="1406212"/>
            <a:ext cx="5418633" cy="4300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458791" y="1319440"/>
            <a:ext cx="6076950" cy="4431030"/>
          </a:xfrm>
          <a:prstGeom prst="rect">
            <a:avLst/>
          </a:prstGeom>
          <a:noFill/>
        </p:spPr>
        <p:txBody>
          <a:bodyPr wrap="square">
            <a:spAutoFit/>
          </a:bodyPr>
          <a:lstStyle/>
          <a:p>
            <a:pPr algn="l">
              <a:lnSpc>
                <a:spcPct val="150000"/>
              </a:lnSpc>
            </a:pPr>
            <a:r>
              <a:rPr lang="en-US" altLang="zh-CN" sz="2000" b="0" i="0" dirty="0">
                <a:effectLst/>
                <a:latin typeface="宋体" panose="02010600030101010101" pitchFamily="2" charset="-122"/>
                <a:ea typeface="宋体" panose="02010600030101010101" pitchFamily="2" charset="-122"/>
              </a:rPr>
              <a:t>result = </a:t>
            </a:r>
            <a:r>
              <a:rPr lang="en-US" altLang="zh-CN" sz="2000" b="0" i="0" dirty="0">
                <a:solidFill>
                  <a:srgbClr val="00B0F0"/>
                </a:solidFill>
                <a:effectLst/>
                <a:latin typeface="宋体" panose="02010600030101010101" pitchFamily="2" charset="-122"/>
                <a:ea typeface="宋体" panose="02010600030101010101" pitchFamily="2" charset="-122"/>
              </a:rPr>
              <a:t>unpack</a:t>
            </a:r>
            <a:r>
              <a:rPr lang="en-US" altLang="zh-CN" sz="2000" b="0" i="0" dirty="0">
                <a:effectLst/>
                <a:latin typeface="宋体" panose="02010600030101010101" pitchFamily="2" charset="-122"/>
                <a:ea typeface="宋体" panose="02010600030101010101" pitchFamily="2" charset="-122"/>
              </a:rPr>
              <a:t>(</a:t>
            </a:r>
            <a:r>
              <a:rPr lang="en-US" altLang="zh-CN" sz="2000" b="0" i="0" dirty="0" err="1">
                <a:effectLst/>
                <a:latin typeface="宋体" panose="02010600030101010101" pitchFamily="2" charset="-122"/>
                <a:ea typeface="宋体" panose="02010600030101010101" pitchFamily="2" charset="-122"/>
              </a:rPr>
              <a:t>prot,buff,is_auto_shift</a:t>
            </a:r>
            <a:r>
              <a:rPr lang="en-US" altLang="zh-CN" sz="2000" b="0" i="0" dirty="0">
                <a:effectLst/>
                <a:latin typeface="宋体" panose="02010600030101010101" pitchFamily="2" charset="-122"/>
                <a:ea typeface="宋体" panose="02010600030101010101" pitchFamily="2" charset="-122"/>
              </a:rPr>
              <a:t>)</a:t>
            </a:r>
            <a:endParaRPr lang="en-US" altLang="zh-CN" sz="2000" b="0" i="0" dirty="0">
              <a:effectLst/>
              <a:latin typeface="宋体" panose="02010600030101010101" pitchFamily="2" charset="-122"/>
              <a:ea typeface="宋体" panose="02010600030101010101" pitchFamily="2" charset="-122"/>
            </a:endParaRPr>
          </a:p>
          <a:p>
            <a:pPr algn="l">
              <a:lnSpc>
                <a:spcPct val="150000"/>
              </a:lnSpc>
            </a:pPr>
            <a:r>
              <a:rPr lang="zh-CN" altLang="en-US" sz="1200" b="1" i="0" dirty="0">
                <a:effectLst/>
                <a:latin typeface="-apple-system"/>
              </a:rPr>
              <a:t>使用协议定义从数据缓存</a:t>
            </a:r>
            <a:r>
              <a:rPr lang="zh-CN" altLang="en-US" sz="1200" b="1" i="0" dirty="0">
                <a:solidFill>
                  <a:srgbClr val="8DC21F"/>
                </a:solidFill>
                <a:effectLst/>
                <a:latin typeface="-apple-system"/>
              </a:rPr>
              <a:t>解析</a:t>
            </a:r>
            <a:r>
              <a:rPr lang="zh-CN" altLang="en-US" sz="1200" b="1" i="0" dirty="0">
                <a:effectLst/>
                <a:latin typeface="-apple-system"/>
              </a:rPr>
              <a:t>出报文数据</a:t>
            </a:r>
            <a:endParaRPr lang="en-US" altLang="zh-CN" sz="1200" b="1" i="0" dirty="0">
              <a:effectLst/>
              <a:latin typeface="-apple-system"/>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输入参数：</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prot</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EProtocol</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类型，协议对象</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buff</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EBuff</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类型，数据缓存</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is_auto_shift</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boolean</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类型，解包成功后是否自动移除使用过的字节，可选参数</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返回值：</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result</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dict</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类型，解析结果字典</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1" i="0" dirty="0" err="1">
                <a:solidFill>
                  <a:srgbClr val="8DC21F"/>
                </a:solidFill>
                <a:effectLst/>
                <a:latin typeface="宋体" panose="02010600030101010101" pitchFamily="2" charset="-122"/>
                <a:ea typeface="宋体" panose="02010600030101010101" pitchFamily="2" charset="-122"/>
                <a:cs typeface="宋体" panose="02010600030101010101" pitchFamily="2" charset="-122"/>
              </a:rPr>
              <a:t>result.value</a:t>
            </a:r>
            <a:r>
              <a:rPr lang="zh-CN" altLang="en-US" sz="1200" b="1" i="0" dirty="0">
                <a:solidFill>
                  <a:srgbClr val="8DC21F"/>
                </a:solidFill>
                <a:effectLst/>
                <a:latin typeface="宋体" panose="02010600030101010101" pitchFamily="2" charset="-122"/>
                <a:ea typeface="宋体" panose="02010600030101010101" pitchFamily="2" charset="-122"/>
                <a:cs typeface="宋体" panose="02010600030101010101" pitchFamily="2" charset="-122"/>
              </a:rPr>
              <a:t>：报文数据值</a:t>
            </a:r>
            <a:endParaRPr lang="zh-CN" altLang="en-US" sz="1200" b="1" i="0" dirty="0">
              <a:solidFill>
                <a:srgbClr val="8DC21F"/>
              </a:solidFill>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result.size</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：解包使用的字节长度</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result.prot</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：解析时使用的协议名称</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result.left</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：解包完成时还剩余未使用的字节数</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result.skip</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：开始解析前忽略的字节数</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result.valid_fail_segs</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：自动验证失败的协议字段名称</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7" name="矩形: 圆角 6"/>
          <p:cNvSpPr/>
          <p:nvPr/>
        </p:nvSpPr>
        <p:spPr>
          <a:xfrm>
            <a:off x="868967" y="1406212"/>
            <a:ext cx="4106072" cy="430067"/>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API(4/5)</a:t>
            </a:r>
            <a:endParaRPr lang="zh-CN" altLang="en-US" dirty="0"/>
          </a:p>
        </p:txBody>
      </p:sp>
      <p:sp>
        <p:nvSpPr>
          <p:cNvPr id="6" name="文本框 5"/>
          <p:cNvSpPr txBox="1"/>
          <p:nvPr/>
        </p:nvSpPr>
        <p:spPr>
          <a:xfrm>
            <a:off x="815178" y="1346207"/>
            <a:ext cx="4329430" cy="3599815"/>
          </a:xfrm>
          <a:prstGeom prst="rect">
            <a:avLst/>
          </a:prstGeom>
          <a:noFill/>
        </p:spPr>
        <p:txBody>
          <a:bodyPr wrap="square">
            <a:spAutoFit/>
          </a:bodyPr>
          <a:lstStyle/>
          <a:p>
            <a:pPr algn="l">
              <a:lnSpc>
                <a:spcPct val="150000"/>
              </a:lnSpc>
            </a:pPr>
            <a:r>
              <a:rPr lang="en-US" altLang="zh-CN" sz="2000" b="0" i="0" dirty="0">
                <a:effectLst/>
                <a:latin typeface="宋体" panose="02010600030101010101" pitchFamily="2" charset="-122"/>
                <a:ea typeface="宋体" panose="02010600030101010101" pitchFamily="2" charset="-122"/>
              </a:rPr>
              <a:t>result = </a:t>
            </a:r>
            <a:r>
              <a:rPr lang="en-US" altLang="zh-CN" sz="2000" b="0" i="0" dirty="0">
                <a:solidFill>
                  <a:srgbClr val="00B0F0"/>
                </a:solidFill>
                <a:effectLst/>
                <a:latin typeface="宋体" panose="02010600030101010101" pitchFamily="2" charset="-122"/>
                <a:ea typeface="宋体" panose="02010600030101010101" pitchFamily="2" charset="-122"/>
              </a:rPr>
              <a:t>pack</a:t>
            </a:r>
            <a:r>
              <a:rPr lang="en-US" altLang="zh-CN" sz="2000" b="0" i="0" dirty="0">
                <a:effectLst/>
                <a:latin typeface="宋体" panose="02010600030101010101" pitchFamily="2" charset="-122"/>
                <a:ea typeface="宋体" panose="02010600030101010101" pitchFamily="2" charset="-122"/>
              </a:rPr>
              <a:t>(</a:t>
            </a:r>
            <a:r>
              <a:rPr lang="en-US" altLang="zh-CN" sz="2000" b="0" i="0" dirty="0" err="1">
                <a:effectLst/>
                <a:latin typeface="宋体" panose="02010600030101010101" pitchFamily="2" charset="-122"/>
                <a:ea typeface="宋体" panose="02010600030101010101" pitchFamily="2" charset="-122"/>
              </a:rPr>
              <a:t>prot,msg</a:t>
            </a:r>
            <a:r>
              <a:rPr lang="en-US" altLang="zh-CN" sz="2000" b="0" i="0" dirty="0">
                <a:effectLst/>
                <a:latin typeface="宋体" panose="02010600030101010101" pitchFamily="2" charset="-122"/>
                <a:ea typeface="宋体" panose="02010600030101010101" pitchFamily="2" charset="-122"/>
              </a:rPr>
              <a:t>)</a:t>
            </a:r>
            <a:endParaRPr lang="en-US" altLang="zh-CN" sz="2000" b="0" i="0" dirty="0">
              <a:effectLst/>
              <a:latin typeface="宋体" panose="02010600030101010101" pitchFamily="2" charset="-122"/>
              <a:ea typeface="宋体" panose="02010600030101010101" pitchFamily="2" charset="-122"/>
            </a:endParaRPr>
          </a:p>
          <a:p>
            <a:pPr algn="l">
              <a:lnSpc>
                <a:spcPct val="150000"/>
              </a:lnSpc>
            </a:pPr>
            <a:r>
              <a:rPr lang="zh-CN" altLang="en-US" sz="1200" b="1" i="0" dirty="0">
                <a:effectLst/>
                <a:latin typeface="-apple-system"/>
              </a:rPr>
              <a:t>使用协议定义，将</a:t>
            </a:r>
            <a:r>
              <a:rPr lang="zh-CN" altLang="en-US" sz="1200" b="1" i="0" dirty="0">
                <a:solidFill>
                  <a:srgbClr val="8DC21F"/>
                </a:solidFill>
                <a:effectLst/>
                <a:latin typeface="-apple-system"/>
              </a:rPr>
              <a:t>报文数据</a:t>
            </a:r>
            <a:r>
              <a:rPr lang="zh-CN" altLang="en-US" sz="1200" b="1" i="0" dirty="0">
                <a:effectLst/>
                <a:latin typeface="-apple-system"/>
              </a:rPr>
              <a:t>打包到</a:t>
            </a:r>
            <a:r>
              <a:rPr lang="zh-CN" altLang="en-US" sz="1200" b="1" i="0" dirty="0">
                <a:solidFill>
                  <a:srgbClr val="8DC21F"/>
                </a:solidFill>
                <a:effectLst/>
                <a:latin typeface="-apple-system"/>
              </a:rPr>
              <a:t>数据缓存</a:t>
            </a:r>
            <a:endParaRPr lang="zh-CN" altLang="en-US" sz="1200" b="1" i="0" dirty="0">
              <a:solidFill>
                <a:srgbClr val="8DC21F"/>
              </a:solidFill>
              <a:effectLst/>
              <a:latin typeface="-apple-system"/>
            </a:endParaRPr>
          </a:p>
          <a:p>
            <a:pPr algn="l">
              <a:lnSpc>
                <a:spcPct val="150000"/>
              </a:lnSpc>
            </a:pPr>
            <a:r>
              <a:rPr lang="zh-CN" altLang="en-US" sz="1200" i="0" dirty="0">
                <a:effectLst/>
                <a:latin typeface="宋体" panose="02010600030101010101" pitchFamily="2" charset="-122"/>
                <a:ea typeface="宋体" panose="02010600030101010101" pitchFamily="2" charset="-122"/>
                <a:cs typeface="宋体" panose="02010600030101010101" pitchFamily="2" charset="-122"/>
              </a:rPr>
              <a:t>输入参数：</a:t>
            </a:r>
            <a:endParaRPr lang="zh-CN" altLang="en-US" sz="120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prot</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EProtocol</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类型，协议对象</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msg</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dict</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类型，报文数据</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返回值：</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result</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dict</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类型，成功返回打包结果，失败返回 </a:t>
            </a: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nil</a:t>
            </a:r>
            <a:endParaRPr lang="en-US" altLang="zh-CN"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en-US" altLang="zh-CN"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result.value</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：结果数据缓存</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result.size</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：打包结果字节长度</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    </a:t>
            </a:r>
            <a:r>
              <a:rPr lang="en-US" altLang="zh-CN" sz="1200" b="0" i="0" dirty="0" err="1">
                <a:effectLst/>
                <a:latin typeface="宋体" panose="02010600030101010101" pitchFamily="2" charset="-122"/>
                <a:ea typeface="宋体" panose="02010600030101010101" pitchFamily="2" charset="-122"/>
                <a:cs typeface="宋体" panose="02010600030101010101" pitchFamily="2" charset="-122"/>
              </a:rPr>
              <a:t>result.prot</a:t>
            </a:r>
            <a:r>
              <a:rPr lang="zh-CN" altLang="en-US" sz="1200" b="0" i="0" dirty="0">
                <a:effectLst/>
                <a:latin typeface="宋体" panose="02010600030101010101" pitchFamily="2" charset="-122"/>
                <a:ea typeface="宋体" panose="02010600030101010101" pitchFamily="2" charset="-122"/>
                <a:cs typeface="宋体" panose="02010600030101010101" pitchFamily="2" charset="-122"/>
              </a:rPr>
              <a:t>：打包使用的协议名称</a:t>
            </a: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endParaRPr lang="zh-CN" altLang="en-US" sz="1200" b="0" i="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8" name="文本框 7"/>
          <p:cNvSpPr txBox="1"/>
          <p:nvPr/>
        </p:nvSpPr>
        <p:spPr>
          <a:xfrm>
            <a:off x="815340" y="5104139"/>
            <a:ext cx="5173980" cy="646331"/>
          </a:xfrm>
          <a:prstGeom prst="rect">
            <a:avLst/>
          </a:prstGeom>
          <a:noFill/>
        </p:spPr>
        <p:txBody>
          <a:bodyPr wrap="square">
            <a:spAutoFit/>
          </a:bodyPr>
          <a:lstStyle/>
          <a:p>
            <a:r>
              <a:rPr lang="zh-CN" altLang="en-US" sz="1200" dirty="0">
                <a:latin typeface="+mj-ea"/>
                <a:ea typeface="+mj-ea"/>
              </a:rPr>
              <a:t>例：</a:t>
            </a:r>
            <a:endParaRPr lang="en-US" altLang="zh-CN" sz="1200" dirty="0">
              <a:latin typeface="+mj-ea"/>
              <a:ea typeface="+mj-ea"/>
            </a:endParaRPr>
          </a:p>
          <a:p>
            <a:r>
              <a:rPr lang="en-US" altLang="zh-CN" sz="1200" b="0" i="0" dirty="0">
                <a:solidFill>
                  <a:srgbClr val="CC7832"/>
                </a:solidFill>
                <a:effectLst/>
                <a:latin typeface="+mj-ea"/>
                <a:ea typeface="+mj-ea"/>
              </a:rPr>
              <a:t>     </a:t>
            </a:r>
            <a:r>
              <a:rPr lang="en-US" altLang="zh-CN" sz="1200" b="0" i="0" dirty="0">
                <a:solidFill>
                  <a:srgbClr val="CC7832"/>
                </a:solidFill>
                <a:effectLst/>
                <a:latin typeface="Consolas" panose="020B0609020204030204" pitchFamily="49" charset="0"/>
              </a:rPr>
              <a:t>local res = pack(</a:t>
            </a:r>
            <a:r>
              <a:rPr lang="en-US" altLang="zh-CN" sz="1200" b="0" i="0" dirty="0" err="1">
                <a:solidFill>
                  <a:srgbClr val="CC7832"/>
                </a:solidFill>
                <a:effectLst/>
                <a:latin typeface="Consolas" panose="020B0609020204030204" pitchFamily="49" charset="0"/>
              </a:rPr>
              <a:t>protocols.P_speed</a:t>
            </a:r>
            <a:r>
              <a:rPr lang="en-US" altLang="zh-CN" sz="1200" b="0" i="0" dirty="0">
                <a:solidFill>
                  <a:srgbClr val="CC7832"/>
                </a:solidFill>
                <a:effectLst/>
                <a:latin typeface="Consolas" panose="020B0609020204030204" pitchFamily="49" charset="0"/>
              </a:rPr>
              <a:t>, {speed=40})</a:t>
            </a:r>
            <a:endParaRPr lang="en-US" altLang="zh-CN" sz="1200" b="0" i="0" dirty="0">
              <a:solidFill>
                <a:srgbClr val="CC7832"/>
              </a:solidFill>
              <a:effectLst/>
              <a:latin typeface="Consolas" panose="020B0609020204030204" pitchFamily="49" charset="0"/>
            </a:endParaRPr>
          </a:p>
          <a:p>
            <a:r>
              <a:rPr lang="en-US" altLang="zh-CN" sz="1200" b="0" i="0" dirty="0">
                <a:solidFill>
                  <a:srgbClr val="CC7832"/>
                </a:solidFill>
                <a:effectLst/>
                <a:latin typeface="+mj-ea"/>
                <a:ea typeface="+mj-ea"/>
              </a:rPr>
              <a:t>     </a:t>
            </a:r>
            <a:r>
              <a:rPr lang="en-US" altLang="zh-CN" sz="1200" b="0" i="0" dirty="0">
                <a:solidFill>
                  <a:srgbClr val="CC7832"/>
                </a:solidFill>
                <a:effectLst/>
                <a:latin typeface="Consolas" panose="020B0609020204030204" pitchFamily="49" charset="0"/>
              </a:rPr>
              <a:t>local data = </a:t>
            </a:r>
            <a:r>
              <a:rPr lang="en-US" altLang="zh-CN" sz="1200" b="0" i="0" dirty="0" err="1">
                <a:solidFill>
                  <a:srgbClr val="CC7832"/>
                </a:solidFill>
                <a:effectLst/>
                <a:latin typeface="Consolas" panose="020B0609020204030204" pitchFamily="49" charset="0"/>
              </a:rPr>
              <a:t>res.value</a:t>
            </a:r>
            <a:endParaRPr lang="en-US" altLang="zh-CN" sz="1200" b="0" i="0" dirty="0">
              <a:solidFill>
                <a:srgbClr val="A9B7C6"/>
              </a:solidFill>
              <a:effectLst/>
              <a:latin typeface="Consolas" panose="020B0609020204030204" pitchFamily="49" charset="0"/>
            </a:endParaRPr>
          </a:p>
        </p:txBody>
      </p:sp>
      <p:sp>
        <p:nvSpPr>
          <p:cNvPr id="11" name="文本框 10"/>
          <p:cNvSpPr txBox="1"/>
          <p:nvPr/>
        </p:nvSpPr>
        <p:spPr>
          <a:xfrm>
            <a:off x="5743862" y="5375577"/>
            <a:ext cx="4290222" cy="461665"/>
          </a:xfrm>
          <a:prstGeom prst="rect">
            <a:avLst/>
          </a:prstGeom>
          <a:noFill/>
        </p:spPr>
        <p:txBody>
          <a:bodyPr wrap="square">
            <a:spAutoFit/>
          </a:bodyPr>
          <a:lstStyle/>
          <a:p>
            <a:r>
              <a:rPr lang="zh-CN" altLang="en-US" sz="1200" dirty="0">
                <a:latin typeface="+mj-ea"/>
                <a:ea typeface="+mj-ea"/>
              </a:rPr>
              <a:t>例：</a:t>
            </a:r>
            <a:endParaRPr lang="en-US" altLang="zh-CN" sz="1200" dirty="0">
              <a:latin typeface="+mj-ea"/>
              <a:ea typeface="+mj-ea"/>
            </a:endParaRPr>
          </a:p>
          <a:p>
            <a:r>
              <a:rPr lang="en-US" altLang="zh-CN" sz="1200" b="0" i="0" dirty="0">
                <a:solidFill>
                  <a:srgbClr val="CC7832"/>
                </a:solidFill>
                <a:effectLst/>
                <a:latin typeface="Consolas" panose="020B0609020204030204" pitchFamily="49" charset="0"/>
              </a:rPr>
              <a:t>  local pkg = unpack(</a:t>
            </a:r>
            <a:r>
              <a:rPr lang="en-US" altLang="zh-CN" sz="1200" b="0" i="0" dirty="0" err="1">
                <a:solidFill>
                  <a:srgbClr val="CC7832"/>
                </a:solidFill>
                <a:effectLst/>
                <a:latin typeface="Consolas" panose="020B0609020204030204" pitchFamily="49" charset="0"/>
              </a:rPr>
              <a:t>protocols.P_gas</a:t>
            </a:r>
            <a:r>
              <a:rPr lang="en-US" altLang="zh-CN" sz="1200" b="0" i="0" dirty="0">
                <a:solidFill>
                  <a:srgbClr val="CC7832"/>
                </a:solidFill>
                <a:effectLst/>
                <a:latin typeface="Consolas" panose="020B0609020204030204" pitchFamily="49" charset="0"/>
              </a:rPr>
              <a:t>, </a:t>
            </a:r>
            <a:r>
              <a:rPr lang="en-US" altLang="zh-CN" sz="1200" b="0" i="0" dirty="0" err="1">
                <a:solidFill>
                  <a:srgbClr val="CC7832"/>
                </a:solidFill>
                <a:effectLst/>
                <a:latin typeface="Consolas" panose="020B0609020204030204" pitchFamily="49" charset="0"/>
              </a:rPr>
              <a:t>res.value</a:t>
            </a:r>
            <a:r>
              <a:rPr lang="en-US" altLang="zh-CN" sz="1200" b="0" i="0" dirty="0">
                <a:solidFill>
                  <a:srgbClr val="CC7832"/>
                </a:solidFill>
                <a:effectLst/>
                <a:latin typeface="Consolas" panose="020B0609020204030204" pitchFamily="49" charset="0"/>
              </a:rPr>
              <a:t>)</a:t>
            </a:r>
            <a:endParaRPr lang="en-US" altLang="zh-CN" sz="1200" b="0" i="0" dirty="0">
              <a:solidFill>
                <a:srgbClr val="CC7832"/>
              </a:solidFill>
              <a:effectLst/>
              <a:latin typeface="Consolas" panose="020B0609020204030204" pitchFamily="49" charset="0"/>
            </a:endParaRPr>
          </a:p>
        </p:txBody>
      </p:sp>
      <p:pic>
        <p:nvPicPr>
          <p:cNvPr id="5" name="图片 4"/>
          <p:cNvPicPr>
            <a:picLocks noChangeAspect="1"/>
          </p:cNvPicPr>
          <p:nvPr/>
        </p:nvPicPr>
        <p:blipFill rotWithShape="1">
          <a:blip r:embed="rId1"/>
          <a:srcRect t="32492" b="47213"/>
          <a:stretch>
            <a:fillRect/>
          </a:stretch>
        </p:blipFill>
        <p:spPr>
          <a:xfrm>
            <a:off x="5876029" y="5960505"/>
            <a:ext cx="5939155" cy="311785"/>
          </a:xfrm>
          <a:prstGeom prst="rect">
            <a:avLst/>
          </a:prstGeom>
        </p:spPr>
      </p:pic>
      <p:pic>
        <p:nvPicPr>
          <p:cNvPr id="3" name="图片 2"/>
          <p:cNvPicPr>
            <a:picLocks noChangeAspect="1"/>
          </p:cNvPicPr>
          <p:nvPr/>
        </p:nvPicPr>
        <p:blipFill>
          <a:blip r:embed="rId2"/>
          <a:stretch>
            <a:fillRect/>
          </a:stretch>
        </p:blipFill>
        <p:spPr>
          <a:xfrm>
            <a:off x="0" y="0"/>
            <a:ext cx="5163671" cy="1148799"/>
          </a:xfrm>
          <a:prstGeom prst="rect">
            <a:avLst/>
          </a:prstGeom>
        </p:spPr>
      </p:pic>
      <p:sp>
        <p:nvSpPr>
          <p:cNvPr id="10" name="文本框 9"/>
          <p:cNvSpPr txBox="1"/>
          <p:nvPr/>
        </p:nvSpPr>
        <p:spPr>
          <a:xfrm>
            <a:off x="1995805" y="471001"/>
            <a:ext cx="4064000" cy="521970"/>
          </a:xfrm>
          <a:prstGeom prst="rect">
            <a:avLst/>
          </a:prstGeom>
          <a:noFill/>
        </p:spPr>
        <p:txBody>
          <a:bodyPr wrap="square" rtlCol="0">
            <a:spAutoFit/>
          </a:bodyPr>
          <a:lstStyle/>
          <a:p>
            <a:r>
              <a:rPr lang="en-US" altLang="zh-CN" sz="2800" b="1" dirty="0">
                <a:solidFill>
                  <a:srgbClr val="136FB8"/>
                </a:solidFill>
              </a:rPr>
              <a:t>API(4/5)</a:t>
            </a:r>
            <a:endParaRPr lang="zh-CN" altLang="en-US" sz="2800" b="1" dirty="0">
              <a:solidFill>
                <a:srgbClr val="136FB8"/>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API(5/5)</a:t>
            </a:r>
            <a:endParaRPr lang="zh-CN" altLang="en-US" dirty="0"/>
          </a:p>
        </p:txBody>
      </p:sp>
      <p:pic>
        <p:nvPicPr>
          <p:cNvPr id="5" name="图片 4"/>
          <p:cNvPicPr>
            <a:picLocks noChangeAspect="1"/>
          </p:cNvPicPr>
          <p:nvPr/>
        </p:nvPicPr>
        <p:blipFill>
          <a:blip r:embed="rId1"/>
          <a:srcRect t="2021"/>
          <a:stretch>
            <a:fillRect/>
          </a:stretch>
        </p:blipFill>
        <p:spPr>
          <a:xfrm>
            <a:off x="8175812" y="1404203"/>
            <a:ext cx="3419288" cy="2269086"/>
          </a:xfrm>
          <a:prstGeom prst="rect">
            <a:avLst/>
          </a:prstGeom>
        </p:spPr>
      </p:pic>
      <p:pic>
        <p:nvPicPr>
          <p:cNvPr id="6" name="图片 5"/>
          <p:cNvPicPr>
            <a:picLocks noChangeAspect="1"/>
          </p:cNvPicPr>
          <p:nvPr/>
        </p:nvPicPr>
        <p:blipFill>
          <a:blip r:embed="rId2"/>
          <a:stretch>
            <a:fillRect/>
          </a:stretch>
        </p:blipFill>
        <p:spPr>
          <a:xfrm>
            <a:off x="401470" y="1402725"/>
            <a:ext cx="4218342" cy="3391504"/>
          </a:xfrm>
          <a:prstGeom prst="rect">
            <a:avLst/>
          </a:prstGeom>
        </p:spPr>
      </p:pic>
      <p:pic>
        <p:nvPicPr>
          <p:cNvPr id="7" name="图片 6"/>
          <p:cNvPicPr>
            <a:picLocks noChangeAspect="1"/>
          </p:cNvPicPr>
          <p:nvPr/>
        </p:nvPicPr>
        <p:blipFill>
          <a:blip r:embed="rId3"/>
          <a:stretch>
            <a:fillRect/>
          </a:stretch>
        </p:blipFill>
        <p:spPr>
          <a:xfrm>
            <a:off x="4757640" y="1402725"/>
            <a:ext cx="3385740" cy="2216775"/>
          </a:xfrm>
          <a:prstGeom prst="rect">
            <a:avLst/>
          </a:prstGeom>
        </p:spPr>
      </p:pic>
      <p:pic>
        <p:nvPicPr>
          <p:cNvPr id="3" name="图片 2"/>
          <p:cNvPicPr>
            <a:picLocks noChangeAspect="1"/>
          </p:cNvPicPr>
          <p:nvPr/>
        </p:nvPicPr>
        <p:blipFill>
          <a:blip r:embed="rId4"/>
          <a:stretch>
            <a:fillRect/>
          </a:stretch>
        </p:blipFill>
        <p:spPr>
          <a:xfrm>
            <a:off x="3589655" y="3619500"/>
            <a:ext cx="8005445" cy="2943225"/>
          </a:xfrm>
          <a:prstGeom prst="rect">
            <a:avLst/>
          </a:prstGeom>
        </p:spPr>
      </p:pic>
      <p:pic>
        <p:nvPicPr>
          <p:cNvPr id="4" name="图片 3"/>
          <p:cNvPicPr>
            <a:picLocks noChangeAspect="1"/>
          </p:cNvPicPr>
          <p:nvPr/>
        </p:nvPicPr>
        <p:blipFill>
          <a:blip r:embed="rId5"/>
          <a:stretch>
            <a:fillRect/>
          </a:stretch>
        </p:blipFill>
        <p:spPr>
          <a:xfrm>
            <a:off x="0" y="0"/>
            <a:ext cx="5163671" cy="1148799"/>
          </a:xfrm>
          <a:prstGeom prst="rect">
            <a:avLst/>
          </a:prstGeom>
        </p:spPr>
      </p:pic>
      <p:sp>
        <p:nvSpPr>
          <p:cNvPr id="8" name="文本框 7"/>
          <p:cNvSpPr txBox="1"/>
          <p:nvPr/>
        </p:nvSpPr>
        <p:spPr>
          <a:xfrm>
            <a:off x="1995805" y="471001"/>
            <a:ext cx="4064000" cy="521970"/>
          </a:xfrm>
          <a:prstGeom prst="rect">
            <a:avLst/>
          </a:prstGeom>
          <a:noFill/>
        </p:spPr>
        <p:txBody>
          <a:bodyPr wrap="square" rtlCol="0">
            <a:spAutoFit/>
          </a:bodyPr>
          <a:lstStyle/>
          <a:p>
            <a:r>
              <a:rPr lang="en-US" altLang="zh-CN" sz="2800" b="1" dirty="0">
                <a:solidFill>
                  <a:srgbClr val="136FB8"/>
                </a:solidFill>
              </a:rPr>
              <a:t>API(5/5)</a:t>
            </a:r>
            <a:endParaRPr lang="zh-CN" altLang="en-US" sz="2800" b="1" dirty="0">
              <a:solidFill>
                <a:srgbClr val="136FB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988142" y="2824241"/>
            <a:ext cx="1851148" cy="923330"/>
          </a:xfrm>
          <a:prstGeom prst="rect">
            <a:avLst/>
          </a:prstGeom>
        </p:spPr>
        <p:txBody>
          <a:bodyPr wrap="none">
            <a:spAutoFit/>
          </a:bodyPr>
          <a:lstStyle/>
          <a:p>
            <a:pPr algn="l"/>
            <a:r>
              <a:rPr lang="en-US" altLang="zh-CN"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Yaml</a:t>
            </a:r>
            <a:endPar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p:cNvSpPr/>
          <p:nvPr/>
        </p:nvSpPr>
        <p:spPr>
          <a:xfrm>
            <a:off x="5148346" y="3868120"/>
            <a:ext cx="5657767" cy="15020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菱形 5"/>
          <p:cNvSpPr/>
          <p:nvPr>
            <p:custDataLst>
              <p:tags r:id="rId1"/>
            </p:custDataLst>
          </p:nvPr>
        </p:nvSpPr>
        <p:spPr>
          <a:xfrm>
            <a:off x="955040" y="1601470"/>
            <a:ext cx="3403600" cy="3427095"/>
          </a:xfrm>
          <a:prstGeom prst="diamond">
            <a:avLst/>
          </a:prstGeom>
          <a:blipFill dpi="0" rotWithShape="1">
            <a:blip r:embed="rId2" cstate="screen"/>
            <a:srcRect/>
            <a:tile sx="100000" sy="100000"/>
          </a:blipFill>
          <a:ln w="762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Yaml</a:t>
            </a:r>
            <a:r>
              <a:rPr lang="zh-CN" altLang="en-US" dirty="0"/>
              <a:t>语法</a:t>
            </a:r>
            <a:endParaRPr lang="zh-CN" altLang="en-US" dirty="0"/>
          </a:p>
        </p:txBody>
      </p:sp>
      <p:sp>
        <p:nvSpPr>
          <p:cNvPr id="8" name="文本框 7"/>
          <p:cNvSpPr txBox="1"/>
          <p:nvPr/>
        </p:nvSpPr>
        <p:spPr>
          <a:xfrm>
            <a:off x="789940" y="1757926"/>
            <a:ext cx="10920413" cy="1600438"/>
          </a:xfrm>
          <a:prstGeom prst="rect">
            <a:avLst/>
          </a:prstGeom>
          <a:solidFill>
            <a:schemeClr val="bg1">
              <a:lumMod val="95000"/>
            </a:schemeClr>
          </a:solidFill>
        </p:spPr>
        <p:txBody>
          <a:bodyPr wrap="square">
            <a:spAutoFit/>
          </a:bodyPr>
          <a:lstStyle/>
          <a:p>
            <a:pPr marL="285750" indent="-285750">
              <a:buFont typeface="Arial" panose="020B0604020202020204" pitchFamily="34" charset="0"/>
              <a:buChar char="•"/>
            </a:pPr>
            <a:r>
              <a:rPr lang="zh-CN" altLang="en-US" sz="1400" dirty="0"/>
              <a:t>大小写敏感</a:t>
            </a:r>
            <a:endParaRPr lang="zh-CN" altLang="en-US" sz="1400" dirty="0"/>
          </a:p>
          <a:p>
            <a:pPr marL="285750" indent="-285750">
              <a:buFont typeface="Arial" panose="020B0604020202020204" pitchFamily="34" charset="0"/>
              <a:buChar char="•"/>
            </a:pPr>
            <a:r>
              <a:rPr lang="zh-CN" altLang="en-US" sz="1400" dirty="0"/>
              <a:t>使用缩进表示层级关系（不能用</a:t>
            </a:r>
            <a:r>
              <a:rPr lang="en-US" altLang="zh-CN" sz="1400" dirty="0"/>
              <a:t>Tab</a:t>
            </a:r>
            <a:r>
              <a:rPr lang="zh-CN" altLang="en-US" sz="1400" dirty="0"/>
              <a:t>，只能用空格）</a:t>
            </a:r>
            <a:endParaRPr lang="zh-CN" altLang="en-US" sz="1400" dirty="0"/>
          </a:p>
          <a:p>
            <a:pPr marL="285750" indent="-285750">
              <a:buFont typeface="Arial" panose="020B0604020202020204" pitchFamily="34" charset="0"/>
              <a:buChar char="•"/>
            </a:pPr>
            <a:r>
              <a:rPr lang="zh-CN" altLang="en-US" sz="1400" dirty="0"/>
              <a:t>相同层级的元素左对齐</a:t>
            </a:r>
            <a:endParaRPr lang="zh-CN" altLang="en-US" sz="1400" dirty="0"/>
          </a:p>
          <a:p>
            <a:pPr marL="285750" indent="-285750">
              <a:buFont typeface="Arial" panose="020B0604020202020204" pitchFamily="34" charset="0"/>
              <a:buChar char="•"/>
            </a:pPr>
            <a:r>
              <a:rPr lang="en-US" altLang="zh-CN" sz="1400" dirty="0"/>
              <a:t>#</a:t>
            </a:r>
            <a:r>
              <a:rPr lang="zh-CN" altLang="en-US" sz="1400" dirty="0"/>
              <a:t>号表示单行注释</a:t>
            </a:r>
            <a:endParaRPr lang="zh-CN" altLang="en-US" sz="1400" dirty="0"/>
          </a:p>
          <a:p>
            <a:pPr marL="285750" indent="-285750">
              <a:buFont typeface="Arial" panose="020B0604020202020204" pitchFamily="34" charset="0"/>
              <a:buChar char="•"/>
            </a:pPr>
            <a:r>
              <a:rPr lang="zh-CN" altLang="en-US" sz="1400" dirty="0"/>
              <a:t>字符串可以不用引号标注</a:t>
            </a:r>
            <a:endParaRPr lang="zh-CN" altLang="en-US" sz="1400" dirty="0"/>
          </a:p>
          <a:p>
            <a:pPr marL="285750" indent="-285750">
              <a:buFont typeface="Wingdings" panose="05000000000000000000" pitchFamily="2" charset="2"/>
              <a:buChar char="Ø"/>
            </a:pPr>
            <a:r>
              <a:rPr lang="zh-CN" altLang="en-US" sz="1400" dirty="0"/>
              <a:t>对象（字典）实例；用冒号加空格连接键和值（: ）</a:t>
            </a:r>
            <a:endParaRPr lang="zh-CN" altLang="en-US" sz="1400" dirty="0"/>
          </a:p>
          <a:p>
            <a:pPr marL="285750" indent="-285750">
              <a:buFont typeface="Wingdings" panose="05000000000000000000" pitchFamily="2" charset="2"/>
              <a:buChar char="Ø"/>
            </a:pPr>
            <a:r>
              <a:rPr lang="zh-CN" altLang="en-US" sz="1400" dirty="0"/>
              <a:t>数组（列表）实例； 短横线加空格（- ）</a:t>
            </a:r>
            <a:endParaRPr lang="zh-CN" altLang="en-US" sz="1400" dirty="0"/>
          </a:p>
        </p:txBody>
      </p:sp>
      <p:pic>
        <p:nvPicPr>
          <p:cNvPr id="26" name="图片 25"/>
          <p:cNvPicPr>
            <a:picLocks noChangeAspect="1"/>
          </p:cNvPicPr>
          <p:nvPr/>
        </p:nvPicPr>
        <p:blipFill rotWithShape="1">
          <a:blip r:embed="rId1"/>
          <a:srcRect t="1322" b="993"/>
          <a:stretch>
            <a:fillRect/>
          </a:stretch>
        </p:blipFill>
        <p:spPr>
          <a:xfrm>
            <a:off x="2815105" y="3551018"/>
            <a:ext cx="1905000" cy="3135638"/>
          </a:xfrm>
          <a:prstGeom prst="rect">
            <a:avLst/>
          </a:prstGeom>
        </p:spPr>
      </p:pic>
      <p:pic>
        <p:nvPicPr>
          <p:cNvPr id="28" name="图片 27"/>
          <p:cNvPicPr>
            <a:picLocks noChangeAspect="1"/>
          </p:cNvPicPr>
          <p:nvPr/>
        </p:nvPicPr>
        <p:blipFill rotWithShape="1">
          <a:blip r:embed="rId2"/>
          <a:srcRect t="1" r="4571" b="7469"/>
          <a:stretch>
            <a:fillRect/>
          </a:stretch>
        </p:blipFill>
        <p:spPr>
          <a:xfrm>
            <a:off x="4800600" y="3593230"/>
            <a:ext cx="3844925" cy="414232"/>
          </a:xfrm>
          <a:prstGeom prst="rect">
            <a:avLst/>
          </a:prstGeom>
        </p:spPr>
      </p:pic>
      <p:sp>
        <p:nvSpPr>
          <p:cNvPr id="3" name="文本框 2"/>
          <p:cNvSpPr txBox="1"/>
          <p:nvPr/>
        </p:nvSpPr>
        <p:spPr>
          <a:xfrm>
            <a:off x="724199" y="1272193"/>
            <a:ext cx="10877550" cy="368300"/>
          </a:xfrm>
          <a:prstGeom prst="rect">
            <a:avLst/>
          </a:prstGeom>
          <a:noFill/>
        </p:spPr>
        <p:txBody>
          <a:bodyPr wrap="square" rtlCol="0">
            <a:spAutoFit/>
          </a:bodyPr>
          <a:lstStyle/>
          <a:p>
            <a:r>
              <a:rPr lang="zh-CN" altLang="en-US" dirty="0"/>
              <a:t>YAML是一个可读性高，用来表达数据序列化的格式，特别适合用来表达或编辑数据结构、各种配置文件。</a:t>
            </a:r>
            <a:endParaRPr lang="zh-CN" altLang="en-US" dirty="0"/>
          </a:p>
        </p:txBody>
      </p:sp>
      <p:pic>
        <p:nvPicPr>
          <p:cNvPr id="4" name="图片 3"/>
          <p:cNvPicPr>
            <a:picLocks noChangeAspect="1"/>
          </p:cNvPicPr>
          <p:nvPr/>
        </p:nvPicPr>
        <p:blipFill>
          <a:blip r:embed="rId3"/>
          <a:stretch>
            <a:fillRect/>
          </a:stretch>
        </p:blipFill>
        <p:spPr>
          <a:xfrm>
            <a:off x="0" y="0"/>
            <a:ext cx="5163671" cy="1148799"/>
          </a:xfrm>
          <a:prstGeom prst="rect">
            <a:avLst/>
          </a:prstGeom>
        </p:spPr>
      </p:pic>
      <p:sp>
        <p:nvSpPr>
          <p:cNvPr id="5" name="文本框 4"/>
          <p:cNvSpPr txBox="1"/>
          <p:nvPr/>
        </p:nvSpPr>
        <p:spPr>
          <a:xfrm>
            <a:off x="1995805" y="471001"/>
            <a:ext cx="4064000" cy="523220"/>
          </a:xfrm>
          <a:prstGeom prst="rect">
            <a:avLst/>
          </a:prstGeom>
          <a:noFill/>
        </p:spPr>
        <p:txBody>
          <a:bodyPr wrap="square" rtlCol="0">
            <a:spAutoFit/>
          </a:bodyPr>
          <a:lstStyle/>
          <a:p>
            <a:r>
              <a:rPr lang="en-US" altLang="zh-CN" sz="2800" b="1" dirty="0">
                <a:solidFill>
                  <a:srgbClr val="136FB8"/>
                </a:solidFill>
              </a:rPr>
              <a:t>Yaml</a:t>
            </a:r>
            <a:r>
              <a:rPr lang="zh-CN" altLang="en-US" sz="2800" b="1" dirty="0">
                <a:solidFill>
                  <a:srgbClr val="136FB8"/>
                </a:solidFill>
              </a:rPr>
              <a:t>语法</a:t>
            </a:r>
            <a:endParaRPr lang="zh-CN" altLang="en-US" sz="2800" b="1" dirty="0">
              <a:solidFill>
                <a:srgbClr val="136FB8"/>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988142" y="2824241"/>
            <a:ext cx="5724644" cy="923330"/>
          </a:xfrm>
          <a:prstGeom prst="rect">
            <a:avLst/>
          </a:prstGeom>
        </p:spPr>
        <p:txBody>
          <a:bodyPr wrap="none">
            <a:spAutoFit/>
          </a:bodyPr>
          <a:lstStyle/>
          <a:p>
            <a:pPr algn="l"/>
            <a:r>
              <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定速巡航系统测试</a:t>
            </a:r>
            <a:endPar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p:cNvSpPr/>
          <p:nvPr/>
        </p:nvSpPr>
        <p:spPr>
          <a:xfrm>
            <a:off x="5148346" y="3868120"/>
            <a:ext cx="5657767" cy="15020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菱形 5"/>
          <p:cNvSpPr/>
          <p:nvPr>
            <p:custDataLst>
              <p:tags r:id="rId1"/>
            </p:custDataLst>
          </p:nvPr>
        </p:nvSpPr>
        <p:spPr>
          <a:xfrm>
            <a:off x="955040" y="1601470"/>
            <a:ext cx="3403600" cy="3427095"/>
          </a:xfrm>
          <a:prstGeom prst="diamond">
            <a:avLst/>
          </a:prstGeom>
          <a:blipFill dpi="0" rotWithShape="1">
            <a:blip r:embed="rId2" cstate="screen"/>
            <a:srcRect/>
            <a:tile sx="100000" sy="100000"/>
          </a:blipFill>
          <a:ln w="762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6326" y="142457"/>
            <a:ext cx="3306679" cy="392864"/>
          </a:xfrm>
        </p:spPr>
        <p:txBody>
          <a:bodyPr>
            <a:noAutofit/>
          </a:bodyPr>
          <a:lstStyle/>
          <a:p>
            <a:r>
              <a:rPr lang="en-US" altLang="zh-CN" sz="1800" dirty="0">
                <a:solidFill>
                  <a:schemeClr val="bg1"/>
                </a:solidFill>
                <a:latin typeface="+mn-ea"/>
                <a:ea typeface="+mn-ea"/>
              </a:rPr>
              <a:t>1. </a:t>
            </a:r>
            <a:r>
              <a:rPr lang="zh-CN" altLang="en-US" sz="1800" dirty="0">
                <a:solidFill>
                  <a:schemeClr val="bg1"/>
                </a:solidFill>
                <a:latin typeface="+mn-ea"/>
                <a:ea typeface="+mn-ea"/>
              </a:rPr>
              <a:t>测试对象：定速巡航系统</a:t>
            </a:r>
            <a:endParaRPr lang="zh-CN" altLang="en-US" sz="1800" dirty="0">
              <a:solidFill>
                <a:schemeClr val="bg1"/>
              </a:solidFill>
              <a:latin typeface="+mn-ea"/>
              <a:ea typeface="+mn-ea"/>
            </a:endParaRPr>
          </a:p>
        </p:txBody>
      </p:sp>
      <p:pic>
        <p:nvPicPr>
          <p:cNvPr id="13" name="图片 12"/>
          <p:cNvPicPr>
            <a:picLocks noChangeAspect="1"/>
          </p:cNvPicPr>
          <p:nvPr/>
        </p:nvPicPr>
        <p:blipFill>
          <a:blip r:embed="rId1"/>
          <a:stretch>
            <a:fillRect/>
          </a:stretch>
        </p:blipFill>
        <p:spPr>
          <a:xfrm>
            <a:off x="897941" y="3236189"/>
            <a:ext cx="6456948" cy="3015394"/>
          </a:xfrm>
          <a:prstGeom prst="rect">
            <a:avLst/>
          </a:prstGeom>
        </p:spPr>
      </p:pic>
      <p:sp>
        <p:nvSpPr>
          <p:cNvPr id="14" name="对话气泡: 圆角矩形 13"/>
          <p:cNvSpPr/>
          <p:nvPr/>
        </p:nvSpPr>
        <p:spPr>
          <a:xfrm>
            <a:off x="4454276" y="2441626"/>
            <a:ext cx="1408698" cy="619627"/>
          </a:xfrm>
          <a:prstGeom prst="wedgeRoundRectCallout">
            <a:avLst>
              <a:gd name="adj1" fmla="val -42408"/>
              <a:gd name="adj2" fmla="val 94902"/>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solidFill>
                  <a:srgbClr val="000000"/>
                </a:solidFill>
                <a:latin typeface="+mn-ea"/>
              </a:rPr>
              <a:t>定速巡航系统</a:t>
            </a:r>
            <a:r>
              <a:rPr lang="zh-CN" altLang="en-US" sz="1050">
                <a:solidFill>
                  <a:srgbClr val="000000"/>
                </a:solidFill>
                <a:latin typeface="+mn-ea"/>
              </a:rPr>
              <a:t>控制油门，从而</a:t>
            </a:r>
            <a:r>
              <a:rPr lang="zh-CN" altLang="en-US" sz="1050" dirty="0">
                <a:solidFill>
                  <a:srgbClr val="000000"/>
                </a:solidFill>
                <a:latin typeface="+mn-ea"/>
              </a:rPr>
              <a:t>对汽车速度进行控制。</a:t>
            </a:r>
            <a:endParaRPr lang="en-US" altLang="zh-CN" sz="1050" dirty="0">
              <a:solidFill>
                <a:srgbClr val="000000"/>
              </a:solidFill>
              <a:latin typeface="+mn-ea"/>
            </a:endParaRPr>
          </a:p>
        </p:txBody>
      </p:sp>
      <p:sp>
        <p:nvSpPr>
          <p:cNvPr id="15" name="对话气泡: 圆角矩形 14"/>
          <p:cNvSpPr/>
          <p:nvPr/>
        </p:nvSpPr>
        <p:spPr>
          <a:xfrm>
            <a:off x="782638" y="2441626"/>
            <a:ext cx="1612232" cy="619627"/>
          </a:xfrm>
          <a:prstGeom prst="wedgeRoundRectCallout">
            <a:avLst>
              <a:gd name="adj1" fmla="val 22598"/>
              <a:gd name="adj2" fmla="val 84405"/>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solidFill>
                  <a:srgbClr val="000000"/>
                </a:solidFill>
                <a:latin typeface="+mn-ea"/>
              </a:rPr>
              <a:t>车速传感器可以将当前的车速值发送给定速巡航系统。</a:t>
            </a:r>
            <a:endParaRPr lang="en-US" altLang="zh-CN" sz="1050" dirty="0">
              <a:solidFill>
                <a:srgbClr val="000000"/>
              </a:solidFill>
              <a:latin typeface="+mn-ea"/>
            </a:endParaRPr>
          </a:p>
        </p:txBody>
      </p:sp>
      <p:sp>
        <p:nvSpPr>
          <p:cNvPr id="17" name="对话气泡: 圆角矩形 16"/>
          <p:cNvSpPr/>
          <p:nvPr/>
        </p:nvSpPr>
        <p:spPr>
          <a:xfrm>
            <a:off x="3032543" y="4697071"/>
            <a:ext cx="1864896" cy="619627"/>
          </a:xfrm>
          <a:prstGeom prst="wedgeRoundRectCallout">
            <a:avLst>
              <a:gd name="adj1" fmla="val -6571"/>
              <a:gd name="adj2" fmla="val -80644"/>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solidFill>
                  <a:srgbClr val="000000"/>
                </a:solidFill>
                <a:latin typeface="+mn-ea"/>
              </a:rPr>
              <a:t>巡航</a:t>
            </a:r>
            <a:r>
              <a:rPr lang="zh-CN" altLang="en-US" sz="1050">
                <a:solidFill>
                  <a:srgbClr val="000000"/>
                </a:solidFill>
                <a:latin typeface="+mn-ea"/>
              </a:rPr>
              <a:t>设置模块</a:t>
            </a:r>
            <a:r>
              <a:rPr lang="zh-CN" altLang="en-US" sz="1050" dirty="0">
                <a:solidFill>
                  <a:srgbClr val="000000"/>
                </a:solidFill>
                <a:latin typeface="+mn-ea"/>
              </a:rPr>
              <a:t>可以进行定速巡航系统的启动</a:t>
            </a:r>
            <a:r>
              <a:rPr lang="zh-CN" altLang="en-US" sz="1050">
                <a:solidFill>
                  <a:srgbClr val="000000"/>
                </a:solidFill>
                <a:latin typeface="+mn-ea"/>
              </a:rPr>
              <a:t>、停止，还</a:t>
            </a:r>
            <a:r>
              <a:rPr lang="zh-CN" altLang="en-US" sz="1050" dirty="0">
                <a:solidFill>
                  <a:srgbClr val="000000"/>
                </a:solidFill>
                <a:latin typeface="+mn-ea"/>
              </a:rPr>
              <a:t>能够调节设定车速。 </a:t>
            </a:r>
            <a:endParaRPr lang="zh-CN" altLang="en-US" sz="1050" dirty="0">
              <a:solidFill>
                <a:srgbClr val="000000"/>
              </a:solidFill>
              <a:latin typeface="+mn-ea"/>
            </a:endParaRPr>
          </a:p>
        </p:txBody>
      </p:sp>
      <p:sp>
        <p:nvSpPr>
          <p:cNvPr id="20" name="文本框 19"/>
          <p:cNvSpPr txBox="1"/>
          <p:nvPr/>
        </p:nvSpPr>
        <p:spPr>
          <a:xfrm>
            <a:off x="782638" y="1368241"/>
            <a:ext cx="6162674" cy="276999"/>
          </a:xfrm>
          <a:prstGeom prst="rect">
            <a:avLst/>
          </a:prstGeom>
          <a:noFill/>
        </p:spPr>
        <p:txBody>
          <a:bodyPr wrap="square">
            <a:spAutoFit/>
          </a:bodyPr>
          <a:lstStyle/>
          <a:p>
            <a:r>
              <a:rPr lang="zh-CN" altLang="en-US" sz="1200" dirty="0">
                <a:solidFill>
                  <a:srgbClr val="000000"/>
                </a:solidFill>
                <a:effectLst/>
                <a:latin typeface="+mn-ea"/>
              </a:rPr>
              <a:t>定义：定速巡航系统，即速度控制系统。</a:t>
            </a:r>
            <a:endParaRPr lang="en-US" altLang="zh-CN" sz="1200" dirty="0">
              <a:solidFill>
                <a:srgbClr val="000000"/>
              </a:solidFill>
              <a:effectLst/>
              <a:latin typeface="+mn-ea"/>
            </a:endParaRPr>
          </a:p>
        </p:txBody>
      </p:sp>
      <p:sp>
        <p:nvSpPr>
          <p:cNvPr id="24" name="文本框 23"/>
          <p:cNvSpPr txBox="1"/>
          <p:nvPr/>
        </p:nvSpPr>
        <p:spPr>
          <a:xfrm>
            <a:off x="782638" y="1795209"/>
            <a:ext cx="6722060" cy="461665"/>
          </a:xfrm>
          <a:prstGeom prst="rect">
            <a:avLst/>
          </a:prstGeom>
          <a:noFill/>
        </p:spPr>
        <p:txBody>
          <a:bodyPr wrap="square">
            <a:spAutoFit/>
          </a:bodyPr>
          <a:lstStyle/>
          <a:p>
            <a:r>
              <a:rPr lang="zh-CN" altLang="en-US" sz="1200" b="0" i="0" dirty="0">
                <a:solidFill>
                  <a:srgbClr val="333333"/>
                </a:solidFill>
                <a:effectLst/>
                <a:latin typeface="Helvetica Neue"/>
              </a:rPr>
              <a:t>作用：按照驾驶者的需求进行车辆时速的锁定，不用踩油门踏板就可自动保持一个固定时速行驶，</a:t>
            </a:r>
            <a:endParaRPr lang="en-US" altLang="zh-CN" sz="1200" b="0" i="0" dirty="0">
              <a:solidFill>
                <a:srgbClr val="333333"/>
              </a:solidFill>
              <a:effectLst/>
              <a:latin typeface="Helvetica Neue"/>
            </a:endParaRPr>
          </a:p>
          <a:p>
            <a:r>
              <a:rPr lang="zh-CN" altLang="en-US" sz="1200" b="0" i="0" dirty="0">
                <a:solidFill>
                  <a:srgbClr val="333333"/>
                </a:solidFill>
                <a:effectLst/>
                <a:latin typeface="Helvetica Neue"/>
              </a:rPr>
              <a:t>当行驶在高速公路时，驾驶者可有效的减轻身体疲劳，而车辆均速行驶下还能节省燃油消耗。</a:t>
            </a:r>
            <a:endParaRPr lang="zh-CN" altLang="en-US" sz="1200" dirty="0">
              <a:latin typeface="+mn-ea"/>
            </a:endParaRPr>
          </a:p>
        </p:txBody>
      </p:sp>
      <p:pic>
        <p:nvPicPr>
          <p:cNvPr id="6" name="图片 5"/>
          <p:cNvPicPr>
            <a:picLocks noChangeAspect="1"/>
          </p:cNvPicPr>
          <p:nvPr/>
        </p:nvPicPr>
        <p:blipFill>
          <a:blip r:embed="rId2"/>
          <a:stretch>
            <a:fillRect/>
          </a:stretch>
        </p:blipFill>
        <p:spPr>
          <a:xfrm>
            <a:off x="7354889" y="3128186"/>
            <a:ext cx="4646436" cy="3137770"/>
          </a:xfrm>
          <a:prstGeom prst="rect">
            <a:avLst/>
          </a:prstGeom>
        </p:spPr>
      </p:pic>
      <p:sp>
        <p:nvSpPr>
          <p:cNvPr id="8" name="文本框 7"/>
          <p:cNvSpPr txBox="1"/>
          <p:nvPr/>
        </p:nvSpPr>
        <p:spPr>
          <a:xfrm>
            <a:off x="9108273" y="5884015"/>
            <a:ext cx="1438644" cy="276999"/>
          </a:xfrm>
          <a:prstGeom prst="rect">
            <a:avLst/>
          </a:prstGeom>
          <a:noFill/>
        </p:spPr>
        <p:txBody>
          <a:bodyPr wrap="square">
            <a:spAutoFit/>
          </a:bodyPr>
          <a:lstStyle/>
          <a:p>
            <a:r>
              <a:rPr lang="zh-CN" altLang="en-US" sz="1200" dirty="0">
                <a:solidFill>
                  <a:srgbClr val="000000"/>
                </a:solidFill>
                <a:effectLst/>
                <a:latin typeface="+mn-ea"/>
              </a:rPr>
              <a:t>定速巡航系统</a:t>
            </a:r>
            <a:r>
              <a:rPr lang="zh-CN" altLang="en-US" sz="1200" dirty="0">
                <a:solidFill>
                  <a:srgbClr val="000000"/>
                </a:solidFill>
                <a:latin typeface="+mn-ea"/>
              </a:rPr>
              <a:t>界面</a:t>
            </a:r>
            <a:endParaRPr lang="en-US" altLang="zh-CN" sz="1200" dirty="0">
              <a:solidFill>
                <a:srgbClr val="000000"/>
              </a:solidFill>
              <a:effectLst/>
              <a:latin typeface="+mn-ea"/>
            </a:endParaRPr>
          </a:p>
        </p:txBody>
      </p:sp>
      <p:pic>
        <p:nvPicPr>
          <p:cNvPr id="3" name="图片 2"/>
          <p:cNvPicPr>
            <a:picLocks noChangeAspect="1"/>
          </p:cNvPicPr>
          <p:nvPr/>
        </p:nvPicPr>
        <p:blipFill>
          <a:blip r:embed="rId3"/>
          <a:stretch>
            <a:fillRect/>
          </a:stretch>
        </p:blipFill>
        <p:spPr>
          <a:xfrm>
            <a:off x="0" y="0"/>
            <a:ext cx="5163671" cy="1148799"/>
          </a:xfrm>
          <a:prstGeom prst="rect">
            <a:avLst/>
          </a:prstGeom>
        </p:spPr>
      </p:pic>
      <p:sp>
        <p:nvSpPr>
          <p:cNvPr id="4" name="文本框 3"/>
          <p:cNvSpPr txBox="1"/>
          <p:nvPr/>
        </p:nvSpPr>
        <p:spPr>
          <a:xfrm>
            <a:off x="1995805" y="471001"/>
            <a:ext cx="4853230" cy="523220"/>
          </a:xfrm>
          <a:prstGeom prst="rect">
            <a:avLst/>
          </a:prstGeom>
          <a:noFill/>
        </p:spPr>
        <p:txBody>
          <a:bodyPr wrap="square" rtlCol="0">
            <a:spAutoFit/>
          </a:bodyPr>
          <a:lstStyle/>
          <a:p>
            <a:r>
              <a:rPr lang="en-US" altLang="zh-CN" sz="2800" b="1" dirty="0">
                <a:solidFill>
                  <a:srgbClr val="136FB8"/>
                </a:solidFill>
              </a:rPr>
              <a:t>1. </a:t>
            </a:r>
            <a:r>
              <a:rPr lang="zh-CN" altLang="en-US" sz="2800" b="1" dirty="0">
                <a:solidFill>
                  <a:srgbClr val="136FB8"/>
                </a:solidFill>
              </a:rPr>
              <a:t>测试对象：定速巡航系统</a:t>
            </a:r>
            <a:endParaRPr lang="zh-CN" altLang="en-US" sz="2800" b="1" dirty="0">
              <a:solidFill>
                <a:srgbClr val="136FB8"/>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9"/>
          <p:cNvPicPr>
            <a:picLocks noChangeAspect="1"/>
          </p:cNvPicPr>
          <p:nvPr/>
        </p:nvPicPr>
        <p:blipFill>
          <a:blip r:embed="rId1"/>
          <a:stretch>
            <a:fillRect/>
          </a:stretch>
        </p:blipFill>
        <p:spPr>
          <a:xfrm>
            <a:off x="5929601" y="3859230"/>
            <a:ext cx="5148270" cy="2307583"/>
          </a:xfrm>
          <a:prstGeom prst="rect">
            <a:avLst/>
          </a:prstGeom>
        </p:spPr>
      </p:pic>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a:solidFill>
                  <a:schemeClr val="bg1"/>
                </a:solidFill>
                <a:latin typeface="+mn-ea"/>
                <a:ea typeface="+mn-ea"/>
              </a:rPr>
              <a:t>串口，仿真环境</a:t>
            </a:r>
            <a:endParaRPr lang="zh-CN" altLang="en-US" sz="1800" dirty="0">
              <a:solidFill>
                <a:schemeClr val="bg1"/>
              </a:solidFill>
              <a:latin typeface="+mn-ea"/>
              <a:ea typeface="+mn-ea"/>
            </a:endParaRPr>
          </a:p>
        </p:txBody>
      </p:sp>
      <p:pic>
        <p:nvPicPr>
          <p:cNvPr id="10" name="图片 9"/>
          <p:cNvPicPr>
            <a:picLocks noChangeAspect="1"/>
          </p:cNvPicPr>
          <p:nvPr/>
        </p:nvPicPr>
        <p:blipFill>
          <a:blip r:embed="rId2"/>
          <a:stretch>
            <a:fillRect/>
          </a:stretch>
        </p:blipFill>
        <p:spPr>
          <a:xfrm>
            <a:off x="1136194" y="3998825"/>
            <a:ext cx="4145800" cy="1285126"/>
          </a:xfrm>
          <a:prstGeom prst="rect">
            <a:avLst/>
          </a:prstGeom>
        </p:spPr>
      </p:pic>
      <p:sp>
        <p:nvSpPr>
          <p:cNvPr id="13" name="对话气泡: 圆角矩形 12"/>
          <p:cNvSpPr/>
          <p:nvPr/>
        </p:nvSpPr>
        <p:spPr>
          <a:xfrm>
            <a:off x="1046657" y="3438898"/>
            <a:ext cx="1643490" cy="246667"/>
          </a:xfrm>
          <a:prstGeom prst="wedgeRoundRectCallout">
            <a:avLst>
              <a:gd name="adj1" fmla="val 48079"/>
              <a:gd name="adj2" fmla="val 23353"/>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050" dirty="0">
                <a:solidFill>
                  <a:srgbClr val="000000"/>
                </a:solidFill>
                <a:latin typeface="+mn-ea"/>
              </a:rPr>
              <a:t>ETest</a:t>
            </a:r>
            <a:r>
              <a:rPr lang="zh-CN" altLang="en-US" sz="1050" dirty="0">
                <a:solidFill>
                  <a:srgbClr val="000000"/>
                </a:solidFill>
                <a:latin typeface="+mn-ea"/>
              </a:rPr>
              <a:t>串口名称设置</a:t>
            </a:r>
            <a:endParaRPr lang="en-US" altLang="zh-CN" sz="1050" dirty="0">
              <a:solidFill>
                <a:srgbClr val="000000"/>
              </a:solidFill>
              <a:latin typeface="+mn-ea"/>
            </a:endParaRPr>
          </a:p>
        </p:txBody>
      </p:sp>
      <p:sp>
        <p:nvSpPr>
          <p:cNvPr id="14" name="对话气泡: 圆角矩形 13"/>
          <p:cNvSpPr/>
          <p:nvPr/>
        </p:nvSpPr>
        <p:spPr>
          <a:xfrm>
            <a:off x="5892285" y="3438899"/>
            <a:ext cx="1643490" cy="246667"/>
          </a:xfrm>
          <a:prstGeom prst="wedgeRoundRectCallout">
            <a:avLst>
              <a:gd name="adj1" fmla="val 48079"/>
              <a:gd name="adj2" fmla="val 23353"/>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050" dirty="0">
                <a:solidFill>
                  <a:srgbClr val="000000"/>
                </a:solidFill>
                <a:latin typeface="+mn-ea"/>
              </a:rPr>
              <a:t>ETest</a:t>
            </a:r>
            <a:r>
              <a:rPr lang="zh-CN" altLang="en-US" sz="1050" dirty="0">
                <a:solidFill>
                  <a:srgbClr val="000000"/>
                </a:solidFill>
                <a:latin typeface="+mn-ea"/>
              </a:rPr>
              <a:t>仿真环境</a:t>
            </a:r>
            <a:endParaRPr lang="en-US" altLang="zh-CN" sz="1050" dirty="0">
              <a:solidFill>
                <a:srgbClr val="000000"/>
              </a:solidFill>
              <a:latin typeface="+mn-ea"/>
            </a:endParaRPr>
          </a:p>
        </p:txBody>
      </p:sp>
      <p:sp>
        <p:nvSpPr>
          <p:cNvPr id="5" name="矩形 4"/>
          <p:cNvSpPr/>
          <p:nvPr/>
        </p:nvSpPr>
        <p:spPr>
          <a:xfrm>
            <a:off x="1219321" y="4040231"/>
            <a:ext cx="4062673" cy="338669"/>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938180" y="5680001"/>
            <a:ext cx="5200876" cy="210639"/>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219322" y="4451329"/>
            <a:ext cx="4062673" cy="391125"/>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938180" y="5440489"/>
            <a:ext cx="5200876" cy="180192"/>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938180" y="5955677"/>
            <a:ext cx="5200876" cy="210639"/>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219322" y="4908489"/>
            <a:ext cx="4062672" cy="362674"/>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a:stCxn id="9" idx="3"/>
            <a:endCxn id="6" idx="1"/>
          </p:cNvCxnSpPr>
          <p:nvPr/>
        </p:nvCxnSpPr>
        <p:spPr>
          <a:xfrm>
            <a:off x="5281995" y="4646892"/>
            <a:ext cx="656185" cy="1138429"/>
          </a:xfrm>
          <a:prstGeom prst="straightConnector1">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4" name="直接箭头连接符 23"/>
          <p:cNvCxnSpPr>
            <a:stCxn id="5" idx="3"/>
            <a:endCxn id="11" idx="1"/>
          </p:cNvCxnSpPr>
          <p:nvPr/>
        </p:nvCxnSpPr>
        <p:spPr>
          <a:xfrm>
            <a:off x="5281994" y="4209566"/>
            <a:ext cx="656186" cy="1321019"/>
          </a:xfrm>
          <a:prstGeom prst="straightConnector1">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5" name="直接箭头连接符 24"/>
          <p:cNvCxnSpPr>
            <a:stCxn id="17" idx="3"/>
            <a:endCxn id="12" idx="1"/>
          </p:cNvCxnSpPr>
          <p:nvPr/>
        </p:nvCxnSpPr>
        <p:spPr>
          <a:xfrm>
            <a:off x="5281994" y="5089826"/>
            <a:ext cx="656186" cy="971171"/>
          </a:xfrm>
          <a:prstGeom prst="straightConnector1">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cxnSp>
      <p:pic>
        <p:nvPicPr>
          <p:cNvPr id="3" name="图片 2"/>
          <p:cNvPicPr>
            <a:picLocks noChangeAspect="1"/>
          </p:cNvPicPr>
          <p:nvPr/>
        </p:nvPicPr>
        <p:blipFill>
          <a:blip r:embed="rId3"/>
          <a:stretch>
            <a:fillRect/>
          </a:stretch>
        </p:blipFill>
        <p:spPr>
          <a:xfrm>
            <a:off x="5918722" y="1326576"/>
            <a:ext cx="4909838" cy="1927912"/>
          </a:xfrm>
          <a:prstGeom prst="rect">
            <a:avLst/>
          </a:prstGeom>
        </p:spPr>
      </p:pic>
      <p:sp>
        <p:nvSpPr>
          <p:cNvPr id="7" name="矩形 6"/>
          <p:cNvSpPr/>
          <p:nvPr/>
        </p:nvSpPr>
        <p:spPr>
          <a:xfrm>
            <a:off x="5993450" y="1465591"/>
            <a:ext cx="1529329" cy="438017"/>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608976" y="1465591"/>
            <a:ext cx="1529329" cy="438017"/>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218768" y="1459325"/>
            <a:ext cx="1529329" cy="438017"/>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对话气泡: 圆角矩形 15"/>
          <p:cNvSpPr/>
          <p:nvPr/>
        </p:nvSpPr>
        <p:spPr>
          <a:xfrm>
            <a:off x="5892285" y="965641"/>
            <a:ext cx="1643490" cy="246667"/>
          </a:xfrm>
          <a:prstGeom prst="wedgeRoundRectCallout">
            <a:avLst>
              <a:gd name="adj1" fmla="val 48079"/>
              <a:gd name="adj2" fmla="val 23353"/>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zh-CN" altLang="en-US" sz="1050" dirty="0">
                <a:solidFill>
                  <a:srgbClr val="000000"/>
                </a:solidFill>
                <a:latin typeface="+mn-ea"/>
              </a:rPr>
              <a:t>被测件串口设置</a:t>
            </a:r>
            <a:endParaRPr lang="en-US" altLang="zh-CN" sz="1050" dirty="0">
              <a:solidFill>
                <a:srgbClr val="000000"/>
              </a:solidFill>
              <a:latin typeface="+mn-ea"/>
            </a:endParaRPr>
          </a:p>
        </p:txBody>
      </p:sp>
      <p:pic>
        <p:nvPicPr>
          <p:cNvPr id="18" name="图片 17"/>
          <p:cNvPicPr>
            <a:picLocks noChangeAspect="1"/>
          </p:cNvPicPr>
          <p:nvPr/>
        </p:nvPicPr>
        <p:blipFill rotWithShape="1">
          <a:blip r:embed="rId4"/>
          <a:srcRect t="2020"/>
          <a:stretch>
            <a:fillRect/>
          </a:stretch>
        </p:blipFill>
        <p:spPr>
          <a:xfrm>
            <a:off x="1136194" y="1617507"/>
            <a:ext cx="1247775" cy="1362549"/>
          </a:xfrm>
          <a:prstGeom prst="rect">
            <a:avLst/>
          </a:prstGeom>
        </p:spPr>
      </p:pic>
      <p:sp>
        <p:nvSpPr>
          <p:cNvPr id="19" name="对话气泡: 圆角矩形 18"/>
          <p:cNvSpPr/>
          <p:nvPr/>
        </p:nvSpPr>
        <p:spPr>
          <a:xfrm>
            <a:off x="1053446" y="1273033"/>
            <a:ext cx="2193321" cy="246667"/>
          </a:xfrm>
          <a:prstGeom prst="wedgeRoundRectCallout">
            <a:avLst>
              <a:gd name="adj1" fmla="val 48079"/>
              <a:gd name="adj2" fmla="val 23353"/>
              <a:gd name="adj3" fmla="val 16667"/>
            </a:avLst>
          </a:prstGeom>
          <a:solidFill>
            <a:schemeClr val="accent6">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rtlCol="0" anchor="ctr"/>
          <a:lstStyle/>
          <a:p>
            <a:r>
              <a:rPr lang="en-US" altLang="zh-CN" sz="1050" dirty="0" err="1">
                <a:solidFill>
                  <a:srgbClr val="000000"/>
                </a:solidFill>
                <a:latin typeface="+mn-ea"/>
              </a:rPr>
              <a:t>VSPD</a:t>
            </a:r>
            <a:r>
              <a:rPr lang="zh-CN" altLang="en-US" sz="1050" dirty="0">
                <a:solidFill>
                  <a:srgbClr val="000000"/>
                </a:solidFill>
                <a:latin typeface="+mn-ea"/>
              </a:rPr>
              <a:t>新建三对虚拟串口</a:t>
            </a:r>
            <a:endParaRPr lang="en-US" altLang="zh-CN" sz="1050" dirty="0">
              <a:solidFill>
                <a:srgbClr val="000000"/>
              </a:solidFill>
              <a:latin typeface="+mn-ea"/>
            </a:endParaRPr>
          </a:p>
        </p:txBody>
      </p:sp>
      <p:sp>
        <p:nvSpPr>
          <p:cNvPr id="26" name="矩形 25"/>
          <p:cNvSpPr/>
          <p:nvPr/>
        </p:nvSpPr>
        <p:spPr>
          <a:xfrm>
            <a:off x="1248823" y="1827355"/>
            <a:ext cx="1022987" cy="338669"/>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1248587" y="2193975"/>
            <a:ext cx="1022987" cy="351454"/>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248588" y="2572629"/>
            <a:ext cx="1022986" cy="362674"/>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箭头连接符 29"/>
          <p:cNvCxnSpPr/>
          <p:nvPr/>
        </p:nvCxnSpPr>
        <p:spPr>
          <a:xfrm>
            <a:off x="2096805" y="2087701"/>
            <a:ext cx="2206390" cy="2019724"/>
          </a:xfrm>
          <a:prstGeom prst="straightConnector1">
            <a:avLst/>
          </a:prstGeom>
          <a:no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38" name="直接箭头连接符 37"/>
          <p:cNvCxnSpPr>
            <a:endCxn id="7" idx="1"/>
          </p:cNvCxnSpPr>
          <p:nvPr/>
        </p:nvCxnSpPr>
        <p:spPr>
          <a:xfrm flipV="1">
            <a:off x="2096805" y="1684600"/>
            <a:ext cx="3896645" cy="225955"/>
          </a:xfrm>
          <a:prstGeom prst="straightConnector1">
            <a:avLst/>
          </a:prstGeom>
          <a:no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cxnSp>
      <p:pic>
        <p:nvPicPr>
          <p:cNvPr id="2" name="图片 1"/>
          <p:cNvPicPr>
            <a:picLocks noChangeAspect="1"/>
          </p:cNvPicPr>
          <p:nvPr/>
        </p:nvPicPr>
        <p:blipFill>
          <a:blip r:embed="rId5"/>
          <a:stretch>
            <a:fillRect/>
          </a:stretch>
        </p:blipFill>
        <p:spPr>
          <a:xfrm>
            <a:off x="0" y="0"/>
            <a:ext cx="5163671" cy="1148799"/>
          </a:xfrm>
          <a:prstGeom prst="rect">
            <a:avLst/>
          </a:prstGeom>
        </p:spPr>
      </p:pic>
      <p:sp>
        <p:nvSpPr>
          <p:cNvPr id="21" name="文本框 20"/>
          <p:cNvSpPr txBox="1"/>
          <p:nvPr/>
        </p:nvSpPr>
        <p:spPr>
          <a:xfrm>
            <a:off x="1995805" y="471001"/>
            <a:ext cx="4064000" cy="523220"/>
          </a:xfrm>
          <a:prstGeom prst="rect">
            <a:avLst/>
          </a:prstGeom>
          <a:noFill/>
        </p:spPr>
        <p:txBody>
          <a:bodyPr wrap="square" rtlCol="0">
            <a:spAutoFit/>
          </a:bodyPr>
          <a:lstStyle/>
          <a:p>
            <a:r>
              <a:rPr lang="zh-CN" altLang="en-US" sz="2800" b="1" dirty="0">
                <a:solidFill>
                  <a:srgbClr val="136FB8"/>
                </a:solidFill>
              </a:rPr>
              <a:t>串口，仿真环境</a:t>
            </a:r>
            <a:endParaRPr lang="zh-CN" altLang="en-US" sz="2800" b="1" dirty="0">
              <a:solidFill>
                <a:srgbClr val="136FB8"/>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协议（</a:t>
            </a:r>
            <a:r>
              <a:rPr lang="en-US" altLang="zh-CN" sz="1800" dirty="0">
                <a:solidFill>
                  <a:schemeClr val="bg1"/>
                </a:solidFill>
                <a:latin typeface="+mn-ea"/>
                <a:ea typeface="+mn-ea"/>
              </a:rPr>
              <a:t>1/2</a:t>
            </a:r>
            <a:r>
              <a:rPr lang="zh-CN" altLang="en-US" sz="1800" dirty="0">
                <a:solidFill>
                  <a:schemeClr val="bg1"/>
                </a:solidFill>
                <a:latin typeface="+mn-ea"/>
                <a:ea typeface="+mn-ea"/>
              </a:rPr>
              <a:t>）</a:t>
            </a:r>
            <a:endParaRPr lang="zh-CN" altLang="en-US" sz="1800" dirty="0">
              <a:solidFill>
                <a:schemeClr val="bg1"/>
              </a:solidFill>
              <a:latin typeface="+mn-ea"/>
              <a:ea typeface="+mn-ea"/>
            </a:endParaRPr>
          </a:p>
        </p:txBody>
      </p:sp>
      <p:pic>
        <p:nvPicPr>
          <p:cNvPr id="3" name="图片 2"/>
          <p:cNvPicPr>
            <a:picLocks noChangeAspect="1"/>
          </p:cNvPicPr>
          <p:nvPr/>
        </p:nvPicPr>
        <p:blipFill>
          <a:blip r:embed="rId1"/>
          <a:stretch>
            <a:fillRect/>
          </a:stretch>
        </p:blipFill>
        <p:spPr>
          <a:xfrm>
            <a:off x="334999" y="1216175"/>
            <a:ext cx="3604495" cy="2485471"/>
          </a:xfrm>
          <a:prstGeom prst="rect">
            <a:avLst/>
          </a:prstGeom>
        </p:spPr>
      </p:pic>
      <p:pic>
        <p:nvPicPr>
          <p:cNvPr id="7" name="图片 6"/>
          <p:cNvPicPr>
            <a:picLocks noChangeAspect="1"/>
          </p:cNvPicPr>
          <p:nvPr/>
        </p:nvPicPr>
        <p:blipFill>
          <a:blip r:embed="rId2"/>
          <a:stretch>
            <a:fillRect/>
          </a:stretch>
        </p:blipFill>
        <p:spPr>
          <a:xfrm>
            <a:off x="4341580" y="1584684"/>
            <a:ext cx="7789630" cy="1660873"/>
          </a:xfrm>
          <a:prstGeom prst="rect">
            <a:avLst/>
          </a:prstGeom>
        </p:spPr>
      </p:pic>
      <p:pic>
        <p:nvPicPr>
          <p:cNvPr id="11" name="图片 10"/>
          <p:cNvPicPr>
            <a:picLocks noChangeAspect="1"/>
          </p:cNvPicPr>
          <p:nvPr/>
        </p:nvPicPr>
        <p:blipFill>
          <a:blip r:embed="rId3"/>
          <a:stretch>
            <a:fillRect/>
          </a:stretch>
        </p:blipFill>
        <p:spPr>
          <a:xfrm>
            <a:off x="334999" y="4058717"/>
            <a:ext cx="3678769" cy="2199406"/>
          </a:xfrm>
          <a:prstGeom prst="rect">
            <a:avLst/>
          </a:prstGeom>
        </p:spPr>
      </p:pic>
      <p:pic>
        <p:nvPicPr>
          <p:cNvPr id="15" name="图片 14"/>
          <p:cNvPicPr>
            <a:picLocks noChangeAspect="1"/>
          </p:cNvPicPr>
          <p:nvPr/>
        </p:nvPicPr>
        <p:blipFill>
          <a:blip r:embed="rId4"/>
          <a:stretch>
            <a:fillRect/>
          </a:stretch>
        </p:blipFill>
        <p:spPr>
          <a:xfrm>
            <a:off x="1491768" y="3771704"/>
            <a:ext cx="1617300" cy="216955"/>
          </a:xfrm>
          <a:prstGeom prst="rect">
            <a:avLst/>
          </a:prstGeom>
        </p:spPr>
      </p:pic>
      <p:pic>
        <p:nvPicPr>
          <p:cNvPr id="17" name="图片 16"/>
          <p:cNvPicPr>
            <a:picLocks noChangeAspect="1"/>
          </p:cNvPicPr>
          <p:nvPr/>
        </p:nvPicPr>
        <p:blipFill>
          <a:blip r:embed="rId5"/>
          <a:stretch>
            <a:fillRect/>
          </a:stretch>
        </p:blipFill>
        <p:spPr>
          <a:xfrm>
            <a:off x="4401230" y="4058717"/>
            <a:ext cx="7729980" cy="1660873"/>
          </a:xfrm>
          <a:prstGeom prst="rect">
            <a:avLst/>
          </a:prstGeom>
        </p:spPr>
      </p:pic>
      <p:pic>
        <p:nvPicPr>
          <p:cNvPr id="5" name="图片 4"/>
          <p:cNvPicPr>
            <a:picLocks noChangeAspect="1"/>
          </p:cNvPicPr>
          <p:nvPr/>
        </p:nvPicPr>
        <p:blipFill>
          <a:blip r:embed="rId6"/>
          <a:stretch>
            <a:fillRect/>
          </a:stretch>
        </p:blipFill>
        <p:spPr>
          <a:xfrm>
            <a:off x="4401230" y="1184634"/>
            <a:ext cx="1304925" cy="257175"/>
          </a:xfrm>
          <a:prstGeom prst="rect">
            <a:avLst/>
          </a:prstGeom>
        </p:spPr>
      </p:pic>
      <p:pic>
        <p:nvPicPr>
          <p:cNvPr id="8" name="图片 7"/>
          <p:cNvPicPr>
            <a:picLocks noChangeAspect="1"/>
          </p:cNvPicPr>
          <p:nvPr/>
        </p:nvPicPr>
        <p:blipFill>
          <a:blip r:embed="rId7"/>
          <a:stretch>
            <a:fillRect/>
          </a:stretch>
        </p:blipFill>
        <p:spPr>
          <a:xfrm>
            <a:off x="4401230" y="3772967"/>
            <a:ext cx="1171575" cy="285750"/>
          </a:xfrm>
          <a:prstGeom prst="rect">
            <a:avLst/>
          </a:prstGeom>
        </p:spPr>
      </p:pic>
      <p:pic>
        <p:nvPicPr>
          <p:cNvPr id="2" name="图片 1"/>
          <p:cNvPicPr>
            <a:picLocks noChangeAspect="1"/>
          </p:cNvPicPr>
          <p:nvPr/>
        </p:nvPicPr>
        <p:blipFill>
          <a:blip r:embed="rId8"/>
          <a:stretch>
            <a:fillRect/>
          </a:stretch>
        </p:blipFill>
        <p:spPr>
          <a:xfrm>
            <a:off x="0" y="0"/>
            <a:ext cx="5163671" cy="1148799"/>
          </a:xfrm>
          <a:prstGeom prst="rect">
            <a:avLst/>
          </a:prstGeom>
        </p:spPr>
      </p:pic>
      <p:sp>
        <p:nvSpPr>
          <p:cNvPr id="6" name="文本框 5"/>
          <p:cNvSpPr txBox="1"/>
          <p:nvPr/>
        </p:nvSpPr>
        <p:spPr>
          <a:xfrm>
            <a:off x="1995805" y="471001"/>
            <a:ext cx="4064000" cy="523220"/>
          </a:xfrm>
          <a:prstGeom prst="rect">
            <a:avLst/>
          </a:prstGeom>
          <a:noFill/>
        </p:spPr>
        <p:txBody>
          <a:bodyPr wrap="square" rtlCol="0">
            <a:spAutoFit/>
          </a:bodyPr>
          <a:lstStyle/>
          <a:p>
            <a:r>
              <a:rPr lang="zh-CN" altLang="en-US" sz="2800" b="1" dirty="0">
                <a:solidFill>
                  <a:srgbClr val="136FB8"/>
                </a:solidFill>
              </a:rPr>
              <a:t>协议（</a:t>
            </a:r>
            <a:r>
              <a:rPr lang="en-US" altLang="zh-CN" sz="2800" b="1" dirty="0">
                <a:solidFill>
                  <a:srgbClr val="136FB8"/>
                </a:solidFill>
              </a:rPr>
              <a:t>1/2</a:t>
            </a:r>
            <a:r>
              <a:rPr lang="zh-CN" altLang="en-US" sz="2800" b="1" dirty="0">
                <a:solidFill>
                  <a:srgbClr val="136FB8"/>
                </a:solidFill>
              </a:rPr>
              <a:t>）</a:t>
            </a:r>
            <a:endParaRPr lang="zh-CN" altLang="en-US" sz="2800" b="1" dirty="0">
              <a:solidFill>
                <a:srgbClr val="136FB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协议（</a:t>
            </a:r>
            <a:r>
              <a:rPr lang="en-US" altLang="zh-CN" sz="1800" dirty="0">
                <a:solidFill>
                  <a:schemeClr val="bg1"/>
                </a:solidFill>
                <a:latin typeface="+mn-ea"/>
                <a:ea typeface="+mn-ea"/>
              </a:rPr>
              <a:t>2/2</a:t>
            </a:r>
            <a:r>
              <a:rPr lang="zh-CN" altLang="en-US" sz="1800" dirty="0">
                <a:solidFill>
                  <a:schemeClr val="bg1"/>
                </a:solidFill>
                <a:latin typeface="+mn-ea"/>
                <a:ea typeface="+mn-ea"/>
              </a:rPr>
              <a:t>）</a:t>
            </a:r>
            <a:endParaRPr lang="zh-CN" altLang="en-US" sz="1800" dirty="0">
              <a:solidFill>
                <a:schemeClr val="bg1"/>
              </a:solidFill>
              <a:latin typeface="+mn-ea"/>
              <a:ea typeface="+mn-ea"/>
            </a:endParaRPr>
          </a:p>
        </p:txBody>
      </p:sp>
      <p:pic>
        <p:nvPicPr>
          <p:cNvPr id="5" name="图片 4"/>
          <p:cNvPicPr>
            <a:picLocks noChangeAspect="1"/>
          </p:cNvPicPr>
          <p:nvPr/>
        </p:nvPicPr>
        <p:blipFill>
          <a:blip r:embed="rId1"/>
          <a:stretch>
            <a:fillRect/>
          </a:stretch>
        </p:blipFill>
        <p:spPr>
          <a:xfrm>
            <a:off x="2009739" y="1172282"/>
            <a:ext cx="3955352" cy="2556421"/>
          </a:xfrm>
          <a:prstGeom prst="rect">
            <a:avLst/>
          </a:prstGeom>
        </p:spPr>
      </p:pic>
      <p:pic>
        <p:nvPicPr>
          <p:cNvPr id="8" name="图片 7"/>
          <p:cNvPicPr>
            <a:picLocks noChangeAspect="1"/>
          </p:cNvPicPr>
          <p:nvPr/>
        </p:nvPicPr>
        <p:blipFill>
          <a:blip r:embed="rId2"/>
          <a:stretch>
            <a:fillRect/>
          </a:stretch>
        </p:blipFill>
        <p:spPr>
          <a:xfrm>
            <a:off x="2009739" y="4365664"/>
            <a:ext cx="7761811" cy="1738669"/>
          </a:xfrm>
          <a:prstGeom prst="rect">
            <a:avLst/>
          </a:prstGeom>
        </p:spPr>
      </p:pic>
      <p:pic>
        <p:nvPicPr>
          <p:cNvPr id="3" name="图片 2"/>
          <p:cNvPicPr>
            <a:picLocks noChangeAspect="1"/>
          </p:cNvPicPr>
          <p:nvPr/>
        </p:nvPicPr>
        <p:blipFill rotWithShape="1">
          <a:blip r:embed="rId3"/>
          <a:srcRect t="15034"/>
          <a:stretch>
            <a:fillRect/>
          </a:stretch>
        </p:blipFill>
        <p:spPr>
          <a:xfrm>
            <a:off x="1967903" y="4054287"/>
            <a:ext cx="1343025" cy="242791"/>
          </a:xfrm>
          <a:prstGeom prst="rect">
            <a:avLst/>
          </a:prstGeom>
        </p:spPr>
      </p:pic>
      <p:pic>
        <p:nvPicPr>
          <p:cNvPr id="2" name="图片 1"/>
          <p:cNvPicPr>
            <a:picLocks noChangeAspect="1"/>
          </p:cNvPicPr>
          <p:nvPr/>
        </p:nvPicPr>
        <p:blipFill>
          <a:blip r:embed="rId4"/>
          <a:stretch>
            <a:fillRect/>
          </a:stretch>
        </p:blipFill>
        <p:spPr>
          <a:xfrm>
            <a:off x="0" y="0"/>
            <a:ext cx="5163671" cy="1148799"/>
          </a:xfrm>
          <a:prstGeom prst="rect">
            <a:avLst/>
          </a:prstGeom>
        </p:spPr>
      </p:pic>
      <p:sp>
        <p:nvSpPr>
          <p:cNvPr id="6" name="文本框 5"/>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协议（</a:t>
            </a:r>
            <a:r>
              <a:rPr lang="en-US" altLang="zh-CN" sz="2800" b="1" dirty="0">
                <a:solidFill>
                  <a:srgbClr val="136FB8"/>
                </a:solidFill>
              </a:rPr>
              <a:t>2/2</a:t>
            </a:r>
            <a:r>
              <a:rPr lang="zh-CN" altLang="en-US" sz="2800" b="1" dirty="0">
                <a:solidFill>
                  <a:srgbClr val="136FB8"/>
                </a:solidFill>
              </a:rPr>
              <a:t>）</a:t>
            </a:r>
            <a:endParaRPr lang="zh-CN" altLang="en-US" sz="2800" b="1" dirty="0">
              <a:solidFill>
                <a:srgbClr val="136FB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执行配置</a:t>
            </a:r>
            <a:endParaRPr lang="zh-CN" altLang="en-US" sz="1800" dirty="0">
              <a:solidFill>
                <a:schemeClr val="bg1"/>
              </a:solidFill>
              <a:latin typeface="+mn-ea"/>
              <a:ea typeface="+mn-ea"/>
            </a:endParaRPr>
          </a:p>
        </p:txBody>
      </p:sp>
      <p:pic>
        <p:nvPicPr>
          <p:cNvPr id="7" name="图片 6"/>
          <p:cNvPicPr>
            <a:picLocks noChangeAspect="1"/>
          </p:cNvPicPr>
          <p:nvPr/>
        </p:nvPicPr>
        <p:blipFill>
          <a:blip r:embed="rId1"/>
          <a:stretch>
            <a:fillRect/>
          </a:stretch>
        </p:blipFill>
        <p:spPr>
          <a:xfrm>
            <a:off x="1177447" y="1857458"/>
            <a:ext cx="8793271" cy="2121902"/>
          </a:xfrm>
          <a:prstGeom prst="rect">
            <a:avLst/>
          </a:prstGeom>
        </p:spPr>
      </p:pic>
      <p:pic>
        <p:nvPicPr>
          <p:cNvPr id="2" name="图片 1"/>
          <p:cNvPicPr>
            <a:picLocks noChangeAspect="1"/>
          </p:cNvPicPr>
          <p:nvPr/>
        </p:nvPicPr>
        <p:blipFill>
          <a:blip r:embed="rId2"/>
          <a:stretch>
            <a:fillRect/>
          </a:stretch>
        </p:blipFill>
        <p:spPr>
          <a:xfrm>
            <a:off x="0" y="0"/>
            <a:ext cx="5163671" cy="1148799"/>
          </a:xfrm>
          <a:prstGeom prst="rect">
            <a:avLst/>
          </a:prstGeom>
        </p:spPr>
      </p:pic>
      <p:sp>
        <p:nvSpPr>
          <p:cNvPr id="3" name="文本框 2"/>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执行配置</a:t>
            </a:r>
            <a:endParaRPr lang="zh-CN" altLang="en-US" sz="2800" b="1" dirty="0">
              <a:solidFill>
                <a:srgbClr val="136FB8"/>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42"/>
          <p:cNvPicPr>
            <a:picLocks noChangeAspect="1"/>
          </p:cNvPicPr>
          <p:nvPr/>
        </p:nvPicPr>
        <p:blipFill>
          <a:blip r:embed="rId1"/>
          <a:stretch>
            <a:fillRect/>
          </a:stretch>
        </p:blipFill>
        <p:spPr>
          <a:xfrm>
            <a:off x="4217303" y="2483838"/>
            <a:ext cx="6726113" cy="2695000"/>
          </a:xfrm>
          <a:prstGeom prst="rect">
            <a:avLst/>
          </a:prstGeom>
        </p:spPr>
      </p:pic>
      <p:sp>
        <p:nvSpPr>
          <p:cNvPr id="2" name="标题 1"/>
          <p:cNvSpPr>
            <a:spLocks noGrp="1"/>
          </p:cNvSpPr>
          <p:nvPr>
            <p:ph type="title"/>
          </p:nvPr>
        </p:nvSpPr>
        <p:spPr>
          <a:xfrm>
            <a:off x="886326" y="142457"/>
            <a:ext cx="3306679" cy="392864"/>
          </a:xfrm>
        </p:spPr>
        <p:txBody>
          <a:bodyPr>
            <a:normAutofit/>
          </a:bodyPr>
          <a:lstStyle/>
          <a:p>
            <a:r>
              <a:rPr lang="en-US" altLang="zh-CN" sz="1800" dirty="0">
                <a:solidFill>
                  <a:schemeClr val="bg1"/>
                </a:solidFill>
                <a:latin typeface="+mn-ea"/>
                <a:ea typeface="+mn-ea"/>
              </a:rPr>
              <a:t>2.1. </a:t>
            </a:r>
            <a:r>
              <a:rPr lang="zh-CN" altLang="en-US" sz="1800" dirty="0">
                <a:solidFill>
                  <a:schemeClr val="bg1"/>
                </a:solidFill>
                <a:latin typeface="+mn-ea"/>
                <a:ea typeface="+mn-ea"/>
              </a:rPr>
              <a:t>启动停止功能</a:t>
            </a:r>
            <a:r>
              <a:rPr lang="en-US" altLang="zh-CN" sz="1800" dirty="0">
                <a:solidFill>
                  <a:schemeClr val="bg1"/>
                </a:solidFill>
                <a:latin typeface="+mn-ea"/>
                <a:ea typeface="+mn-ea"/>
              </a:rPr>
              <a:t>(</a:t>
            </a:r>
            <a:r>
              <a:rPr lang="en-US" altLang="zh-CN" sz="1800" dirty="0" err="1">
                <a:solidFill>
                  <a:schemeClr val="bg1"/>
                </a:solidFill>
                <a:latin typeface="+mn-ea"/>
                <a:ea typeface="+mn-ea"/>
              </a:rPr>
              <a:t>F_Start</a:t>
            </a:r>
            <a:r>
              <a:rPr lang="en-US" altLang="zh-CN" sz="1800" dirty="0">
                <a:solidFill>
                  <a:schemeClr val="bg1"/>
                </a:solidFill>
                <a:latin typeface="+mn-ea"/>
                <a:ea typeface="+mn-ea"/>
              </a:rPr>
              <a:t>)</a:t>
            </a:r>
            <a:endParaRPr lang="zh-CN" altLang="en-US" sz="1800" dirty="0">
              <a:solidFill>
                <a:schemeClr val="bg1"/>
              </a:solidFill>
              <a:latin typeface="+mn-ea"/>
              <a:ea typeface="+mn-ea"/>
            </a:endParaRPr>
          </a:p>
        </p:txBody>
      </p:sp>
      <p:cxnSp>
        <p:nvCxnSpPr>
          <p:cNvPr id="11" name="直接箭头连接符 10"/>
          <p:cNvCxnSpPr>
            <a:stCxn id="53" idx="3"/>
            <a:endCxn id="71" idx="1"/>
          </p:cNvCxnSpPr>
          <p:nvPr/>
        </p:nvCxnSpPr>
        <p:spPr>
          <a:xfrm>
            <a:off x="3776882" y="3712071"/>
            <a:ext cx="853260" cy="45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94783" y="2219613"/>
            <a:ext cx="3327167" cy="307777"/>
          </a:xfrm>
          <a:prstGeom prst="rect">
            <a:avLst/>
          </a:prstGeom>
          <a:noFill/>
        </p:spPr>
        <p:txBody>
          <a:bodyPr wrap="square">
            <a:spAutoFit/>
          </a:bodyPr>
          <a:lstStyle/>
          <a:p>
            <a:r>
              <a:rPr lang="zh-CN" altLang="en-US" sz="1400" b="1" dirty="0">
                <a:solidFill>
                  <a:srgbClr val="000000"/>
                </a:solidFill>
                <a:latin typeface="+mn-ea"/>
              </a:rPr>
              <a:t>测试思路</a:t>
            </a:r>
            <a:endParaRPr lang="en-US" altLang="zh-CN" sz="1400" b="1" dirty="0">
              <a:solidFill>
                <a:srgbClr val="000000"/>
              </a:solidFill>
              <a:latin typeface="+mn-ea"/>
            </a:endParaRPr>
          </a:p>
        </p:txBody>
      </p:sp>
      <p:cxnSp>
        <p:nvCxnSpPr>
          <p:cNvPr id="17" name="直接箭头连接符 16"/>
          <p:cNvCxnSpPr>
            <a:stCxn id="57" idx="3"/>
            <a:endCxn id="72" idx="1"/>
          </p:cNvCxnSpPr>
          <p:nvPr/>
        </p:nvCxnSpPr>
        <p:spPr>
          <a:xfrm>
            <a:off x="3799538" y="2780850"/>
            <a:ext cx="813684" cy="3930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784903" y="3388905"/>
            <a:ext cx="2991979" cy="646331"/>
          </a:xfrm>
          <a:prstGeom prst="rect">
            <a:avLst/>
          </a:prstGeom>
          <a:noFill/>
        </p:spPr>
        <p:txBody>
          <a:bodyPr wrap="square">
            <a:spAutoFit/>
          </a:bodyPr>
          <a:lstStyle>
            <a:defPPr>
              <a:defRPr lang="zh-CN"/>
            </a:defPPr>
            <a:lvl1pPr marL="171450" indent="-171450">
              <a:buFont typeface="Arial" panose="020B0604020202020204" pitchFamily="34" charset="0"/>
              <a:buChar char="•"/>
              <a:defRPr sz="1200">
                <a:solidFill>
                  <a:srgbClr val="000000"/>
                </a:solidFill>
                <a:latin typeface="+mn-ea"/>
              </a:defRPr>
            </a:lvl1pPr>
          </a:lstStyle>
          <a:p>
            <a:pPr marL="0" indent="0">
              <a:buNone/>
            </a:pPr>
            <a:r>
              <a:rPr lang="zh-CN" altLang="en-US" dirty="0"/>
              <a:t>发送启动指令</a:t>
            </a:r>
            <a:endParaRPr lang="en-US" altLang="zh-CN" dirty="0"/>
          </a:p>
          <a:p>
            <a:pPr marL="0" indent="0">
              <a:buNone/>
            </a:pPr>
            <a:r>
              <a:rPr lang="zh-CN" altLang="en-US" dirty="0"/>
              <a:t>交互界面询问“被测件是否处于开启状态”</a:t>
            </a:r>
            <a:r>
              <a:rPr lang="en-US" altLang="zh-CN" dirty="0"/>
              <a:t>    </a:t>
            </a:r>
            <a:endParaRPr lang="en-US" altLang="zh-CN" dirty="0"/>
          </a:p>
          <a:p>
            <a:pPr marL="0" indent="0">
              <a:buNone/>
            </a:pPr>
            <a:r>
              <a:rPr lang="zh-CN" altLang="en-US" sz="1200" dirty="0">
                <a:solidFill>
                  <a:srgbClr val="000000"/>
                </a:solidFill>
                <a:latin typeface="-apple-system"/>
              </a:rPr>
              <a:t>根据交互结果输出断言信息</a:t>
            </a:r>
            <a:endParaRPr lang="en-US" altLang="zh-CN" dirty="0"/>
          </a:p>
        </p:txBody>
      </p:sp>
      <p:sp>
        <p:nvSpPr>
          <p:cNvPr id="55" name="文本框 54"/>
          <p:cNvSpPr txBox="1"/>
          <p:nvPr/>
        </p:nvSpPr>
        <p:spPr>
          <a:xfrm>
            <a:off x="817500" y="4532507"/>
            <a:ext cx="3363185" cy="646331"/>
          </a:xfrm>
          <a:prstGeom prst="rect">
            <a:avLst/>
          </a:prstGeom>
          <a:noFill/>
        </p:spPr>
        <p:txBody>
          <a:bodyPr wrap="square">
            <a:spAutoFit/>
          </a:bodyPr>
          <a:lstStyle>
            <a:defPPr>
              <a:defRPr lang="zh-CN"/>
            </a:defPPr>
            <a:lvl1pPr marL="171450" indent="-171450">
              <a:buFont typeface="Arial" panose="020B0604020202020204" pitchFamily="34" charset="0"/>
              <a:buChar char="•"/>
              <a:defRPr sz="1200">
                <a:solidFill>
                  <a:srgbClr val="000000"/>
                </a:solidFill>
                <a:latin typeface="+mn-ea"/>
              </a:defRPr>
            </a:lvl1pPr>
          </a:lstStyle>
          <a:p>
            <a:pPr marL="0" indent="0">
              <a:buNone/>
            </a:pPr>
            <a:r>
              <a:rPr lang="zh-CN" altLang="en-US" dirty="0"/>
              <a:t>发送停止指令</a:t>
            </a:r>
            <a:endParaRPr lang="en-US" altLang="zh-CN" dirty="0"/>
          </a:p>
          <a:p>
            <a:pPr marL="0" indent="0">
              <a:buNone/>
            </a:pPr>
            <a:r>
              <a:rPr lang="zh-CN" altLang="en-US" dirty="0"/>
              <a:t>交互界面询问“被测件是否处于停止状态”    </a:t>
            </a:r>
            <a:endParaRPr lang="en-US" altLang="zh-CN" dirty="0"/>
          </a:p>
          <a:p>
            <a:pPr marL="0" indent="0">
              <a:buNone/>
            </a:pPr>
            <a:r>
              <a:rPr lang="zh-CN" altLang="en-US" sz="1200" dirty="0">
                <a:solidFill>
                  <a:srgbClr val="000000"/>
                </a:solidFill>
                <a:latin typeface="-apple-system"/>
              </a:rPr>
              <a:t>根据交互结果输出断言信息</a:t>
            </a:r>
            <a:endParaRPr lang="en-US" altLang="zh-CN" dirty="0"/>
          </a:p>
        </p:txBody>
      </p:sp>
      <p:sp>
        <p:nvSpPr>
          <p:cNvPr id="57" name="文本框 56"/>
          <p:cNvSpPr txBox="1"/>
          <p:nvPr/>
        </p:nvSpPr>
        <p:spPr>
          <a:xfrm>
            <a:off x="784904" y="2550017"/>
            <a:ext cx="3014634" cy="461665"/>
          </a:xfrm>
          <a:prstGeom prst="rect">
            <a:avLst/>
          </a:prstGeom>
          <a:noFill/>
        </p:spPr>
        <p:txBody>
          <a:bodyPr wrap="square">
            <a:spAutoFit/>
          </a:bodyPr>
          <a:lstStyle/>
          <a:p>
            <a:r>
              <a:rPr lang="zh-CN" altLang="en-US" sz="1200" dirty="0">
                <a:solidFill>
                  <a:srgbClr val="000000"/>
                </a:solidFill>
                <a:latin typeface="+mn-ea"/>
              </a:rPr>
              <a:t>交互界面询问“被测件是否处于停止状态”</a:t>
            </a:r>
            <a:r>
              <a:rPr lang="en-US" altLang="zh-CN" sz="1200" dirty="0">
                <a:solidFill>
                  <a:srgbClr val="000000"/>
                </a:solidFill>
                <a:latin typeface="+mn-ea"/>
              </a:rPr>
              <a:t> </a:t>
            </a:r>
            <a:r>
              <a:rPr lang="zh-CN" altLang="en-US" sz="1200" dirty="0">
                <a:solidFill>
                  <a:srgbClr val="000000"/>
                </a:solidFill>
                <a:latin typeface="-apple-system"/>
              </a:rPr>
              <a:t>根据交互结果输出断言信息</a:t>
            </a:r>
            <a:endParaRPr lang="en-US" altLang="zh-CN" sz="1200" dirty="0">
              <a:solidFill>
                <a:srgbClr val="000000"/>
              </a:solidFill>
              <a:latin typeface="+mn-ea"/>
            </a:endParaRPr>
          </a:p>
        </p:txBody>
      </p:sp>
      <p:cxnSp>
        <p:nvCxnSpPr>
          <p:cNvPr id="61" name="直接箭头连接符 60"/>
          <p:cNvCxnSpPr>
            <a:endCxn id="70" idx="1"/>
          </p:cNvCxnSpPr>
          <p:nvPr/>
        </p:nvCxnSpPr>
        <p:spPr>
          <a:xfrm flipV="1">
            <a:off x="3616657" y="4409023"/>
            <a:ext cx="1010213" cy="408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784903" y="1483144"/>
            <a:ext cx="4107977" cy="646331"/>
          </a:xfrm>
          <a:prstGeom prst="rect">
            <a:avLst/>
          </a:prstGeom>
          <a:noFill/>
        </p:spPr>
        <p:txBody>
          <a:bodyPr wrap="square">
            <a:spAutoFit/>
          </a:bodyPr>
          <a:lstStyle>
            <a:defPPr>
              <a:defRPr lang="zh-CN"/>
            </a:defPPr>
            <a:lvl1pPr>
              <a:defRPr sz="1200">
                <a:solidFill>
                  <a:srgbClr val="000000"/>
                </a:solidFill>
                <a:latin typeface="+mn-ea"/>
              </a:defRPr>
            </a:lvl1pPr>
          </a:lstStyle>
          <a:p>
            <a:r>
              <a:rPr lang="zh-CN" altLang="en-US" dirty="0"/>
              <a:t>定速巡航界面打开后，处于停止工作状态</a:t>
            </a:r>
            <a:endParaRPr lang="en-US" altLang="zh-CN" dirty="0"/>
          </a:p>
          <a:p>
            <a:r>
              <a:rPr lang="zh-CN" altLang="en-US" dirty="0"/>
              <a:t>发送启动指令，定速巡航系统界面显示“开启”状态</a:t>
            </a:r>
            <a:endParaRPr lang="en-US" altLang="zh-CN" dirty="0"/>
          </a:p>
          <a:p>
            <a:r>
              <a:rPr lang="zh-CN" altLang="en-US" dirty="0"/>
              <a:t>发送停止指令，定速巡航系统界面显示“停止”状态</a:t>
            </a:r>
            <a:endParaRPr lang="en-US" altLang="zh-CN" dirty="0"/>
          </a:p>
        </p:txBody>
      </p:sp>
      <p:sp>
        <p:nvSpPr>
          <p:cNvPr id="70" name="左大括号 69"/>
          <p:cNvSpPr/>
          <p:nvPr/>
        </p:nvSpPr>
        <p:spPr>
          <a:xfrm>
            <a:off x="4626870" y="4218751"/>
            <a:ext cx="61136" cy="3805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左大括号 70"/>
          <p:cNvSpPr/>
          <p:nvPr/>
        </p:nvSpPr>
        <p:spPr>
          <a:xfrm>
            <a:off x="4630142" y="3567556"/>
            <a:ext cx="61136" cy="3805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左大括号 71"/>
          <p:cNvSpPr/>
          <p:nvPr/>
        </p:nvSpPr>
        <p:spPr>
          <a:xfrm>
            <a:off x="4613222" y="2983624"/>
            <a:ext cx="61136" cy="3805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2" name="文本框 91"/>
          <p:cNvSpPr txBox="1"/>
          <p:nvPr/>
        </p:nvSpPr>
        <p:spPr>
          <a:xfrm>
            <a:off x="594783" y="1152740"/>
            <a:ext cx="1882976" cy="307777"/>
          </a:xfrm>
          <a:prstGeom prst="rect">
            <a:avLst/>
          </a:prstGeom>
          <a:noFill/>
        </p:spPr>
        <p:txBody>
          <a:bodyPr wrap="square">
            <a:spAutoFit/>
          </a:bodyPr>
          <a:lstStyle/>
          <a:p>
            <a:r>
              <a:rPr lang="zh-CN" altLang="en-US" sz="1400" b="1" dirty="0">
                <a:solidFill>
                  <a:srgbClr val="000000"/>
                </a:solidFill>
                <a:latin typeface="+mn-ea"/>
              </a:rPr>
              <a:t>测试点</a:t>
            </a:r>
            <a:endParaRPr lang="en-US" altLang="zh-CN" sz="1400" b="1" dirty="0">
              <a:solidFill>
                <a:srgbClr val="000000"/>
              </a:solidFill>
              <a:latin typeface="+mn-ea"/>
            </a:endParaRPr>
          </a:p>
        </p:txBody>
      </p:sp>
      <p:pic>
        <p:nvPicPr>
          <p:cNvPr id="3" name="图片 2"/>
          <p:cNvPicPr>
            <a:picLocks noChangeAspect="1"/>
          </p:cNvPicPr>
          <p:nvPr/>
        </p:nvPicPr>
        <p:blipFill>
          <a:blip r:embed="rId2"/>
          <a:stretch>
            <a:fillRect/>
          </a:stretch>
        </p:blipFill>
        <p:spPr>
          <a:xfrm>
            <a:off x="0" y="0"/>
            <a:ext cx="5163671" cy="1148799"/>
          </a:xfrm>
          <a:prstGeom prst="rect">
            <a:avLst/>
          </a:prstGeom>
        </p:spPr>
      </p:pic>
      <p:sp>
        <p:nvSpPr>
          <p:cNvPr id="4" name="文本框 3"/>
          <p:cNvSpPr txBox="1"/>
          <p:nvPr/>
        </p:nvSpPr>
        <p:spPr>
          <a:xfrm>
            <a:off x="1995805" y="471001"/>
            <a:ext cx="4566360" cy="523220"/>
          </a:xfrm>
          <a:prstGeom prst="rect">
            <a:avLst/>
          </a:prstGeom>
          <a:noFill/>
        </p:spPr>
        <p:txBody>
          <a:bodyPr wrap="square" rtlCol="0">
            <a:spAutoFit/>
          </a:bodyPr>
          <a:lstStyle/>
          <a:p>
            <a:r>
              <a:rPr lang="en-US" altLang="zh-CN" sz="2800" b="1" dirty="0">
                <a:solidFill>
                  <a:srgbClr val="136FB8"/>
                </a:solidFill>
              </a:rPr>
              <a:t>2.1. </a:t>
            </a:r>
            <a:r>
              <a:rPr lang="zh-CN" altLang="en-US" sz="2800" b="1" dirty="0">
                <a:solidFill>
                  <a:srgbClr val="136FB8"/>
                </a:solidFill>
              </a:rPr>
              <a:t>启动停止功能</a:t>
            </a:r>
            <a:r>
              <a:rPr lang="en-US" altLang="zh-CN" sz="2800" b="1" dirty="0">
                <a:solidFill>
                  <a:srgbClr val="136FB8"/>
                </a:solidFill>
              </a:rPr>
              <a:t>(F_Start)</a:t>
            </a:r>
            <a:endParaRPr lang="zh-CN" altLang="en-US" sz="2800" b="1" dirty="0">
              <a:solidFill>
                <a:srgbClr val="136FB8"/>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6326" y="142457"/>
            <a:ext cx="3306679" cy="392864"/>
          </a:xfrm>
        </p:spPr>
        <p:txBody>
          <a:bodyPr>
            <a:normAutofit fontScale="90000"/>
          </a:bodyPr>
          <a:lstStyle/>
          <a:p>
            <a:r>
              <a:rPr lang="en-US" altLang="zh-CN" sz="2000" dirty="0">
                <a:solidFill>
                  <a:schemeClr val="bg1"/>
                </a:solidFill>
                <a:latin typeface="+mn-ea"/>
                <a:ea typeface="+mn-ea"/>
              </a:rPr>
              <a:t>2.2. </a:t>
            </a:r>
            <a:r>
              <a:rPr lang="zh-CN" altLang="en-US" sz="2000" dirty="0">
                <a:solidFill>
                  <a:schemeClr val="bg1"/>
                </a:solidFill>
                <a:latin typeface="+mn-ea"/>
                <a:ea typeface="+mn-ea"/>
              </a:rPr>
              <a:t>车速采集处理</a:t>
            </a:r>
            <a:r>
              <a:rPr lang="en-US" altLang="zh-CN" sz="2000" dirty="0">
                <a:solidFill>
                  <a:schemeClr val="bg1"/>
                </a:solidFill>
                <a:latin typeface="+mn-ea"/>
                <a:ea typeface="+mn-ea"/>
              </a:rPr>
              <a:t>(</a:t>
            </a:r>
            <a:r>
              <a:rPr lang="en-US" altLang="zh-CN" sz="2000" dirty="0" err="1">
                <a:solidFill>
                  <a:schemeClr val="bg1"/>
                </a:solidFill>
                <a:latin typeface="+mn-ea"/>
                <a:ea typeface="+mn-ea"/>
              </a:rPr>
              <a:t>F_Senser</a:t>
            </a:r>
            <a:r>
              <a:rPr lang="en-US" altLang="zh-CN" sz="2000" dirty="0">
                <a:solidFill>
                  <a:schemeClr val="bg1"/>
                </a:solidFill>
                <a:latin typeface="+mn-ea"/>
                <a:ea typeface="+mn-ea"/>
              </a:rPr>
              <a:t>)</a:t>
            </a:r>
            <a:endParaRPr lang="zh-CN" altLang="en-US" sz="2000" dirty="0">
              <a:solidFill>
                <a:schemeClr val="bg1"/>
              </a:solidFill>
              <a:latin typeface="+mn-ea"/>
              <a:ea typeface="+mn-ea"/>
            </a:endParaRPr>
          </a:p>
        </p:txBody>
      </p:sp>
      <p:sp>
        <p:nvSpPr>
          <p:cNvPr id="7" name="文本框 6"/>
          <p:cNvSpPr txBox="1"/>
          <p:nvPr/>
        </p:nvSpPr>
        <p:spPr>
          <a:xfrm>
            <a:off x="607628" y="2107407"/>
            <a:ext cx="2370667" cy="307777"/>
          </a:xfrm>
          <a:prstGeom prst="rect">
            <a:avLst/>
          </a:prstGeom>
          <a:noFill/>
        </p:spPr>
        <p:txBody>
          <a:bodyPr wrap="square">
            <a:spAutoFit/>
          </a:bodyPr>
          <a:lstStyle/>
          <a:p>
            <a:r>
              <a:rPr lang="zh-CN" altLang="en-US" sz="1400" b="1" dirty="0">
                <a:solidFill>
                  <a:srgbClr val="000000"/>
                </a:solidFill>
                <a:latin typeface="+mn-ea"/>
              </a:rPr>
              <a:t>测试思路</a:t>
            </a:r>
            <a:endParaRPr lang="en-US" altLang="zh-CN" sz="1400" b="1" dirty="0">
              <a:solidFill>
                <a:srgbClr val="000000"/>
              </a:solidFill>
              <a:latin typeface="+mn-ea"/>
            </a:endParaRPr>
          </a:p>
        </p:txBody>
      </p:sp>
      <p:sp>
        <p:nvSpPr>
          <p:cNvPr id="10" name="文本框 9"/>
          <p:cNvSpPr txBox="1"/>
          <p:nvPr/>
        </p:nvSpPr>
        <p:spPr>
          <a:xfrm>
            <a:off x="622947" y="3318427"/>
            <a:ext cx="2342504" cy="430887"/>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交互界面询问“请确认采集车速是否为期望采集速度”（</a:t>
            </a:r>
            <a:r>
              <a:rPr lang="en-US" altLang="zh-CN" sz="1100" dirty="0" err="1">
                <a:solidFill>
                  <a:srgbClr val="C00000"/>
                </a:solidFill>
                <a:latin typeface="+mn-ea"/>
              </a:rPr>
              <a:t>expval</a:t>
            </a:r>
            <a:r>
              <a:rPr lang="zh-CN" altLang="en-US" sz="1100" dirty="0">
                <a:solidFill>
                  <a:srgbClr val="000000"/>
                </a:solidFill>
                <a:latin typeface="+mn-ea"/>
              </a:rPr>
              <a:t>）</a:t>
            </a:r>
            <a:endParaRPr lang="en-US" altLang="zh-CN" sz="1100" dirty="0">
              <a:solidFill>
                <a:srgbClr val="000000"/>
              </a:solidFill>
              <a:latin typeface="+mn-ea"/>
            </a:endParaRPr>
          </a:p>
        </p:txBody>
      </p:sp>
      <p:sp>
        <p:nvSpPr>
          <p:cNvPr id="12" name="文本框 11"/>
          <p:cNvSpPr txBox="1"/>
          <p:nvPr/>
        </p:nvSpPr>
        <p:spPr>
          <a:xfrm>
            <a:off x="607628" y="1408681"/>
            <a:ext cx="6926240" cy="657937"/>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zh-CN" altLang="en-US" sz="1100" dirty="0"/>
              <a:t>速度的范围是：</a:t>
            </a:r>
            <a:r>
              <a:rPr lang="en-US" altLang="zh-CN" sz="1100" dirty="0"/>
              <a:t>0~100km/h</a:t>
            </a:r>
            <a:r>
              <a:rPr lang="zh-CN" altLang="en-US" sz="1100" dirty="0"/>
              <a:t>。超出范围时，要做截断处理，截断为边界值。</a:t>
            </a:r>
            <a:endParaRPr lang="en-US" altLang="zh-CN" sz="1100" dirty="0"/>
          </a:p>
          <a:p>
            <a:pPr>
              <a:lnSpc>
                <a:spcPts val="1500"/>
              </a:lnSpc>
            </a:pPr>
            <a:r>
              <a:rPr lang="zh-CN" altLang="en-US" sz="1100" dirty="0"/>
              <a:t>发送速度：</a:t>
            </a:r>
            <a:r>
              <a:rPr lang="en-US" altLang="zh-CN" sz="1100" dirty="0">
                <a:solidFill>
                  <a:srgbClr val="FF0000"/>
                </a:solidFill>
              </a:rPr>
              <a:t>-0.1</a:t>
            </a:r>
            <a:r>
              <a:rPr lang="zh-CN" altLang="en-US" sz="1100" dirty="0"/>
              <a:t>，</a:t>
            </a:r>
            <a:r>
              <a:rPr lang="en-US" altLang="zh-CN" sz="1100" dirty="0"/>
              <a:t>0</a:t>
            </a:r>
            <a:r>
              <a:rPr lang="zh-CN" altLang="en-US" sz="1100" dirty="0"/>
              <a:t>，</a:t>
            </a:r>
            <a:r>
              <a:rPr lang="en-US" altLang="zh-CN" sz="1100" dirty="0"/>
              <a:t>0.1</a:t>
            </a:r>
            <a:r>
              <a:rPr lang="zh-CN" altLang="en-US" sz="1100" dirty="0"/>
              <a:t>，</a:t>
            </a:r>
            <a:r>
              <a:rPr lang="en-US" altLang="zh-CN" sz="1100" dirty="0"/>
              <a:t>50</a:t>
            </a:r>
            <a:r>
              <a:rPr lang="zh-CN" altLang="en-US" sz="1100" dirty="0"/>
              <a:t>，</a:t>
            </a:r>
            <a:r>
              <a:rPr lang="en-US" altLang="zh-CN" sz="1100" dirty="0"/>
              <a:t>99.9</a:t>
            </a:r>
            <a:r>
              <a:rPr lang="zh-CN" altLang="en-US" sz="1100" dirty="0"/>
              <a:t>，</a:t>
            </a:r>
            <a:r>
              <a:rPr lang="en-US" altLang="zh-CN" sz="1100" dirty="0"/>
              <a:t>100</a:t>
            </a:r>
            <a:r>
              <a:rPr lang="zh-CN" altLang="en-US" sz="1100" dirty="0"/>
              <a:t>，</a:t>
            </a:r>
            <a:r>
              <a:rPr lang="en-US" altLang="zh-CN" sz="1100" dirty="0">
                <a:solidFill>
                  <a:srgbClr val="FF0000"/>
                </a:solidFill>
              </a:rPr>
              <a:t>100.1</a:t>
            </a:r>
            <a:endParaRPr lang="en-US" altLang="zh-CN" sz="1100" dirty="0">
              <a:solidFill>
                <a:srgbClr val="FF0000"/>
              </a:solidFill>
            </a:endParaRPr>
          </a:p>
          <a:p>
            <a:pPr>
              <a:lnSpc>
                <a:spcPts val="1500"/>
              </a:lnSpc>
            </a:pPr>
            <a:r>
              <a:rPr lang="zh-CN" altLang="en-US" sz="1100" dirty="0"/>
              <a:t>采集速度： </a:t>
            </a:r>
            <a:r>
              <a:rPr lang="en-US" altLang="zh-CN" sz="1100" dirty="0"/>
              <a:t>0</a:t>
            </a:r>
            <a:r>
              <a:rPr lang="zh-CN" altLang="en-US" sz="1100" dirty="0"/>
              <a:t>，</a:t>
            </a:r>
            <a:r>
              <a:rPr lang="en-US" altLang="zh-CN" sz="1100" dirty="0"/>
              <a:t> 0</a:t>
            </a:r>
            <a:r>
              <a:rPr lang="zh-CN" altLang="en-US" sz="1100" dirty="0"/>
              <a:t>，</a:t>
            </a:r>
            <a:r>
              <a:rPr lang="en-US" altLang="zh-CN" sz="1100" dirty="0"/>
              <a:t>0.1</a:t>
            </a:r>
            <a:r>
              <a:rPr lang="zh-CN" altLang="en-US" sz="1100" dirty="0"/>
              <a:t>，</a:t>
            </a:r>
            <a:r>
              <a:rPr lang="en-US" altLang="zh-CN" sz="1100" dirty="0"/>
              <a:t>50</a:t>
            </a:r>
            <a:r>
              <a:rPr lang="zh-CN" altLang="en-US" sz="1100" dirty="0"/>
              <a:t>，</a:t>
            </a:r>
            <a:r>
              <a:rPr lang="en-US" altLang="zh-CN" sz="1100" dirty="0"/>
              <a:t>99.9</a:t>
            </a:r>
            <a:r>
              <a:rPr lang="zh-CN" altLang="en-US" sz="1100" dirty="0"/>
              <a:t>，</a:t>
            </a:r>
            <a:r>
              <a:rPr lang="en-US" altLang="zh-CN" sz="1100" dirty="0"/>
              <a:t>100</a:t>
            </a:r>
            <a:r>
              <a:rPr lang="zh-CN" altLang="en-US" sz="1100" dirty="0"/>
              <a:t>，</a:t>
            </a:r>
            <a:r>
              <a:rPr lang="en-US" altLang="zh-CN" sz="1100" dirty="0"/>
              <a:t>100</a:t>
            </a:r>
            <a:endParaRPr lang="en-US" altLang="zh-CN" sz="1100" dirty="0"/>
          </a:p>
        </p:txBody>
      </p:sp>
      <p:pic>
        <p:nvPicPr>
          <p:cNvPr id="15" name="图片 14"/>
          <p:cNvPicPr>
            <a:picLocks noChangeAspect="1"/>
          </p:cNvPicPr>
          <p:nvPr/>
        </p:nvPicPr>
        <p:blipFill rotWithShape="1">
          <a:blip r:embed="rId1"/>
          <a:srcRect b="1554"/>
          <a:stretch>
            <a:fillRect/>
          </a:stretch>
        </p:blipFill>
        <p:spPr>
          <a:xfrm>
            <a:off x="3533458" y="2107407"/>
            <a:ext cx="6499542" cy="2422039"/>
          </a:xfrm>
          <a:prstGeom prst="rect">
            <a:avLst/>
          </a:prstGeom>
        </p:spPr>
      </p:pic>
      <p:sp>
        <p:nvSpPr>
          <p:cNvPr id="19" name="文本框 18"/>
          <p:cNvSpPr txBox="1"/>
          <p:nvPr/>
        </p:nvSpPr>
        <p:spPr>
          <a:xfrm>
            <a:off x="623665" y="2372879"/>
            <a:ext cx="1535335" cy="276999"/>
          </a:xfrm>
          <a:prstGeom prst="rect">
            <a:avLst/>
          </a:prstGeom>
          <a:noFill/>
        </p:spPr>
        <p:txBody>
          <a:bodyPr wrap="square">
            <a:spAutoFit/>
          </a:bodyPr>
          <a:lstStyle/>
          <a:p>
            <a:pPr marL="171450" indent="-171450">
              <a:buFont typeface="Arial" panose="020B0604020202020204" pitchFamily="34" charset="0"/>
              <a:buChar char="•"/>
            </a:pPr>
            <a:r>
              <a:rPr lang="zh-CN" altLang="en-US" sz="1200" dirty="0"/>
              <a:t>发送</a:t>
            </a:r>
            <a:r>
              <a:rPr lang="zh-CN" altLang="en-US" sz="1100" dirty="0"/>
              <a:t>启动指令</a:t>
            </a:r>
            <a:endParaRPr lang="en-US" altLang="zh-CN" sz="1200" dirty="0">
              <a:solidFill>
                <a:srgbClr val="000000"/>
              </a:solidFill>
              <a:latin typeface="+mn-ea"/>
            </a:endParaRPr>
          </a:p>
        </p:txBody>
      </p:sp>
      <p:cxnSp>
        <p:nvCxnSpPr>
          <p:cNvPr id="22" name="直接箭头连接符 21"/>
          <p:cNvCxnSpPr>
            <a:stCxn id="19" idx="3"/>
          </p:cNvCxnSpPr>
          <p:nvPr/>
        </p:nvCxnSpPr>
        <p:spPr>
          <a:xfrm>
            <a:off x="2159000" y="2511379"/>
            <a:ext cx="1938740" cy="315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0" idx="3"/>
          </p:cNvCxnSpPr>
          <p:nvPr/>
        </p:nvCxnSpPr>
        <p:spPr>
          <a:xfrm>
            <a:off x="2965451" y="3533871"/>
            <a:ext cx="1306734" cy="2292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607628" y="1156042"/>
            <a:ext cx="1882976" cy="307777"/>
          </a:xfrm>
          <a:prstGeom prst="rect">
            <a:avLst/>
          </a:prstGeom>
          <a:noFill/>
        </p:spPr>
        <p:txBody>
          <a:bodyPr wrap="square">
            <a:spAutoFit/>
          </a:bodyPr>
          <a:lstStyle/>
          <a:p>
            <a:r>
              <a:rPr lang="zh-CN" altLang="en-US" sz="1400" b="1" dirty="0">
                <a:solidFill>
                  <a:srgbClr val="000000"/>
                </a:solidFill>
                <a:latin typeface="+mn-ea"/>
              </a:rPr>
              <a:t>测试点</a:t>
            </a:r>
            <a:endParaRPr lang="en-US" altLang="zh-CN" sz="1400" b="1" dirty="0">
              <a:solidFill>
                <a:srgbClr val="000000"/>
              </a:solidFill>
              <a:latin typeface="+mn-ea"/>
            </a:endParaRPr>
          </a:p>
        </p:txBody>
      </p:sp>
      <p:cxnSp>
        <p:nvCxnSpPr>
          <p:cNvPr id="49" name="直接箭头连接符 48"/>
          <p:cNvCxnSpPr>
            <a:stCxn id="50" idx="1"/>
          </p:cNvCxnSpPr>
          <p:nvPr/>
        </p:nvCxnSpPr>
        <p:spPr>
          <a:xfrm flipV="1">
            <a:off x="7377430" y="2994212"/>
            <a:ext cx="2895606" cy="3972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右大括号 49"/>
          <p:cNvSpPr/>
          <p:nvPr/>
        </p:nvSpPr>
        <p:spPr>
          <a:xfrm>
            <a:off x="7308850" y="3284772"/>
            <a:ext cx="68580" cy="2133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8" name="文本框 57"/>
          <p:cNvSpPr txBox="1"/>
          <p:nvPr/>
        </p:nvSpPr>
        <p:spPr>
          <a:xfrm>
            <a:off x="622947" y="2808583"/>
            <a:ext cx="1535335" cy="261610"/>
          </a:xfrm>
          <a:prstGeom prst="rect">
            <a:avLst/>
          </a:prstGeom>
          <a:noFill/>
        </p:spPr>
        <p:txBody>
          <a:bodyPr wrap="square">
            <a:spAutoFit/>
          </a:bodyPr>
          <a:lstStyle>
            <a:defPPr>
              <a:defRPr lang="zh-CN"/>
            </a:defPPr>
            <a:lvl1pPr marL="171450" indent="-171450">
              <a:buFont typeface="Arial" panose="020B0604020202020204" pitchFamily="34" charset="0"/>
              <a:buChar char="•"/>
              <a:defRPr sz="1100">
                <a:solidFill>
                  <a:srgbClr val="000000"/>
                </a:solidFill>
                <a:latin typeface="+mn-ea"/>
              </a:defRPr>
            </a:lvl1pPr>
          </a:lstStyle>
          <a:p>
            <a:r>
              <a:rPr lang="zh-CN" altLang="en-US" dirty="0"/>
              <a:t>发送车速（</a:t>
            </a:r>
            <a:r>
              <a:rPr lang="en-US" altLang="zh-CN" dirty="0" err="1"/>
              <a:t>inval</a:t>
            </a:r>
            <a:r>
              <a:rPr lang="zh-CN" altLang="en-US" dirty="0"/>
              <a:t>）</a:t>
            </a:r>
            <a:endParaRPr lang="en-US" altLang="zh-CN" dirty="0"/>
          </a:p>
        </p:txBody>
      </p:sp>
      <p:sp>
        <p:nvSpPr>
          <p:cNvPr id="60" name="文本框 59"/>
          <p:cNvSpPr txBox="1"/>
          <p:nvPr/>
        </p:nvSpPr>
        <p:spPr>
          <a:xfrm>
            <a:off x="621485" y="4033607"/>
            <a:ext cx="2115365" cy="261610"/>
          </a:xfrm>
          <a:prstGeom prst="rect">
            <a:avLst/>
          </a:prstGeom>
          <a:noFill/>
        </p:spPr>
        <p:txBody>
          <a:bodyPr wrap="square">
            <a:spAutoFit/>
          </a:bodyPr>
          <a:lstStyle>
            <a:defPPr>
              <a:defRPr lang="zh-CN"/>
            </a:defPPr>
            <a:lvl1pPr marL="171450" indent="-171450">
              <a:buFont typeface="Arial" panose="020B0604020202020204" pitchFamily="34" charset="0"/>
              <a:buChar char="•"/>
              <a:defRPr sz="1100">
                <a:solidFill>
                  <a:srgbClr val="000000"/>
                </a:solidFill>
                <a:latin typeface="+mn-ea"/>
              </a:defRPr>
            </a:lvl1pPr>
          </a:lstStyle>
          <a:p>
            <a:r>
              <a:rPr lang="zh-CN" altLang="en-US" dirty="0"/>
              <a:t>根据交互结果输出断言信息</a:t>
            </a:r>
            <a:endParaRPr lang="en-US" altLang="zh-CN" dirty="0"/>
          </a:p>
        </p:txBody>
      </p:sp>
      <p:cxnSp>
        <p:nvCxnSpPr>
          <p:cNvPr id="62" name="直接箭头连接符 61"/>
          <p:cNvCxnSpPr>
            <a:stCxn id="58" idx="3"/>
          </p:cNvCxnSpPr>
          <p:nvPr/>
        </p:nvCxnSpPr>
        <p:spPr>
          <a:xfrm>
            <a:off x="2158282" y="2939388"/>
            <a:ext cx="2113903" cy="673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60" idx="3"/>
          </p:cNvCxnSpPr>
          <p:nvPr/>
        </p:nvCxnSpPr>
        <p:spPr>
          <a:xfrm flipV="1">
            <a:off x="2736850" y="4026297"/>
            <a:ext cx="1479299" cy="138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rotWithShape="1">
          <a:blip r:embed="rId2"/>
          <a:srcRect t="2261" b="1070"/>
          <a:stretch>
            <a:fillRect/>
          </a:stretch>
        </p:blipFill>
        <p:spPr>
          <a:xfrm>
            <a:off x="10273036" y="2107407"/>
            <a:ext cx="1577476" cy="2438435"/>
          </a:xfrm>
          <a:prstGeom prst="rect">
            <a:avLst/>
          </a:prstGeom>
        </p:spPr>
      </p:pic>
      <p:pic>
        <p:nvPicPr>
          <p:cNvPr id="3" name="图片 2"/>
          <p:cNvPicPr>
            <a:picLocks noChangeAspect="1"/>
          </p:cNvPicPr>
          <p:nvPr/>
        </p:nvPicPr>
        <p:blipFill>
          <a:blip r:embed="rId3"/>
          <a:stretch>
            <a:fillRect/>
          </a:stretch>
        </p:blipFill>
        <p:spPr>
          <a:xfrm>
            <a:off x="0" y="0"/>
            <a:ext cx="5163671" cy="1148799"/>
          </a:xfrm>
          <a:prstGeom prst="rect">
            <a:avLst/>
          </a:prstGeom>
        </p:spPr>
      </p:pic>
      <p:sp>
        <p:nvSpPr>
          <p:cNvPr id="5" name="文本框 4"/>
          <p:cNvSpPr txBox="1"/>
          <p:nvPr/>
        </p:nvSpPr>
        <p:spPr>
          <a:xfrm>
            <a:off x="1995804" y="471001"/>
            <a:ext cx="4530501" cy="523220"/>
          </a:xfrm>
          <a:prstGeom prst="rect">
            <a:avLst/>
          </a:prstGeom>
          <a:noFill/>
        </p:spPr>
        <p:txBody>
          <a:bodyPr wrap="square" rtlCol="0">
            <a:spAutoFit/>
          </a:bodyPr>
          <a:lstStyle/>
          <a:p>
            <a:r>
              <a:rPr lang="en-US" altLang="zh-CN" sz="2800" b="1" dirty="0">
                <a:solidFill>
                  <a:srgbClr val="136FB8"/>
                </a:solidFill>
              </a:rPr>
              <a:t>2.2. </a:t>
            </a:r>
            <a:r>
              <a:rPr lang="zh-CN" altLang="en-US" sz="2800" b="1" dirty="0">
                <a:solidFill>
                  <a:srgbClr val="136FB8"/>
                </a:solidFill>
              </a:rPr>
              <a:t>车速采集处理</a:t>
            </a:r>
            <a:r>
              <a:rPr lang="en-US" altLang="zh-CN" sz="2800" b="1" dirty="0">
                <a:solidFill>
                  <a:srgbClr val="136FB8"/>
                </a:solidFill>
              </a:rPr>
              <a:t>(F_Senser)</a:t>
            </a:r>
            <a:endParaRPr lang="zh-CN" altLang="en-US" sz="2800" b="1" dirty="0">
              <a:solidFill>
                <a:srgbClr val="136FB8"/>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5741022" y="1201271"/>
            <a:ext cx="4417950" cy="5429564"/>
          </a:xfrm>
          <a:prstGeom prst="rect">
            <a:avLst/>
          </a:prstGeom>
        </p:spPr>
      </p:pic>
      <p:sp>
        <p:nvSpPr>
          <p:cNvPr id="2" name="标题 1"/>
          <p:cNvSpPr>
            <a:spLocks noGrp="1"/>
          </p:cNvSpPr>
          <p:nvPr>
            <p:ph type="title"/>
          </p:nvPr>
        </p:nvSpPr>
        <p:spPr>
          <a:xfrm>
            <a:off x="886326" y="142457"/>
            <a:ext cx="3856271" cy="392864"/>
          </a:xfrm>
        </p:spPr>
        <p:txBody>
          <a:bodyPr>
            <a:normAutofit fontScale="90000"/>
          </a:bodyPr>
          <a:lstStyle/>
          <a:p>
            <a:r>
              <a:rPr lang="en-US" altLang="zh-CN" sz="2000" dirty="0">
                <a:solidFill>
                  <a:schemeClr val="bg1"/>
                </a:solidFill>
                <a:latin typeface="+mn-ea"/>
                <a:ea typeface="+mn-ea"/>
              </a:rPr>
              <a:t>2.3. </a:t>
            </a:r>
            <a:r>
              <a:rPr lang="zh-CN" altLang="en-US" sz="2000" dirty="0">
                <a:solidFill>
                  <a:schemeClr val="bg1"/>
                </a:solidFill>
                <a:latin typeface="+mn-ea"/>
                <a:ea typeface="+mn-ea"/>
              </a:rPr>
              <a:t>油门控制功能</a:t>
            </a:r>
            <a:r>
              <a:rPr lang="en-US" altLang="zh-CN" sz="2000" dirty="0">
                <a:solidFill>
                  <a:schemeClr val="bg1"/>
                </a:solidFill>
                <a:latin typeface="+mn-ea"/>
                <a:ea typeface="+mn-ea"/>
              </a:rPr>
              <a:t>(</a:t>
            </a:r>
            <a:r>
              <a:rPr lang="en-US" altLang="zh-CN" sz="2000" dirty="0" err="1">
                <a:solidFill>
                  <a:schemeClr val="bg1"/>
                </a:solidFill>
                <a:latin typeface="+mn-ea"/>
                <a:ea typeface="+mn-ea"/>
              </a:rPr>
              <a:t>F_Accelerator</a:t>
            </a:r>
            <a:r>
              <a:rPr lang="en-US" altLang="zh-CN" sz="2000" dirty="0">
                <a:solidFill>
                  <a:schemeClr val="bg1"/>
                </a:solidFill>
                <a:latin typeface="+mn-ea"/>
                <a:ea typeface="+mn-ea"/>
              </a:rPr>
              <a:t>)</a:t>
            </a:r>
            <a:endParaRPr lang="zh-CN" altLang="en-US" sz="2000" dirty="0">
              <a:solidFill>
                <a:schemeClr val="bg1"/>
              </a:solidFill>
              <a:latin typeface="+mn-ea"/>
              <a:ea typeface="+mn-ea"/>
            </a:endParaRPr>
          </a:p>
        </p:txBody>
      </p:sp>
      <p:cxnSp>
        <p:nvCxnSpPr>
          <p:cNvPr id="11" name="直接箭头连接符 10"/>
          <p:cNvCxnSpPr>
            <a:stCxn id="54" idx="3"/>
            <a:endCxn id="71" idx="1"/>
          </p:cNvCxnSpPr>
          <p:nvPr/>
        </p:nvCxnSpPr>
        <p:spPr>
          <a:xfrm flipV="1">
            <a:off x="4582049" y="2514164"/>
            <a:ext cx="1424276" cy="706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flipH="1">
            <a:off x="624563" y="2082739"/>
            <a:ext cx="1771350" cy="307777"/>
          </a:xfrm>
          <a:prstGeom prst="rect">
            <a:avLst/>
          </a:prstGeom>
          <a:noFill/>
        </p:spPr>
        <p:txBody>
          <a:bodyPr wrap="square">
            <a:spAutoFit/>
          </a:bodyPr>
          <a:lstStyle/>
          <a:p>
            <a:r>
              <a:rPr lang="zh-CN" altLang="en-US" sz="1400" b="1" dirty="0">
                <a:solidFill>
                  <a:srgbClr val="000000"/>
                </a:solidFill>
                <a:latin typeface="+mn-ea"/>
              </a:rPr>
              <a:t>测试思路</a:t>
            </a:r>
            <a:endParaRPr lang="en-US" altLang="zh-CN" sz="1400" b="1" dirty="0">
              <a:solidFill>
                <a:srgbClr val="000000"/>
              </a:solidFill>
              <a:latin typeface="+mn-ea"/>
            </a:endParaRPr>
          </a:p>
        </p:txBody>
      </p:sp>
      <p:sp>
        <p:nvSpPr>
          <p:cNvPr id="57" name="文本框 56"/>
          <p:cNvSpPr txBox="1"/>
          <p:nvPr/>
        </p:nvSpPr>
        <p:spPr>
          <a:xfrm>
            <a:off x="732727" y="2347420"/>
            <a:ext cx="3564355" cy="600164"/>
          </a:xfrm>
          <a:prstGeom prst="rect">
            <a:avLst/>
          </a:prstGeom>
          <a:solidFill>
            <a:schemeClr val="accent6">
              <a:lumMod val="20000"/>
              <a:lumOff val="80000"/>
            </a:schemeClr>
          </a:solidFill>
        </p:spPr>
        <p:txBody>
          <a:bodyPr wrap="square">
            <a:spAutoFit/>
          </a:bodyPr>
          <a:lstStyle/>
          <a:p>
            <a:r>
              <a:rPr lang="zh-CN" altLang="en-US" sz="1100" b="1" dirty="0">
                <a:latin typeface="+mn-ea"/>
              </a:rPr>
              <a:t>设定车速为 </a:t>
            </a:r>
            <a:r>
              <a:rPr lang="en-US" altLang="zh-CN" sz="1100" b="1" dirty="0">
                <a:latin typeface="+mn-ea"/>
              </a:rPr>
              <a:t>80</a:t>
            </a:r>
            <a:endParaRPr lang="en-US" altLang="zh-CN" sz="1100" b="1" dirty="0">
              <a:latin typeface="+mn-ea"/>
            </a:endParaRPr>
          </a:p>
          <a:p>
            <a:r>
              <a:rPr lang="zh-CN" altLang="en-US" sz="1100" dirty="0">
                <a:latin typeface="+mn-ea"/>
              </a:rPr>
              <a:t>发送一次加速指令，设定速度加一，</a:t>
            </a:r>
            <a:endParaRPr lang="en-US" altLang="zh-CN" sz="1100" dirty="0">
              <a:latin typeface="+mn-ea"/>
            </a:endParaRPr>
          </a:p>
          <a:p>
            <a:r>
              <a:rPr lang="zh-CN" altLang="en-US" sz="1100" dirty="0">
                <a:latin typeface="+mn-ea"/>
              </a:rPr>
              <a:t>共发送</a:t>
            </a:r>
            <a:r>
              <a:rPr lang="en-US" altLang="zh-CN" sz="1100" dirty="0">
                <a:latin typeface="+mn-ea"/>
              </a:rPr>
              <a:t>80</a:t>
            </a:r>
            <a:r>
              <a:rPr lang="zh-CN" altLang="en-US" sz="1100" dirty="0">
                <a:latin typeface="+mn-ea"/>
              </a:rPr>
              <a:t>次，设定车速由</a:t>
            </a:r>
            <a:r>
              <a:rPr lang="en-US" altLang="zh-CN" sz="1100" dirty="0">
                <a:latin typeface="+mn-ea"/>
              </a:rPr>
              <a:t>0</a:t>
            </a:r>
            <a:r>
              <a:rPr lang="zh-CN" altLang="en-US" sz="1100" dirty="0">
                <a:latin typeface="+mn-ea"/>
              </a:rPr>
              <a:t>加速到</a:t>
            </a:r>
            <a:r>
              <a:rPr lang="en-US" altLang="zh-CN" sz="1100" dirty="0">
                <a:latin typeface="+mn-ea"/>
              </a:rPr>
              <a:t>80</a:t>
            </a:r>
            <a:endParaRPr lang="en-US" altLang="zh-CN" sz="1100" dirty="0">
              <a:latin typeface="+mn-ea"/>
            </a:endParaRPr>
          </a:p>
        </p:txBody>
      </p:sp>
      <p:sp>
        <p:nvSpPr>
          <p:cNvPr id="64" name="文本框 63"/>
          <p:cNvSpPr txBox="1"/>
          <p:nvPr/>
        </p:nvSpPr>
        <p:spPr>
          <a:xfrm>
            <a:off x="666690" y="1321403"/>
            <a:ext cx="4107977" cy="847283"/>
          </a:xfrm>
          <a:prstGeom prst="rect">
            <a:avLst/>
          </a:prstGeom>
          <a:noFill/>
        </p:spPr>
        <p:txBody>
          <a:bodyPr wrap="square">
            <a:spAutoFit/>
          </a:bodyPr>
          <a:lstStyle>
            <a:defPPr>
              <a:defRPr lang="zh-CN"/>
            </a:defPPr>
            <a:lvl1pPr>
              <a:defRPr sz="1200">
                <a:solidFill>
                  <a:srgbClr val="000000"/>
                </a:solidFill>
                <a:latin typeface="+mn-ea"/>
              </a:defRPr>
            </a:lvl1pPr>
          </a:lstStyle>
          <a:p>
            <a:pPr marL="171450" indent="-171450">
              <a:lnSpc>
                <a:spcPts val="1500"/>
              </a:lnSpc>
              <a:buFont typeface="Arial" panose="020B0604020202020204" pitchFamily="34" charset="0"/>
              <a:buChar char="•"/>
            </a:pPr>
            <a:r>
              <a:rPr lang="zh-CN" altLang="en-US" sz="1100" dirty="0"/>
              <a:t>设定车速为 </a:t>
            </a:r>
            <a:r>
              <a:rPr lang="en-US" altLang="zh-CN" sz="1100" dirty="0"/>
              <a:t>80</a:t>
            </a:r>
            <a:endParaRPr lang="en-US" altLang="zh-CN" sz="1100" dirty="0"/>
          </a:p>
          <a:p>
            <a:pPr marL="171450" indent="-171450">
              <a:lnSpc>
                <a:spcPts val="1500"/>
              </a:lnSpc>
              <a:buFont typeface="Arial" panose="020B0604020202020204" pitchFamily="34" charset="0"/>
              <a:buChar char="•"/>
            </a:pPr>
            <a:r>
              <a:rPr lang="zh-CN" altLang="en-US" sz="1100" dirty="0"/>
              <a:t>连续 </a:t>
            </a:r>
            <a:r>
              <a:rPr lang="en-US" altLang="zh-CN" sz="1100" dirty="0"/>
              <a:t>10 </a:t>
            </a:r>
            <a:r>
              <a:rPr lang="zh-CN" altLang="en-US" sz="1100" dirty="0"/>
              <a:t>次输入实际车速为</a:t>
            </a:r>
            <a:r>
              <a:rPr lang="en-US" altLang="zh-CN" sz="1100" dirty="0"/>
              <a:t>[60, 63, 67, 71, 73, 76, 79, 81, 83, 85]</a:t>
            </a:r>
            <a:r>
              <a:rPr lang="zh-CN" altLang="en-US" sz="1100" dirty="0"/>
              <a:t>时，第 </a:t>
            </a:r>
            <a:r>
              <a:rPr lang="en-US" altLang="zh-CN" sz="1100" dirty="0"/>
              <a:t>10 </a:t>
            </a:r>
            <a:r>
              <a:rPr lang="zh-CN" altLang="en-US" sz="1100" dirty="0"/>
              <a:t>次的预期输出电压值，并测试被测件的实际输出是否正确。</a:t>
            </a:r>
            <a:endParaRPr lang="en-US" altLang="zh-CN" sz="1100" dirty="0"/>
          </a:p>
        </p:txBody>
      </p:sp>
      <p:sp>
        <p:nvSpPr>
          <p:cNvPr id="71" name="左大括号 70"/>
          <p:cNvSpPr/>
          <p:nvPr/>
        </p:nvSpPr>
        <p:spPr>
          <a:xfrm>
            <a:off x="6006325" y="2183036"/>
            <a:ext cx="106493" cy="6622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pic>
        <p:nvPicPr>
          <p:cNvPr id="5" name="图片 4"/>
          <p:cNvPicPr>
            <a:picLocks noChangeAspect="1"/>
          </p:cNvPicPr>
          <p:nvPr/>
        </p:nvPicPr>
        <p:blipFill>
          <a:blip r:embed="rId2"/>
          <a:stretch>
            <a:fillRect/>
          </a:stretch>
        </p:blipFill>
        <p:spPr>
          <a:xfrm>
            <a:off x="10682754" y="1697869"/>
            <a:ext cx="1332442" cy="1730080"/>
          </a:xfrm>
          <a:prstGeom prst="rect">
            <a:avLst/>
          </a:prstGeom>
        </p:spPr>
      </p:pic>
      <p:cxnSp>
        <p:nvCxnSpPr>
          <p:cNvPr id="8" name="直接箭头连接符 7"/>
          <p:cNvCxnSpPr/>
          <p:nvPr/>
        </p:nvCxnSpPr>
        <p:spPr>
          <a:xfrm flipV="1">
            <a:off x="7949997" y="1936376"/>
            <a:ext cx="2731765" cy="13300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722677" y="3484590"/>
            <a:ext cx="3849323" cy="261610"/>
          </a:xfrm>
          <a:prstGeom prst="rect">
            <a:avLst/>
          </a:prstGeom>
          <a:solidFill>
            <a:schemeClr val="accent6">
              <a:lumMod val="20000"/>
              <a:lumOff val="80000"/>
            </a:schemeClr>
          </a:solidFill>
        </p:spPr>
        <p:txBody>
          <a:bodyPr wrap="square">
            <a:spAutoFit/>
          </a:bodyPr>
          <a:lstStyle/>
          <a:p>
            <a:r>
              <a:rPr lang="zh-CN" altLang="en-US" sz="1100" dirty="0">
                <a:solidFill>
                  <a:srgbClr val="000000"/>
                </a:solidFill>
                <a:latin typeface="+mn-ea"/>
              </a:rPr>
              <a:t>根据前三次车速（含当前车速）和</a:t>
            </a:r>
            <a:r>
              <a:rPr lang="zh-CN" altLang="en-US" sz="1100">
                <a:solidFill>
                  <a:srgbClr val="000000"/>
                </a:solidFill>
                <a:latin typeface="+mn-ea"/>
              </a:rPr>
              <a:t>上次电压，计算</a:t>
            </a:r>
            <a:r>
              <a:rPr lang="zh-CN" altLang="en-US" sz="1100" dirty="0">
                <a:solidFill>
                  <a:srgbClr val="000000"/>
                </a:solidFill>
                <a:latin typeface="+mn-ea"/>
              </a:rPr>
              <a:t>当前电压。</a:t>
            </a:r>
            <a:endParaRPr lang="en-US" altLang="zh-CN" sz="1100" dirty="0">
              <a:solidFill>
                <a:srgbClr val="000000"/>
              </a:solidFill>
              <a:latin typeface="+mn-ea"/>
            </a:endParaRPr>
          </a:p>
        </p:txBody>
      </p:sp>
      <p:sp>
        <p:nvSpPr>
          <p:cNvPr id="29" name="左大括号 28"/>
          <p:cNvSpPr/>
          <p:nvPr/>
        </p:nvSpPr>
        <p:spPr>
          <a:xfrm>
            <a:off x="6088742" y="2976096"/>
            <a:ext cx="106493" cy="70923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cxnSp>
        <p:nvCxnSpPr>
          <p:cNvPr id="17" name="直接箭头连接符 16"/>
          <p:cNvCxnSpPr/>
          <p:nvPr/>
        </p:nvCxnSpPr>
        <p:spPr>
          <a:xfrm flipV="1">
            <a:off x="4312931" y="1736882"/>
            <a:ext cx="1630758" cy="11560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左大括号 33"/>
          <p:cNvSpPr/>
          <p:nvPr/>
        </p:nvSpPr>
        <p:spPr>
          <a:xfrm>
            <a:off x="5982249" y="1479646"/>
            <a:ext cx="106493" cy="49679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cxnSp>
        <p:nvCxnSpPr>
          <p:cNvPr id="40" name="直接箭头连接符 39"/>
          <p:cNvCxnSpPr>
            <a:stCxn id="21" idx="3"/>
            <a:endCxn id="29" idx="1"/>
          </p:cNvCxnSpPr>
          <p:nvPr/>
        </p:nvCxnSpPr>
        <p:spPr>
          <a:xfrm flipV="1">
            <a:off x="4572000" y="3330716"/>
            <a:ext cx="1516742" cy="2846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722677" y="4101556"/>
            <a:ext cx="3664051" cy="2631490"/>
          </a:xfrm>
          <a:prstGeom prst="rect">
            <a:avLst/>
          </a:prstGeom>
          <a:solidFill>
            <a:schemeClr val="accent6">
              <a:lumMod val="20000"/>
              <a:lumOff val="80000"/>
            </a:schemeClr>
          </a:solidFill>
        </p:spPr>
        <p:txBody>
          <a:bodyPr wrap="square">
            <a:spAutoFit/>
          </a:bodyPr>
          <a:lstStyle/>
          <a:p>
            <a:r>
              <a:rPr lang="zh-CN" altLang="en-US" sz="1100" b="1" dirty="0">
                <a:solidFill>
                  <a:srgbClr val="000000"/>
                </a:solidFill>
                <a:latin typeface="+mn-ea"/>
              </a:rPr>
              <a:t>电压函数参数：</a:t>
            </a:r>
            <a:endParaRPr lang="en-US" altLang="zh-CN" sz="1100" b="1" dirty="0">
              <a:solidFill>
                <a:srgbClr val="000000"/>
              </a:solidFill>
              <a:latin typeface="+mn-ea"/>
            </a:endParaRPr>
          </a:p>
          <a:p>
            <a:pPr marL="228600" indent="-228600">
              <a:buFont typeface="+mj-lt"/>
              <a:buAutoNum type="arabicPeriod"/>
            </a:pPr>
            <a:r>
              <a:rPr lang="zh-CN" altLang="en-US" sz="1100" dirty="0">
                <a:solidFill>
                  <a:srgbClr val="000000"/>
                </a:solidFill>
                <a:latin typeface="+mn-ea"/>
              </a:rPr>
              <a:t>当前车速：</a:t>
            </a:r>
            <a:r>
              <a:rPr lang="en-US" altLang="zh-CN" sz="1100" dirty="0">
                <a:solidFill>
                  <a:srgbClr val="000000"/>
                </a:solidFill>
                <a:latin typeface="+mn-ea"/>
              </a:rPr>
              <a:t>V(</a:t>
            </a:r>
            <a:r>
              <a:rPr lang="zh-CN" altLang="en-US" sz="1100" dirty="0">
                <a:solidFill>
                  <a:srgbClr val="000000"/>
                </a:solidFill>
                <a:latin typeface="+mn-ea"/>
              </a:rPr>
              <a:t>𝑘</a:t>
            </a:r>
            <a:r>
              <a:rPr lang="en-US" altLang="zh-CN" sz="1100" dirty="0">
                <a:solidFill>
                  <a:srgbClr val="000000"/>
                </a:solidFill>
                <a:latin typeface="+mn-ea"/>
              </a:rPr>
              <a:t>)</a:t>
            </a:r>
            <a:endParaRPr lang="en-US" altLang="zh-CN" sz="1100" dirty="0">
              <a:solidFill>
                <a:srgbClr val="000000"/>
              </a:solidFill>
              <a:latin typeface="+mn-ea"/>
            </a:endParaRPr>
          </a:p>
          <a:p>
            <a:pPr marL="228600" indent="-228600">
              <a:buFont typeface="+mj-lt"/>
              <a:buAutoNum type="arabicPeriod"/>
            </a:pPr>
            <a:r>
              <a:rPr lang="zh-CN" altLang="en-US" sz="1100" dirty="0">
                <a:solidFill>
                  <a:srgbClr val="000000"/>
                </a:solidFill>
                <a:latin typeface="+mn-ea"/>
              </a:rPr>
              <a:t>上次车速： </a:t>
            </a:r>
            <a:r>
              <a:rPr lang="en-US" altLang="zh-CN" sz="1100" dirty="0">
                <a:solidFill>
                  <a:srgbClr val="000000"/>
                </a:solidFill>
                <a:latin typeface="+mn-ea"/>
              </a:rPr>
              <a:t>V(</a:t>
            </a:r>
            <a:r>
              <a:rPr lang="zh-CN" altLang="en-US" sz="1100" dirty="0">
                <a:solidFill>
                  <a:srgbClr val="000000"/>
                </a:solidFill>
                <a:latin typeface="+mn-ea"/>
              </a:rPr>
              <a:t>𝑘</a:t>
            </a:r>
            <a:r>
              <a:rPr lang="en-US" altLang="zh-CN" sz="1100" dirty="0">
                <a:solidFill>
                  <a:srgbClr val="000000"/>
                </a:solidFill>
                <a:latin typeface="+mn-ea"/>
              </a:rPr>
              <a:t>-1)</a:t>
            </a:r>
            <a:endParaRPr lang="en-US" altLang="zh-CN" sz="1100" dirty="0">
              <a:solidFill>
                <a:srgbClr val="000000"/>
              </a:solidFill>
              <a:latin typeface="+mn-ea"/>
            </a:endParaRPr>
          </a:p>
          <a:p>
            <a:pPr marL="228600" indent="-228600">
              <a:buFont typeface="+mj-lt"/>
              <a:buAutoNum type="arabicPeriod"/>
            </a:pPr>
            <a:r>
              <a:rPr lang="zh-CN" altLang="en-US" sz="1100" dirty="0">
                <a:solidFill>
                  <a:srgbClr val="000000"/>
                </a:solidFill>
                <a:latin typeface="+mn-ea"/>
              </a:rPr>
              <a:t>上上次车速： </a:t>
            </a:r>
            <a:r>
              <a:rPr lang="en-US" altLang="zh-CN" sz="1100" dirty="0">
                <a:solidFill>
                  <a:srgbClr val="000000"/>
                </a:solidFill>
                <a:latin typeface="+mn-ea"/>
              </a:rPr>
              <a:t>V(</a:t>
            </a:r>
            <a:r>
              <a:rPr lang="zh-CN" altLang="en-US" sz="1100" dirty="0">
                <a:solidFill>
                  <a:srgbClr val="000000"/>
                </a:solidFill>
                <a:latin typeface="+mn-ea"/>
              </a:rPr>
              <a:t>𝑘</a:t>
            </a:r>
            <a:r>
              <a:rPr lang="en-US" altLang="zh-CN" sz="1100" dirty="0">
                <a:solidFill>
                  <a:srgbClr val="000000"/>
                </a:solidFill>
                <a:latin typeface="+mn-ea"/>
              </a:rPr>
              <a:t>-2)</a:t>
            </a:r>
            <a:endParaRPr lang="en-US" altLang="zh-CN" sz="1100" dirty="0">
              <a:solidFill>
                <a:srgbClr val="000000"/>
              </a:solidFill>
              <a:latin typeface="+mn-ea"/>
            </a:endParaRPr>
          </a:p>
          <a:p>
            <a:pPr marL="228600" indent="-228600">
              <a:buFont typeface="+mj-lt"/>
              <a:buAutoNum type="arabicPeriod"/>
            </a:pPr>
            <a:r>
              <a:rPr lang="zh-CN" altLang="en-US" sz="1100" dirty="0">
                <a:solidFill>
                  <a:srgbClr val="000000"/>
                </a:solidFill>
                <a:latin typeface="+mn-ea"/>
              </a:rPr>
              <a:t>上次输出电压：</a:t>
            </a:r>
            <a:r>
              <a:rPr lang="en-US" altLang="zh-CN" sz="1100" dirty="0">
                <a:solidFill>
                  <a:srgbClr val="000000"/>
                </a:solidFill>
                <a:latin typeface="+mn-ea"/>
              </a:rPr>
              <a:t> U(k−1)</a:t>
            </a:r>
            <a:endParaRPr lang="en-US" altLang="zh-CN" sz="1100" dirty="0">
              <a:solidFill>
                <a:srgbClr val="000000"/>
              </a:solidFill>
              <a:latin typeface="+mn-ea"/>
            </a:endParaRPr>
          </a:p>
          <a:p>
            <a:endParaRPr lang="en-US" altLang="zh-CN" sz="1100" dirty="0">
              <a:solidFill>
                <a:srgbClr val="000000"/>
              </a:solidFill>
              <a:latin typeface="+mn-ea"/>
            </a:endParaRPr>
          </a:p>
          <a:p>
            <a:r>
              <a:rPr lang="zh-CN" altLang="en-US" sz="1100" b="1" dirty="0">
                <a:solidFill>
                  <a:srgbClr val="000000"/>
                </a:solidFill>
                <a:latin typeface="+mn-ea"/>
              </a:rPr>
              <a:t>控制系数</a:t>
            </a:r>
            <a:r>
              <a:rPr lang="zh-CN" altLang="en-US" sz="1100" dirty="0">
                <a:solidFill>
                  <a:srgbClr val="000000"/>
                </a:solidFill>
                <a:latin typeface="+mn-ea"/>
              </a:rPr>
              <a:t>：</a:t>
            </a:r>
            <a:r>
              <a:rPr lang="en-US" altLang="zh-CN" sz="1100" dirty="0" err="1">
                <a:solidFill>
                  <a:srgbClr val="000000"/>
                </a:solidFill>
                <a:latin typeface="+mn-ea"/>
              </a:rPr>
              <a:t>Dp</a:t>
            </a:r>
            <a:r>
              <a:rPr lang="en-US" altLang="zh-CN" sz="1100" dirty="0">
                <a:solidFill>
                  <a:srgbClr val="000000"/>
                </a:solidFill>
                <a:latin typeface="+mn-ea"/>
              </a:rPr>
              <a:t>=0.05</a:t>
            </a:r>
            <a:r>
              <a:rPr lang="zh-CN" altLang="en-US" sz="1100" dirty="0">
                <a:solidFill>
                  <a:srgbClr val="000000"/>
                </a:solidFill>
                <a:latin typeface="+mn-ea"/>
              </a:rPr>
              <a:t>、</a:t>
            </a:r>
            <a:r>
              <a:rPr lang="en-US" altLang="zh-CN" sz="1100" dirty="0">
                <a:solidFill>
                  <a:srgbClr val="000000"/>
                </a:solidFill>
                <a:latin typeface="+mn-ea"/>
              </a:rPr>
              <a:t>Di=0.1</a:t>
            </a:r>
            <a:r>
              <a:rPr lang="zh-CN" altLang="en-US" sz="1100" dirty="0">
                <a:solidFill>
                  <a:srgbClr val="000000"/>
                </a:solidFill>
                <a:latin typeface="+mn-ea"/>
              </a:rPr>
              <a:t>、</a:t>
            </a:r>
            <a:r>
              <a:rPr lang="en-US" altLang="zh-CN" sz="1100" dirty="0">
                <a:solidFill>
                  <a:srgbClr val="000000"/>
                </a:solidFill>
                <a:latin typeface="+mn-ea"/>
              </a:rPr>
              <a:t>Dd=0.1</a:t>
            </a:r>
            <a:endParaRPr lang="en-US" altLang="zh-CN" sz="1100" dirty="0">
              <a:solidFill>
                <a:srgbClr val="000000"/>
              </a:solidFill>
              <a:latin typeface="+mn-ea"/>
            </a:endParaRPr>
          </a:p>
          <a:p>
            <a:r>
              <a:rPr lang="zh-CN" altLang="en-US" sz="1100" b="1" dirty="0">
                <a:solidFill>
                  <a:srgbClr val="000000"/>
                </a:solidFill>
                <a:latin typeface="+mn-ea"/>
              </a:rPr>
              <a:t>设定车速</a:t>
            </a:r>
            <a:r>
              <a:rPr lang="zh-CN" altLang="en-US" sz="1100" dirty="0">
                <a:solidFill>
                  <a:srgbClr val="000000"/>
                </a:solidFill>
                <a:latin typeface="+mn-ea"/>
              </a:rPr>
              <a:t>：</a:t>
            </a:r>
            <a:r>
              <a:rPr lang="en-US" altLang="zh-CN" sz="1100" dirty="0" err="1">
                <a:solidFill>
                  <a:srgbClr val="000000"/>
                </a:solidFill>
                <a:latin typeface="+mn-ea"/>
              </a:rPr>
              <a:t>vd</a:t>
            </a:r>
            <a:r>
              <a:rPr lang="en-US" altLang="zh-CN" sz="1100" dirty="0">
                <a:solidFill>
                  <a:srgbClr val="000000"/>
                </a:solidFill>
                <a:latin typeface="+mn-ea"/>
              </a:rPr>
              <a:t>=80</a:t>
            </a:r>
            <a:endParaRPr lang="en-US" altLang="zh-CN" sz="1100" dirty="0">
              <a:solidFill>
                <a:srgbClr val="000000"/>
              </a:solidFill>
              <a:latin typeface="+mn-ea"/>
            </a:endParaRPr>
          </a:p>
          <a:p>
            <a:endParaRPr lang="en-US" altLang="zh-CN" sz="1100" dirty="0">
              <a:solidFill>
                <a:srgbClr val="000000"/>
              </a:solidFill>
              <a:latin typeface="+mn-ea"/>
            </a:endParaRPr>
          </a:p>
          <a:p>
            <a:r>
              <a:rPr lang="zh-CN" altLang="en-US" sz="1100" b="1" dirty="0">
                <a:solidFill>
                  <a:srgbClr val="000000"/>
                </a:solidFill>
                <a:latin typeface="+mn-ea"/>
              </a:rPr>
              <a:t>控速差值公式</a:t>
            </a:r>
            <a:r>
              <a:rPr lang="zh-CN" altLang="en-US" sz="1100" dirty="0">
                <a:solidFill>
                  <a:srgbClr val="000000"/>
                </a:solidFill>
                <a:latin typeface="+mn-ea"/>
              </a:rPr>
              <a:t>：</a:t>
            </a:r>
            <a:r>
              <a:rPr lang="en-US" altLang="zh-CN" sz="1100" dirty="0">
                <a:solidFill>
                  <a:srgbClr val="000000"/>
                </a:solidFill>
                <a:latin typeface="+mn-ea"/>
              </a:rPr>
              <a:t>e(k) = V</a:t>
            </a:r>
            <a:r>
              <a:rPr lang="zh-CN" altLang="en-US" sz="1100" dirty="0">
                <a:solidFill>
                  <a:srgbClr val="000000"/>
                </a:solidFill>
                <a:latin typeface="+mn-ea"/>
              </a:rPr>
              <a:t>𝑑 − </a:t>
            </a:r>
            <a:r>
              <a:rPr lang="en-US" altLang="zh-CN" sz="1100" dirty="0">
                <a:solidFill>
                  <a:srgbClr val="000000"/>
                </a:solidFill>
                <a:latin typeface="+mn-ea"/>
              </a:rPr>
              <a:t>V(</a:t>
            </a:r>
            <a:r>
              <a:rPr lang="zh-CN" altLang="en-US" sz="1100" dirty="0">
                <a:solidFill>
                  <a:srgbClr val="000000"/>
                </a:solidFill>
                <a:latin typeface="+mn-ea"/>
              </a:rPr>
              <a:t>𝑘</a:t>
            </a:r>
            <a:r>
              <a:rPr lang="en-US" altLang="zh-CN" sz="1100" dirty="0">
                <a:solidFill>
                  <a:srgbClr val="000000"/>
                </a:solidFill>
                <a:latin typeface="+mn-ea"/>
              </a:rPr>
              <a:t>)</a:t>
            </a:r>
            <a:endParaRPr lang="en-US" altLang="zh-CN" sz="1100" dirty="0">
              <a:solidFill>
                <a:srgbClr val="000000"/>
              </a:solidFill>
              <a:latin typeface="+mn-ea"/>
            </a:endParaRPr>
          </a:p>
          <a:p>
            <a:r>
              <a:rPr lang="zh-CN" altLang="en-US" sz="1100" b="1" dirty="0">
                <a:solidFill>
                  <a:srgbClr val="000000"/>
                </a:solidFill>
                <a:latin typeface="+mn-ea"/>
              </a:rPr>
              <a:t>电压公式</a:t>
            </a:r>
            <a:r>
              <a:rPr lang="zh-CN" altLang="en-US" sz="1100" dirty="0">
                <a:solidFill>
                  <a:srgbClr val="000000"/>
                </a:solidFill>
                <a:latin typeface="+mn-ea"/>
              </a:rPr>
              <a:t>：</a:t>
            </a:r>
            <a:endParaRPr lang="en-US" altLang="zh-CN" sz="1100" dirty="0">
              <a:solidFill>
                <a:srgbClr val="000000"/>
              </a:solidFill>
              <a:latin typeface="+mn-ea"/>
            </a:endParaRPr>
          </a:p>
          <a:p>
            <a:r>
              <a:rPr lang="en-US" altLang="zh-CN" sz="1100" dirty="0">
                <a:solidFill>
                  <a:srgbClr val="000000"/>
                </a:solidFill>
                <a:latin typeface="+mn-ea"/>
              </a:rPr>
              <a:t>U(K) = </a:t>
            </a:r>
            <a:r>
              <a:rPr lang="en-US" altLang="zh-CN" sz="1100" dirty="0" err="1">
                <a:solidFill>
                  <a:srgbClr val="000000"/>
                </a:solidFill>
                <a:latin typeface="+mn-ea"/>
              </a:rPr>
              <a:t>Dp</a:t>
            </a:r>
            <a:r>
              <a:rPr lang="en-US" altLang="zh-CN" sz="1100" dirty="0">
                <a:solidFill>
                  <a:srgbClr val="000000"/>
                </a:solidFill>
                <a:latin typeface="+mn-ea"/>
              </a:rPr>
              <a:t>∗ [e(k) − e(k−1)] </a:t>
            </a:r>
            <a:endParaRPr lang="en-US" altLang="zh-CN" sz="1100" dirty="0">
              <a:solidFill>
                <a:srgbClr val="000000"/>
              </a:solidFill>
              <a:latin typeface="+mn-ea"/>
            </a:endParaRPr>
          </a:p>
          <a:p>
            <a:r>
              <a:rPr lang="en-US" altLang="zh-CN" sz="1100" dirty="0">
                <a:solidFill>
                  <a:srgbClr val="000000"/>
                </a:solidFill>
                <a:latin typeface="+mn-ea"/>
              </a:rPr>
              <a:t>        + Di ∗ e(k) </a:t>
            </a:r>
            <a:endParaRPr lang="en-US" altLang="zh-CN" sz="1100" dirty="0">
              <a:solidFill>
                <a:srgbClr val="000000"/>
              </a:solidFill>
              <a:latin typeface="+mn-ea"/>
            </a:endParaRPr>
          </a:p>
          <a:p>
            <a:r>
              <a:rPr lang="en-US" altLang="zh-CN" sz="1100" dirty="0">
                <a:solidFill>
                  <a:srgbClr val="000000"/>
                </a:solidFill>
                <a:latin typeface="+mn-ea"/>
              </a:rPr>
              <a:t>        + Dd ∗ [e(k) − 2e(k−1) + e(k−2)]</a:t>
            </a:r>
            <a:endParaRPr lang="en-US" altLang="zh-CN" sz="1100" dirty="0">
              <a:solidFill>
                <a:srgbClr val="000000"/>
              </a:solidFill>
              <a:latin typeface="+mn-ea"/>
            </a:endParaRPr>
          </a:p>
          <a:p>
            <a:r>
              <a:rPr lang="en-US" altLang="zh-CN" sz="1100" dirty="0">
                <a:solidFill>
                  <a:srgbClr val="000000"/>
                </a:solidFill>
                <a:latin typeface="+mn-ea"/>
              </a:rPr>
              <a:t>        + U(k−1)</a:t>
            </a:r>
            <a:endParaRPr lang="en-US" altLang="zh-CN" sz="1100" dirty="0">
              <a:solidFill>
                <a:srgbClr val="000000"/>
              </a:solidFill>
              <a:latin typeface="+mn-ea"/>
            </a:endParaRPr>
          </a:p>
        </p:txBody>
      </p:sp>
      <p:cxnSp>
        <p:nvCxnSpPr>
          <p:cNvPr id="46" name="直接箭头连接符 45"/>
          <p:cNvCxnSpPr/>
          <p:nvPr/>
        </p:nvCxnSpPr>
        <p:spPr>
          <a:xfrm flipV="1">
            <a:off x="4386728" y="5838074"/>
            <a:ext cx="1373844" cy="222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左大括号 47"/>
          <p:cNvSpPr/>
          <p:nvPr/>
        </p:nvSpPr>
        <p:spPr>
          <a:xfrm>
            <a:off x="5816375" y="5121835"/>
            <a:ext cx="235425" cy="143247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54" name="文本框 53"/>
          <p:cNvSpPr txBox="1"/>
          <p:nvPr/>
        </p:nvSpPr>
        <p:spPr>
          <a:xfrm>
            <a:off x="732726" y="3004970"/>
            <a:ext cx="3849323" cy="430887"/>
          </a:xfrm>
          <a:prstGeom prst="rect">
            <a:avLst/>
          </a:prstGeom>
          <a:solidFill>
            <a:schemeClr val="accent6">
              <a:lumMod val="20000"/>
              <a:lumOff val="80000"/>
            </a:schemeClr>
          </a:solidFill>
        </p:spPr>
        <p:txBody>
          <a:bodyPr wrap="square">
            <a:spAutoFit/>
          </a:bodyPr>
          <a:lstStyle/>
          <a:p>
            <a:r>
              <a:rPr lang="zh-CN" altLang="en-US" sz="1100" b="1" dirty="0">
                <a:solidFill>
                  <a:srgbClr val="000000"/>
                </a:solidFill>
                <a:latin typeface="+mn-ea"/>
              </a:rPr>
              <a:t>初始速度：</a:t>
            </a:r>
            <a:r>
              <a:rPr lang="en-US" altLang="zh-CN" sz="1100" dirty="0">
                <a:solidFill>
                  <a:srgbClr val="000000"/>
                </a:solidFill>
                <a:latin typeface="+mn-ea"/>
              </a:rPr>
              <a:t>60</a:t>
            </a:r>
            <a:endParaRPr lang="en-US" altLang="zh-CN" sz="1100" dirty="0">
              <a:solidFill>
                <a:srgbClr val="000000"/>
              </a:solidFill>
              <a:latin typeface="+mn-ea"/>
            </a:endParaRPr>
          </a:p>
          <a:p>
            <a:r>
              <a:rPr lang="zh-CN" altLang="en-US" sz="1100" b="1" dirty="0">
                <a:solidFill>
                  <a:srgbClr val="000000"/>
                </a:solidFill>
                <a:latin typeface="+mn-ea"/>
              </a:rPr>
              <a:t>初始电压</a:t>
            </a:r>
            <a:r>
              <a:rPr lang="zh-CN" altLang="en-US" sz="1100" dirty="0">
                <a:solidFill>
                  <a:srgbClr val="000000"/>
                </a:solidFill>
                <a:latin typeface="+mn-ea"/>
              </a:rPr>
              <a:t>：</a:t>
            </a:r>
            <a:r>
              <a:rPr lang="en-US" altLang="zh-CN" sz="1100" dirty="0">
                <a:solidFill>
                  <a:srgbClr val="000000"/>
                </a:solidFill>
                <a:latin typeface="+mn-ea"/>
              </a:rPr>
              <a:t>U(0) = 1 </a:t>
            </a:r>
            <a:r>
              <a:rPr lang="zh-CN" altLang="en-US" sz="1100" dirty="0">
                <a:solidFill>
                  <a:srgbClr val="000000"/>
                </a:solidFill>
                <a:latin typeface="+mn-ea"/>
              </a:rPr>
              <a:t>伏。</a:t>
            </a:r>
            <a:endParaRPr lang="en-US" altLang="zh-CN" sz="1100" dirty="0">
              <a:solidFill>
                <a:srgbClr val="000000"/>
              </a:solidFill>
              <a:latin typeface="+mn-ea"/>
            </a:endParaRPr>
          </a:p>
        </p:txBody>
      </p:sp>
      <p:sp>
        <p:nvSpPr>
          <p:cNvPr id="65" name="左大括号 64"/>
          <p:cNvSpPr/>
          <p:nvPr/>
        </p:nvSpPr>
        <p:spPr>
          <a:xfrm>
            <a:off x="6096019" y="3878729"/>
            <a:ext cx="101581" cy="5967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66" name="文本框 65"/>
          <p:cNvSpPr txBox="1"/>
          <p:nvPr/>
        </p:nvSpPr>
        <p:spPr>
          <a:xfrm>
            <a:off x="727897" y="3791213"/>
            <a:ext cx="3849323" cy="261610"/>
          </a:xfrm>
          <a:prstGeom prst="rect">
            <a:avLst/>
          </a:prstGeom>
          <a:solidFill>
            <a:schemeClr val="accent6">
              <a:lumMod val="20000"/>
              <a:lumOff val="80000"/>
            </a:schemeClr>
          </a:solidFill>
        </p:spPr>
        <p:txBody>
          <a:bodyPr wrap="square">
            <a:spAutoFit/>
          </a:bodyPr>
          <a:lstStyle/>
          <a:p>
            <a:r>
              <a:rPr lang="zh-CN" altLang="en-US" sz="1100">
                <a:solidFill>
                  <a:srgbClr val="000000"/>
                </a:solidFill>
                <a:latin typeface="+mn-ea"/>
              </a:rPr>
              <a:t>发送车速，取得</a:t>
            </a:r>
            <a:r>
              <a:rPr lang="zh-CN" altLang="en-US" sz="1100" dirty="0">
                <a:solidFill>
                  <a:srgbClr val="000000"/>
                </a:solidFill>
                <a:latin typeface="+mn-ea"/>
              </a:rPr>
              <a:t>被测件实际电压值</a:t>
            </a:r>
            <a:endParaRPr lang="zh-CN" altLang="en-US" sz="1100" dirty="0">
              <a:solidFill>
                <a:srgbClr val="000000"/>
              </a:solidFill>
              <a:latin typeface="+mn-ea"/>
            </a:endParaRPr>
          </a:p>
        </p:txBody>
      </p:sp>
      <p:cxnSp>
        <p:nvCxnSpPr>
          <p:cNvPr id="69" name="直接箭头连接符 68"/>
          <p:cNvCxnSpPr>
            <a:stCxn id="66" idx="3"/>
            <a:endCxn id="65" idx="1"/>
          </p:cNvCxnSpPr>
          <p:nvPr/>
        </p:nvCxnSpPr>
        <p:spPr>
          <a:xfrm>
            <a:off x="4577220" y="3922018"/>
            <a:ext cx="1518799" cy="255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flipH="1">
            <a:off x="668832" y="1123794"/>
            <a:ext cx="1364196" cy="307777"/>
          </a:xfrm>
          <a:prstGeom prst="rect">
            <a:avLst/>
          </a:prstGeom>
          <a:noFill/>
        </p:spPr>
        <p:txBody>
          <a:bodyPr wrap="square">
            <a:spAutoFit/>
          </a:bodyPr>
          <a:lstStyle/>
          <a:p>
            <a:r>
              <a:rPr lang="zh-CN" altLang="en-US" sz="1400" b="1" dirty="0">
                <a:solidFill>
                  <a:srgbClr val="000000"/>
                </a:solidFill>
                <a:latin typeface="+mn-ea"/>
              </a:rPr>
              <a:t>测试点</a:t>
            </a:r>
            <a:endParaRPr lang="en-US" altLang="zh-CN" sz="1400" b="1" dirty="0">
              <a:solidFill>
                <a:srgbClr val="000000"/>
              </a:solidFill>
              <a:latin typeface="+mn-ea"/>
            </a:endParaRPr>
          </a:p>
        </p:txBody>
      </p:sp>
      <p:pic>
        <p:nvPicPr>
          <p:cNvPr id="3" name="图片 2"/>
          <p:cNvPicPr>
            <a:picLocks noChangeAspect="1"/>
          </p:cNvPicPr>
          <p:nvPr/>
        </p:nvPicPr>
        <p:blipFill>
          <a:blip r:embed="rId3"/>
          <a:stretch>
            <a:fillRect/>
          </a:stretch>
        </p:blipFill>
        <p:spPr>
          <a:xfrm>
            <a:off x="0" y="0"/>
            <a:ext cx="5163671" cy="1148799"/>
          </a:xfrm>
          <a:prstGeom prst="rect">
            <a:avLst/>
          </a:prstGeom>
        </p:spPr>
      </p:pic>
      <p:sp>
        <p:nvSpPr>
          <p:cNvPr id="4" name="文本框 3"/>
          <p:cNvSpPr txBox="1"/>
          <p:nvPr/>
        </p:nvSpPr>
        <p:spPr>
          <a:xfrm>
            <a:off x="1995805" y="471001"/>
            <a:ext cx="6269654" cy="523220"/>
          </a:xfrm>
          <a:prstGeom prst="rect">
            <a:avLst/>
          </a:prstGeom>
          <a:noFill/>
        </p:spPr>
        <p:txBody>
          <a:bodyPr wrap="square" rtlCol="0">
            <a:spAutoFit/>
          </a:bodyPr>
          <a:lstStyle/>
          <a:p>
            <a:r>
              <a:rPr lang="en-US" altLang="zh-CN" sz="2800" b="1" dirty="0">
                <a:solidFill>
                  <a:srgbClr val="136FB8"/>
                </a:solidFill>
              </a:rPr>
              <a:t>2.3. </a:t>
            </a:r>
            <a:r>
              <a:rPr lang="zh-CN" altLang="en-US" sz="2800" b="1" dirty="0">
                <a:solidFill>
                  <a:srgbClr val="136FB8"/>
                </a:solidFill>
              </a:rPr>
              <a:t>油门控制功能</a:t>
            </a:r>
            <a:r>
              <a:rPr lang="en-US" altLang="zh-CN" sz="2800" b="1" dirty="0">
                <a:solidFill>
                  <a:srgbClr val="136FB8"/>
                </a:solidFill>
              </a:rPr>
              <a:t>(F_Accelerator)</a:t>
            </a:r>
            <a:endParaRPr lang="zh-CN" altLang="en-US" sz="2800" b="1" dirty="0">
              <a:solidFill>
                <a:srgbClr val="136FB8"/>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007663" y="1249581"/>
            <a:ext cx="5735460" cy="4935595"/>
          </a:xfrm>
          <a:prstGeom prst="rect">
            <a:avLst/>
          </a:prstGeom>
        </p:spPr>
      </p:pic>
      <p:sp>
        <p:nvSpPr>
          <p:cNvPr id="2" name="标题 1"/>
          <p:cNvSpPr>
            <a:spLocks noGrp="1"/>
          </p:cNvSpPr>
          <p:nvPr>
            <p:ph type="title"/>
          </p:nvPr>
        </p:nvSpPr>
        <p:spPr>
          <a:xfrm>
            <a:off x="886326" y="142457"/>
            <a:ext cx="3306679" cy="392864"/>
          </a:xfrm>
        </p:spPr>
        <p:txBody>
          <a:bodyPr>
            <a:normAutofit fontScale="90000"/>
          </a:bodyPr>
          <a:lstStyle/>
          <a:p>
            <a:r>
              <a:rPr lang="en-US" altLang="zh-CN" sz="2000" dirty="0">
                <a:solidFill>
                  <a:schemeClr val="bg1"/>
                </a:solidFill>
                <a:latin typeface="+mn-ea"/>
                <a:ea typeface="+mn-ea"/>
              </a:rPr>
              <a:t>2.4. </a:t>
            </a:r>
            <a:r>
              <a:rPr lang="zh-CN" altLang="en-US" sz="2000" dirty="0">
                <a:solidFill>
                  <a:schemeClr val="bg1"/>
                </a:solidFill>
                <a:latin typeface="+mn-ea"/>
                <a:ea typeface="+mn-ea"/>
              </a:rPr>
              <a:t>加减速功能</a:t>
            </a:r>
            <a:r>
              <a:rPr lang="en-US" altLang="zh-CN" sz="2000" dirty="0">
                <a:solidFill>
                  <a:schemeClr val="bg1"/>
                </a:solidFill>
                <a:latin typeface="+mn-ea"/>
                <a:ea typeface="+mn-ea"/>
              </a:rPr>
              <a:t>(</a:t>
            </a:r>
            <a:r>
              <a:rPr lang="en-US" altLang="zh-CN" sz="2000" dirty="0" err="1">
                <a:solidFill>
                  <a:schemeClr val="bg1"/>
                </a:solidFill>
                <a:latin typeface="+mn-ea"/>
                <a:ea typeface="+mn-ea"/>
              </a:rPr>
              <a:t>F_Set</a:t>
            </a:r>
            <a:r>
              <a:rPr lang="en-US" altLang="zh-CN" sz="2000" dirty="0">
                <a:solidFill>
                  <a:schemeClr val="bg1"/>
                </a:solidFill>
                <a:latin typeface="+mn-ea"/>
                <a:ea typeface="+mn-ea"/>
              </a:rPr>
              <a:t>)</a:t>
            </a:r>
            <a:r>
              <a:rPr lang="zh-CN" altLang="en-US" sz="2000" dirty="0">
                <a:solidFill>
                  <a:schemeClr val="bg1"/>
                </a:solidFill>
                <a:latin typeface="+mn-ea"/>
                <a:ea typeface="+mn-ea"/>
              </a:rPr>
              <a:t>（</a:t>
            </a:r>
            <a:r>
              <a:rPr lang="en-US" altLang="zh-CN" sz="2000" dirty="0">
                <a:solidFill>
                  <a:schemeClr val="bg1"/>
                </a:solidFill>
                <a:latin typeface="+mn-ea"/>
                <a:ea typeface="+mn-ea"/>
              </a:rPr>
              <a:t>1/2</a:t>
            </a:r>
            <a:r>
              <a:rPr lang="zh-CN" altLang="en-US" sz="2000" dirty="0">
                <a:solidFill>
                  <a:schemeClr val="bg1"/>
                </a:solidFill>
                <a:latin typeface="+mn-ea"/>
                <a:ea typeface="+mn-ea"/>
              </a:rPr>
              <a:t>）</a:t>
            </a:r>
            <a:endParaRPr lang="zh-CN" altLang="en-US" sz="2000" dirty="0">
              <a:solidFill>
                <a:schemeClr val="bg1"/>
              </a:solidFill>
              <a:latin typeface="+mn-ea"/>
              <a:ea typeface="+mn-ea"/>
            </a:endParaRPr>
          </a:p>
        </p:txBody>
      </p:sp>
      <p:sp>
        <p:nvSpPr>
          <p:cNvPr id="6" name="文本框 5"/>
          <p:cNvSpPr txBox="1"/>
          <p:nvPr/>
        </p:nvSpPr>
        <p:spPr>
          <a:xfrm>
            <a:off x="644820" y="1116408"/>
            <a:ext cx="979510" cy="307777"/>
          </a:xfrm>
          <a:prstGeom prst="rect">
            <a:avLst/>
          </a:prstGeom>
          <a:noFill/>
        </p:spPr>
        <p:txBody>
          <a:bodyPr wrap="square">
            <a:spAutoFit/>
          </a:bodyPr>
          <a:lstStyle/>
          <a:p>
            <a:r>
              <a:rPr lang="zh-CN" altLang="en-US" sz="1400" b="1" dirty="0">
                <a:solidFill>
                  <a:srgbClr val="000000"/>
                </a:solidFill>
                <a:latin typeface="+mn-ea"/>
              </a:rPr>
              <a:t>测试点</a:t>
            </a:r>
            <a:endParaRPr lang="en-US" altLang="zh-CN" sz="1400" b="1" dirty="0">
              <a:solidFill>
                <a:srgbClr val="000000"/>
              </a:solidFill>
              <a:latin typeface="+mn-ea"/>
            </a:endParaRPr>
          </a:p>
        </p:txBody>
      </p:sp>
      <p:sp>
        <p:nvSpPr>
          <p:cNvPr id="7" name="文本框 6"/>
          <p:cNvSpPr txBox="1"/>
          <p:nvPr/>
        </p:nvSpPr>
        <p:spPr>
          <a:xfrm>
            <a:off x="595290" y="2776287"/>
            <a:ext cx="3327167" cy="307777"/>
          </a:xfrm>
          <a:prstGeom prst="rect">
            <a:avLst/>
          </a:prstGeom>
          <a:noFill/>
        </p:spPr>
        <p:txBody>
          <a:bodyPr wrap="square">
            <a:spAutoFit/>
          </a:bodyPr>
          <a:lstStyle/>
          <a:p>
            <a:r>
              <a:rPr lang="zh-CN" altLang="en-US" sz="1400" b="1" dirty="0">
                <a:solidFill>
                  <a:srgbClr val="000000"/>
                </a:solidFill>
                <a:latin typeface="+mn-ea"/>
              </a:rPr>
              <a:t>测试思路（</a:t>
            </a:r>
            <a:r>
              <a:rPr lang="en-US" altLang="zh-CN" sz="1400" b="1" dirty="0">
                <a:solidFill>
                  <a:srgbClr val="000000"/>
                </a:solidFill>
                <a:latin typeface="+mn-ea"/>
              </a:rPr>
              <a:t>1/2</a:t>
            </a:r>
            <a:r>
              <a:rPr lang="zh-CN" altLang="en-US" sz="1400" b="1" dirty="0">
                <a:solidFill>
                  <a:srgbClr val="000000"/>
                </a:solidFill>
                <a:latin typeface="+mn-ea"/>
              </a:rPr>
              <a:t>）</a:t>
            </a:r>
            <a:endParaRPr lang="en-US" altLang="zh-CN" sz="1400" b="1" dirty="0">
              <a:solidFill>
                <a:srgbClr val="000000"/>
              </a:solidFill>
              <a:latin typeface="+mn-ea"/>
            </a:endParaRPr>
          </a:p>
        </p:txBody>
      </p:sp>
      <p:sp>
        <p:nvSpPr>
          <p:cNvPr id="12" name="文本框 11"/>
          <p:cNvSpPr txBox="1"/>
          <p:nvPr/>
        </p:nvSpPr>
        <p:spPr>
          <a:xfrm>
            <a:off x="618721" y="1464606"/>
            <a:ext cx="4607940" cy="1232004"/>
          </a:xfrm>
          <a:prstGeom prst="rect">
            <a:avLst/>
          </a:prstGeom>
          <a:noFill/>
        </p:spPr>
        <p:txBody>
          <a:bodyPr wrap="square">
            <a:spAutoFit/>
          </a:bodyPr>
          <a:lstStyle>
            <a:defPPr>
              <a:defRPr lang="zh-CN"/>
            </a:defPPr>
            <a:lvl1pPr>
              <a:defRPr sz="1200">
                <a:solidFill>
                  <a:srgbClr val="000000"/>
                </a:solidFill>
                <a:latin typeface="+mn-ea"/>
              </a:defRPr>
            </a:lvl1pPr>
          </a:lstStyle>
          <a:p>
            <a:pPr marL="171450" indent="-171450">
              <a:lnSpc>
                <a:spcPts val="1500"/>
              </a:lnSpc>
              <a:buFont typeface="Arial" panose="020B0604020202020204" pitchFamily="34" charset="0"/>
              <a:buChar char="•"/>
            </a:pPr>
            <a:r>
              <a:rPr lang="zh-CN" altLang="en-US" sz="1100" dirty="0"/>
              <a:t>当定速巡航系统收到</a:t>
            </a:r>
            <a:r>
              <a:rPr lang="zh-CN" altLang="en-US" sz="1100" dirty="0">
                <a:solidFill>
                  <a:srgbClr val="C00000"/>
                </a:solidFill>
              </a:rPr>
              <a:t>加速</a:t>
            </a:r>
            <a:r>
              <a:rPr lang="zh-CN" altLang="en-US" sz="1100" dirty="0"/>
              <a:t>指令后，速度值</a:t>
            </a:r>
            <a:r>
              <a:rPr lang="zh-CN" altLang="en-US" sz="1100" dirty="0">
                <a:solidFill>
                  <a:srgbClr val="C00000"/>
                </a:solidFill>
              </a:rPr>
              <a:t>加 </a:t>
            </a:r>
            <a:r>
              <a:rPr lang="en-US" altLang="zh-CN" sz="1100" dirty="0">
                <a:solidFill>
                  <a:srgbClr val="C00000"/>
                </a:solidFill>
              </a:rPr>
              <a:t>1</a:t>
            </a:r>
            <a:r>
              <a:rPr lang="en-US" altLang="zh-CN" sz="1100" dirty="0"/>
              <a:t>km/h</a:t>
            </a:r>
            <a:r>
              <a:rPr lang="zh-CN" altLang="en-US" sz="1100" dirty="0"/>
              <a:t>，并在界面显示；</a:t>
            </a:r>
            <a:endParaRPr lang="en-US" altLang="zh-CN" sz="1100" dirty="0"/>
          </a:p>
          <a:p>
            <a:pPr marL="171450" indent="-171450">
              <a:lnSpc>
                <a:spcPts val="1500"/>
              </a:lnSpc>
              <a:buFont typeface="Arial" panose="020B0604020202020204" pitchFamily="34" charset="0"/>
              <a:buChar char="•"/>
            </a:pPr>
            <a:r>
              <a:rPr lang="zh-CN" altLang="en-US" sz="1100" dirty="0"/>
              <a:t>当定速巡航系统收到</a:t>
            </a:r>
            <a:r>
              <a:rPr lang="zh-CN" altLang="en-US" sz="1100" dirty="0">
                <a:solidFill>
                  <a:srgbClr val="C00000"/>
                </a:solidFill>
              </a:rPr>
              <a:t>减速</a:t>
            </a:r>
            <a:r>
              <a:rPr lang="zh-CN" altLang="en-US" sz="1100" dirty="0"/>
              <a:t>指令后，速度值</a:t>
            </a:r>
            <a:r>
              <a:rPr lang="zh-CN" altLang="en-US" sz="1100" dirty="0">
                <a:solidFill>
                  <a:srgbClr val="C00000"/>
                </a:solidFill>
              </a:rPr>
              <a:t>减 </a:t>
            </a:r>
            <a:r>
              <a:rPr lang="en-US" altLang="zh-CN" sz="1100" dirty="0">
                <a:solidFill>
                  <a:srgbClr val="C00000"/>
                </a:solidFill>
              </a:rPr>
              <a:t>1</a:t>
            </a:r>
            <a:r>
              <a:rPr lang="en-US" altLang="zh-CN" sz="1100" dirty="0"/>
              <a:t>km/h</a:t>
            </a:r>
            <a:r>
              <a:rPr lang="zh-CN" altLang="en-US" sz="1100" dirty="0"/>
              <a:t>，并在界面显示。</a:t>
            </a:r>
            <a:endParaRPr lang="en-US" altLang="zh-CN" sz="1100" dirty="0"/>
          </a:p>
          <a:p>
            <a:pPr marL="171450" indent="-171450">
              <a:lnSpc>
                <a:spcPts val="1500"/>
              </a:lnSpc>
              <a:buFont typeface="Arial" panose="020B0604020202020204" pitchFamily="34" charset="0"/>
              <a:buChar char="•"/>
            </a:pPr>
            <a:r>
              <a:rPr lang="zh-CN" altLang="en-US" sz="1100" dirty="0"/>
              <a:t>当巡航</a:t>
            </a:r>
            <a:r>
              <a:rPr lang="zh-CN" altLang="en-US" sz="1100" dirty="0">
                <a:solidFill>
                  <a:srgbClr val="C00000"/>
                </a:solidFill>
              </a:rPr>
              <a:t>速度变化</a:t>
            </a:r>
            <a:r>
              <a:rPr lang="zh-CN" altLang="en-US" sz="1100" dirty="0"/>
              <a:t>时，开启状态，需重新计算电压，输出一帧油门输出数据包。</a:t>
            </a:r>
            <a:endParaRPr lang="zh-CN" altLang="en-US" sz="1100" dirty="0"/>
          </a:p>
          <a:p>
            <a:pPr marL="171450" indent="-171450">
              <a:lnSpc>
                <a:spcPts val="1500"/>
              </a:lnSpc>
              <a:buFont typeface="Arial" panose="020B0604020202020204" pitchFamily="34" charset="0"/>
              <a:buChar char="•"/>
            </a:pPr>
            <a:r>
              <a:rPr lang="zh-CN" altLang="en-US" sz="1100" dirty="0"/>
              <a:t>巡航速度有效值范围为 </a:t>
            </a:r>
            <a:r>
              <a:rPr lang="en-US" altLang="zh-CN" sz="1100" dirty="0">
                <a:solidFill>
                  <a:srgbClr val="C00000"/>
                </a:solidFill>
              </a:rPr>
              <a:t>0~100</a:t>
            </a:r>
            <a:r>
              <a:rPr lang="en-US" altLang="zh-CN" sz="1100" dirty="0"/>
              <a:t>km/h</a:t>
            </a:r>
            <a:r>
              <a:rPr lang="zh-CN" altLang="en-US" sz="1100" dirty="0"/>
              <a:t>。当加减速造成巡航速度值超出有效值范围时，加减速指令不生效，巡航速度值不变。</a:t>
            </a:r>
            <a:endParaRPr lang="en-US" altLang="zh-CN" sz="1100" dirty="0"/>
          </a:p>
        </p:txBody>
      </p:sp>
      <p:sp>
        <p:nvSpPr>
          <p:cNvPr id="19" name="文本框 18"/>
          <p:cNvSpPr txBox="1"/>
          <p:nvPr/>
        </p:nvSpPr>
        <p:spPr>
          <a:xfrm>
            <a:off x="644820" y="3131176"/>
            <a:ext cx="3596980"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a:solidFill>
                  <a:srgbClr val="000000"/>
                </a:solidFill>
                <a:latin typeface="+mn-ea"/>
              </a:rPr>
              <a:t>开启状态，发送加速</a:t>
            </a:r>
            <a:r>
              <a:rPr lang="zh-CN" altLang="en-US" sz="1100"/>
              <a:t>指令</a:t>
            </a:r>
            <a:r>
              <a:rPr lang="zh-CN" altLang="en-US" sz="1100">
                <a:solidFill>
                  <a:srgbClr val="000000"/>
                </a:solidFill>
                <a:latin typeface="+mn-ea"/>
              </a:rPr>
              <a:t>，速度加一，输出</a:t>
            </a:r>
            <a:r>
              <a:rPr lang="zh-CN" altLang="en-US" sz="1100" dirty="0">
                <a:solidFill>
                  <a:srgbClr val="000000"/>
                </a:solidFill>
                <a:latin typeface="+mn-ea"/>
              </a:rPr>
              <a:t>油门数据</a:t>
            </a:r>
            <a:endParaRPr lang="en-US" altLang="zh-CN" sz="1100" dirty="0">
              <a:solidFill>
                <a:srgbClr val="000000"/>
              </a:solidFill>
              <a:latin typeface="+mn-ea"/>
            </a:endParaRPr>
          </a:p>
        </p:txBody>
      </p:sp>
      <p:cxnSp>
        <p:nvCxnSpPr>
          <p:cNvPr id="22" name="直接箭头连接符 21"/>
          <p:cNvCxnSpPr>
            <a:stCxn id="13" idx="3"/>
            <a:endCxn id="27" idx="1"/>
          </p:cNvCxnSpPr>
          <p:nvPr/>
        </p:nvCxnSpPr>
        <p:spPr>
          <a:xfrm flipV="1">
            <a:off x="4241801" y="3343114"/>
            <a:ext cx="1984961" cy="288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9" idx="3"/>
            <a:endCxn id="30" idx="1"/>
          </p:cNvCxnSpPr>
          <p:nvPr/>
        </p:nvCxnSpPr>
        <p:spPr>
          <a:xfrm flipV="1">
            <a:off x="4241800" y="2382559"/>
            <a:ext cx="1984962" cy="879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左大括号 29"/>
          <p:cNvSpPr/>
          <p:nvPr/>
        </p:nvSpPr>
        <p:spPr>
          <a:xfrm>
            <a:off x="6226762" y="1949302"/>
            <a:ext cx="174038" cy="8665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文本框 12"/>
          <p:cNvSpPr txBox="1"/>
          <p:nvPr/>
        </p:nvSpPr>
        <p:spPr>
          <a:xfrm>
            <a:off x="644821" y="3500474"/>
            <a:ext cx="3596980"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a:solidFill>
                  <a:srgbClr val="000000"/>
                </a:solidFill>
                <a:latin typeface="+mn-ea"/>
              </a:rPr>
              <a:t>开启状态，发送减速</a:t>
            </a:r>
            <a:r>
              <a:rPr lang="zh-CN" altLang="en-US" sz="1100"/>
              <a:t>指令</a:t>
            </a:r>
            <a:r>
              <a:rPr lang="zh-CN" altLang="en-US" sz="1100">
                <a:solidFill>
                  <a:srgbClr val="000000"/>
                </a:solidFill>
                <a:latin typeface="+mn-ea"/>
              </a:rPr>
              <a:t>，速度减一，输出</a:t>
            </a:r>
            <a:r>
              <a:rPr lang="zh-CN" altLang="en-US" sz="1100" dirty="0">
                <a:solidFill>
                  <a:srgbClr val="000000"/>
                </a:solidFill>
                <a:latin typeface="+mn-ea"/>
              </a:rPr>
              <a:t>油门数据</a:t>
            </a:r>
            <a:endParaRPr lang="en-US" altLang="zh-CN" sz="1100" dirty="0">
              <a:solidFill>
                <a:srgbClr val="000000"/>
              </a:solidFill>
              <a:latin typeface="+mn-ea"/>
            </a:endParaRPr>
          </a:p>
        </p:txBody>
      </p:sp>
      <p:sp>
        <p:nvSpPr>
          <p:cNvPr id="16" name="文本框 15"/>
          <p:cNvSpPr txBox="1"/>
          <p:nvPr/>
        </p:nvSpPr>
        <p:spPr>
          <a:xfrm>
            <a:off x="644820" y="3863345"/>
            <a:ext cx="4191340"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a:solidFill>
                  <a:srgbClr val="000000"/>
                </a:solidFill>
                <a:latin typeface="+mn-ea"/>
              </a:rPr>
              <a:t>停止状态，发送</a:t>
            </a:r>
            <a:r>
              <a:rPr lang="zh-CN" altLang="en-US" sz="1100" dirty="0">
                <a:solidFill>
                  <a:srgbClr val="000000"/>
                </a:solidFill>
                <a:latin typeface="+mn-ea"/>
              </a:rPr>
              <a:t>加速度</a:t>
            </a:r>
            <a:r>
              <a:rPr lang="zh-CN" altLang="en-US" sz="1100">
                <a:solidFill>
                  <a:srgbClr val="000000"/>
                </a:solidFill>
                <a:latin typeface="+mn-ea"/>
              </a:rPr>
              <a:t>减速</a:t>
            </a:r>
            <a:r>
              <a:rPr lang="zh-CN" altLang="en-US" sz="1100"/>
              <a:t>指令</a:t>
            </a:r>
            <a:r>
              <a:rPr lang="zh-CN" altLang="en-US" sz="1100">
                <a:solidFill>
                  <a:srgbClr val="000000"/>
                </a:solidFill>
                <a:latin typeface="+mn-ea"/>
              </a:rPr>
              <a:t>，速度不变，不</a:t>
            </a:r>
            <a:r>
              <a:rPr lang="zh-CN" altLang="en-US" sz="1100" dirty="0">
                <a:solidFill>
                  <a:srgbClr val="000000"/>
                </a:solidFill>
                <a:latin typeface="+mn-ea"/>
              </a:rPr>
              <a:t>输出油门数据</a:t>
            </a:r>
            <a:endParaRPr lang="en-US" altLang="zh-CN" sz="1100" dirty="0">
              <a:solidFill>
                <a:srgbClr val="000000"/>
              </a:solidFill>
              <a:latin typeface="+mn-ea"/>
            </a:endParaRPr>
          </a:p>
        </p:txBody>
      </p:sp>
      <p:sp>
        <p:nvSpPr>
          <p:cNvPr id="27" name="左大括号 26"/>
          <p:cNvSpPr/>
          <p:nvPr/>
        </p:nvSpPr>
        <p:spPr>
          <a:xfrm>
            <a:off x="6226762" y="2909857"/>
            <a:ext cx="174038" cy="8665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左大括号 27"/>
          <p:cNvSpPr/>
          <p:nvPr/>
        </p:nvSpPr>
        <p:spPr>
          <a:xfrm>
            <a:off x="6226762" y="3870413"/>
            <a:ext cx="174038" cy="224949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40" name="直接箭头连接符 39"/>
          <p:cNvCxnSpPr>
            <a:stCxn id="16" idx="3"/>
            <a:endCxn id="28" idx="1"/>
          </p:cNvCxnSpPr>
          <p:nvPr/>
        </p:nvCxnSpPr>
        <p:spPr>
          <a:xfrm>
            <a:off x="4836160" y="3994150"/>
            <a:ext cx="1390602" cy="1001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2"/>
          <a:stretch>
            <a:fillRect/>
          </a:stretch>
        </p:blipFill>
        <p:spPr>
          <a:xfrm>
            <a:off x="0" y="0"/>
            <a:ext cx="5163671" cy="1148799"/>
          </a:xfrm>
          <a:prstGeom prst="rect">
            <a:avLst/>
          </a:prstGeom>
        </p:spPr>
      </p:pic>
      <p:sp>
        <p:nvSpPr>
          <p:cNvPr id="8" name="文本框 7"/>
          <p:cNvSpPr txBox="1"/>
          <p:nvPr/>
        </p:nvSpPr>
        <p:spPr>
          <a:xfrm>
            <a:off x="1995805" y="471001"/>
            <a:ext cx="5032526" cy="523220"/>
          </a:xfrm>
          <a:prstGeom prst="rect">
            <a:avLst/>
          </a:prstGeom>
          <a:noFill/>
        </p:spPr>
        <p:txBody>
          <a:bodyPr wrap="square" rtlCol="0">
            <a:spAutoFit/>
          </a:bodyPr>
          <a:lstStyle/>
          <a:p>
            <a:r>
              <a:rPr lang="en-US" altLang="zh-CN" sz="2800" b="1" dirty="0">
                <a:solidFill>
                  <a:srgbClr val="136FB8"/>
                </a:solidFill>
              </a:rPr>
              <a:t>2.4. </a:t>
            </a:r>
            <a:r>
              <a:rPr lang="zh-CN" altLang="en-US" sz="2800" b="1" dirty="0">
                <a:solidFill>
                  <a:srgbClr val="136FB8"/>
                </a:solidFill>
              </a:rPr>
              <a:t>加减速功能</a:t>
            </a:r>
            <a:r>
              <a:rPr lang="en-US" altLang="zh-CN" sz="2800" b="1" dirty="0">
                <a:solidFill>
                  <a:srgbClr val="136FB8"/>
                </a:solidFill>
              </a:rPr>
              <a:t>(F_Set)</a:t>
            </a:r>
            <a:r>
              <a:rPr lang="zh-CN" altLang="en-US" sz="2800" b="1" dirty="0">
                <a:solidFill>
                  <a:srgbClr val="136FB8"/>
                </a:solidFill>
              </a:rPr>
              <a:t>（</a:t>
            </a:r>
            <a:r>
              <a:rPr lang="en-US" altLang="zh-CN" sz="2800" b="1" dirty="0">
                <a:solidFill>
                  <a:srgbClr val="136FB8"/>
                </a:solidFill>
              </a:rPr>
              <a:t>1/2</a:t>
            </a:r>
            <a:r>
              <a:rPr lang="zh-CN" altLang="en-US" sz="2800" b="1" dirty="0">
                <a:solidFill>
                  <a:srgbClr val="136FB8"/>
                </a:solidFill>
              </a:rPr>
              <a:t>）</a:t>
            </a:r>
            <a:endParaRPr lang="zh-CN" altLang="en-US" sz="2800" b="1" dirty="0">
              <a:solidFill>
                <a:srgbClr val="136FB8"/>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5415834" y="1351256"/>
            <a:ext cx="6278810" cy="3010852"/>
          </a:xfrm>
          <a:prstGeom prst="rect">
            <a:avLst/>
          </a:prstGeom>
        </p:spPr>
      </p:pic>
      <p:sp>
        <p:nvSpPr>
          <p:cNvPr id="7" name="文本框 6"/>
          <p:cNvSpPr txBox="1"/>
          <p:nvPr/>
        </p:nvSpPr>
        <p:spPr>
          <a:xfrm>
            <a:off x="814427" y="1718959"/>
            <a:ext cx="4107520"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开启状态，巡航速度等于</a:t>
            </a:r>
            <a:r>
              <a:rPr lang="en-US" altLang="zh-CN" sz="1100" dirty="0">
                <a:solidFill>
                  <a:srgbClr val="000000"/>
                </a:solidFill>
                <a:latin typeface="+mn-ea"/>
              </a:rPr>
              <a:t>0</a:t>
            </a:r>
            <a:r>
              <a:rPr lang="zh-CN" altLang="en-US" sz="1100" dirty="0">
                <a:solidFill>
                  <a:srgbClr val="000000"/>
                </a:solidFill>
                <a:latin typeface="+mn-ea"/>
              </a:rPr>
              <a:t>，减速指令不生效，速度值不变</a:t>
            </a:r>
            <a:endParaRPr lang="en-US" altLang="zh-CN" sz="1100" dirty="0">
              <a:solidFill>
                <a:srgbClr val="000000"/>
              </a:solidFill>
              <a:latin typeface="+mn-ea"/>
            </a:endParaRPr>
          </a:p>
        </p:txBody>
      </p:sp>
      <p:sp>
        <p:nvSpPr>
          <p:cNvPr id="8" name="文本框 7"/>
          <p:cNvSpPr txBox="1"/>
          <p:nvPr/>
        </p:nvSpPr>
        <p:spPr>
          <a:xfrm>
            <a:off x="814427" y="2200046"/>
            <a:ext cx="4107521"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开启状态，巡航速度等于</a:t>
            </a:r>
            <a:r>
              <a:rPr lang="en-US" altLang="zh-CN" sz="1100" dirty="0">
                <a:solidFill>
                  <a:srgbClr val="000000"/>
                </a:solidFill>
                <a:latin typeface="+mn-ea"/>
              </a:rPr>
              <a:t>100</a:t>
            </a:r>
            <a:r>
              <a:rPr lang="zh-CN" altLang="en-US" sz="1100" dirty="0">
                <a:solidFill>
                  <a:srgbClr val="000000"/>
                </a:solidFill>
                <a:latin typeface="+mn-ea"/>
              </a:rPr>
              <a:t>，加速指令不生效，速度值不变</a:t>
            </a:r>
            <a:endParaRPr lang="en-US" altLang="zh-CN" sz="1100" dirty="0">
              <a:solidFill>
                <a:srgbClr val="000000"/>
              </a:solidFill>
              <a:latin typeface="+mn-ea"/>
            </a:endParaRPr>
          </a:p>
        </p:txBody>
      </p:sp>
      <p:sp>
        <p:nvSpPr>
          <p:cNvPr id="10" name="文本框 9"/>
          <p:cNvSpPr txBox="1"/>
          <p:nvPr/>
        </p:nvSpPr>
        <p:spPr>
          <a:xfrm>
            <a:off x="751800" y="1409048"/>
            <a:ext cx="1455760" cy="307777"/>
          </a:xfrm>
          <a:prstGeom prst="rect">
            <a:avLst/>
          </a:prstGeom>
          <a:noFill/>
        </p:spPr>
        <p:txBody>
          <a:bodyPr wrap="square">
            <a:spAutoFit/>
          </a:bodyPr>
          <a:lstStyle/>
          <a:p>
            <a:r>
              <a:rPr lang="zh-CN" altLang="en-US" sz="1400" b="1" dirty="0">
                <a:solidFill>
                  <a:srgbClr val="000000"/>
                </a:solidFill>
                <a:latin typeface="+mn-ea"/>
              </a:rPr>
              <a:t>测试思路（</a:t>
            </a:r>
            <a:r>
              <a:rPr lang="en-US" altLang="zh-CN" sz="1400" b="1" dirty="0">
                <a:solidFill>
                  <a:srgbClr val="000000"/>
                </a:solidFill>
                <a:latin typeface="+mn-ea"/>
              </a:rPr>
              <a:t>2/2</a:t>
            </a:r>
            <a:r>
              <a:rPr lang="zh-CN" altLang="en-US" sz="1400" b="1" dirty="0">
                <a:solidFill>
                  <a:srgbClr val="000000"/>
                </a:solidFill>
                <a:latin typeface="+mn-ea"/>
              </a:rPr>
              <a:t>）</a:t>
            </a:r>
            <a:endParaRPr lang="en-US" altLang="zh-CN" sz="1400" b="1" dirty="0">
              <a:solidFill>
                <a:srgbClr val="000000"/>
              </a:solidFill>
              <a:latin typeface="+mn-ea"/>
            </a:endParaRPr>
          </a:p>
        </p:txBody>
      </p:sp>
      <p:cxnSp>
        <p:nvCxnSpPr>
          <p:cNvPr id="13" name="直接箭头连接符 12"/>
          <p:cNvCxnSpPr>
            <a:endCxn id="15" idx="1"/>
          </p:cNvCxnSpPr>
          <p:nvPr/>
        </p:nvCxnSpPr>
        <p:spPr>
          <a:xfrm>
            <a:off x="4710917" y="1849764"/>
            <a:ext cx="884607" cy="148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endCxn id="16" idx="1"/>
          </p:cNvCxnSpPr>
          <p:nvPr/>
        </p:nvCxnSpPr>
        <p:spPr>
          <a:xfrm>
            <a:off x="4788593" y="2355469"/>
            <a:ext cx="893950" cy="966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左大括号 14"/>
          <p:cNvSpPr/>
          <p:nvPr/>
        </p:nvSpPr>
        <p:spPr>
          <a:xfrm>
            <a:off x="5595524" y="1515213"/>
            <a:ext cx="174038" cy="96644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左大括号 15"/>
          <p:cNvSpPr/>
          <p:nvPr/>
        </p:nvSpPr>
        <p:spPr>
          <a:xfrm>
            <a:off x="5682543" y="2838689"/>
            <a:ext cx="174038" cy="96644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标题 1"/>
          <p:cNvSpPr>
            <a:spLocks noGrp="1"/>
          </p:cNvSpPr>
          <p:nvPr>
            <p:ph type="title"/>
          </p:nvPr>
        </p:nvSpPr>
        <p:spPr>
          <a:xfrm>
            <a:off x="886326" y="142457"/>
            <a:ext cx="3678054" cy="392864"/>
          </a:xfrm>
        </p:spPr>
        <p:txBody>
          <a:bodyPr>
            <a:noAutofit/>
          </a:bodyPr>
          <a:lstStyle/>
          <a:p>
            <a:r>
              <a:rPr lang="en-US" altLang="zh-CN" sz="1800" dirty="0">
                <a:solidFill>
                  <a:schemeClr val="bg1"/>
                </a:solidFill>
                <a:latin typeface="+mn-ea"/>
                <a:ea typeface="+mn-ea"/>
              </a:rPr>
              <a:t>2.4. </a:t>
            </a:r>
            <a:r>
              <a:rPr lang="zh-CN" altLang="en-US" sz="1800" dirty="0">
                <a:solidFill>
                  <a:schemeClr val="bg1"/>
                </a:solidFill>
                <a:latin typeface="+mn-ea"/>
                <a:ea typeface="+mn-ea"/>
              </a:rPr>
              <a:t>加减速功能</a:t>
            </a:r>
            <a:r>
              <a:rPr lang="en-US" altLang="zh-CN" sz="1800" dirty="0">
                <a:solidFill>
                  <a:schemeClr val="bg1"/>
                </a:solidFill>
                <a:latin typeface="+mn-ea"/>
                <a:ea typeface="+mn-ea"/>
              </a:rPr>
              <a:t>(</a:t>
            </a:r>
            <a:r>
              <a:rPr lang="en-US" altLang="zh-CN" sz="1800" dirty="0" err="1">
                <a:solidFill>
                  <a:schemeClr val="bg1"/>
                </a:solidFill>
                <a:latin typeface="+mn-ea"/>
                <a:ea typeface="+mn-ea"/>
              </a:rPr>
              <a:t>F_Set</a:t>
            </a:r>
            <a:r>
              <a:rPr lang="en-US" altLang="zh-CN" sz="1800" dirty="0">
                <a:solidFill>
                  <a:schemeClr val="bg1"/>
                </a:solidFill>
                <a:latin typeface="+mn-ea"/>
                <a:ea typeface="+mn-ea"/>
              </a:rPr>
              <a:t>)</a:t>
            </a:r>
            <a:r>
              <a:rPr lang="zh-CN" altLang="en-US" sz="1800" dirty="0">
                <a:solidFill>
                  <a:schemeClr val="bg1"/>
                </a:solidFill>
                <a:latin typeface="+mn-ea"/>
                <a:ea typeface="+mn-ea"/>
              </a:rPr>
              <a:t>（</a:t>
            </a:r>
            <a:r>
              <a:rPr lang="en-US" altLang="zh-CN" sz="1800" dirty="0">
                <a:solidFill>
                  <a:schemeClr val="bg1"/>
                </a:solidFill>
                <a:latin typeface="+mn-ea"/>
                <a:ea typeface="+mn-ea"/>
              </a:rPr>
              <a:t>2/2</a:t>
            </a:r>
            <a:r>
              <a:rPr lang="zh-CN" altLang="en-US" sz="1800" dirty="0">
                <a:solidFill>
                  <a:schemeClr val="bg1"/>
                </a:solidFill>
                <a:latin typeface="+mn-ea"/>
                <a:ea typeface="+mn-ea"/>
              </a:rPr>
              <a:t>）</a:t>
            </a:r>
            <a:endParaRPr lang="zh-CN" altLang="en-US" sz="1800" dirty="0">
              <a:solidFill>
                <a:schemeClr val="bg1"/>
              </a:solidFill>
              <a:latin typeface="+mn-ea"/>
              <a:ea typeface="+mn-ea"/>
            </a:endParaRPr>
          </a:p>
        </p:txBody>
      </p:sp>
      <p:pic>
        <p:nvPicPr>
          <p:cNvPr id="11" name="图片 10"/>
          <p:cNvPicPr>
            <a:picLocks noChangeAspect="1"/>
          </p:cNvPicPr>
          <p:nvPr/>
        </p:nvPicPr>
        <p:blipFill>
          <a:blip r:embed="rId2"/>
          <a:stretch>
            <a:fillRect/>
          </a:stretch>
        </p:blipFill>
        <p:spPr>
          <a:xfrm>
            <a:off x="0" y="0"/>
            <a:ext cx="5163671" cy="1148799"/>
          </a:xfrm>
          <a:prstGeom prst="rect">
            <a:avLst/>
          </a:prstGeom>
        </p:spPr>
      </p:pic>
      <p:sp>
        <p:nvSpPr>
          <p:cNvPr id="12" name="文本框 11"/>
          <p:cNvSpPr txBox="1"/>
          <p:nvPr/>
        </p:nvSpPr>
        <p:spPr>
          <a:xfrm>
            <a:off x="1995805" y="471001"/>
            <a:ext cx="5438924" cy="523220"/>
          </a:xfrm>
          <a:prstGeom prst="rect">
            <a:avLst/>
          </a:prstGeom>
          <a:noFill/>
        </p:spPr>
        <p:txBody>
          <a:bodyPr wrap="square" rtlCol="0">
            <a:spAutoFit/>
          </a:bodyPr>
          <a:lstStyle/>
          <a:p>
            <a:r>
              <a:rPr lang="en-US" altLang="zh-CN" sz="2800" b="1" dirty="0">
                <a:solidFill>
                  <a:srgbClr val="136FB8"/>
                </a:solidFill>
              </a:rPr>
              <a:t>2.4. </a:t>
            </a:r>
            <a:r>
              <a:rPr lang="zh-CN" altLang="en-US" sz="2800" b="1" dirty="0">
                <a:solidFill>
                  <a:srgbClr val="136FB8"/>
                </a:solidFill>
              </a:rPr>
              <a:t>加减速功能</a:t>
            </a:r>
            <a:r>
              <a:rPr lang="en-US" altLang="zh-CN" sz="2800" b="1" dirty="0">
                <a:solidFill>
                  <a:srgbClr val="136FB8"/>
                </a:solidFill>
              </a:rPr>
              <a:t>(F_Set)</a:t>
            </a:r>
            <a:r>
              <a:rPr lang="zh-CN" altLang="en-US" sz="2800" b="1" dirty="0">
                <a:solidFill>
                  <a:srgbClr val="136FB8"/>
                </a:solidFill>
              </a:rPr>
              <a:t>（</a:t>
            </a:r>
            <a:r>
              <a:rPr lang="en-US" altLang="zh-CN" sz="2800" b="1" dirty="0">
                <a:solidFill>
                  <a:srgbClr val="136FB8"/>
                </a:solidFill>
              </a:rPr>
              <a:t>2/2</a:t>
            </a:r>
            <a:r>
              <a:rPr lang="zh-CN" altLang="en-US" sz="2800" b="1" dirty="0">
                <a:solidFill>
                  <a:srgbClr val="136FB8"/>
                </a:solidFill>
              </a:rPr>
              <a:t>）</a:t>
            </a:r>
            <a:endParaRPr lang="zh-CN" altLang="en-US" sz="2800" b="1" dirty="0">
              <a:solidFill>
                <a:srgbClr val="136FB8"/>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744968" y="1191590"/>
            <a:ext cx="7447032" cy="5101901"/>
          </a:xfrm>
          <a:prstGeom prst="rect">
            <a:avLst/>
          </a:prstGeom>
        </p:spPr>
      </p:pic>
      <p:sp>
        <p:nvSpPr>
          <p:cNvPr id="15" name="左大括号 14"/>
          <p:cNvSpPr/>
          <p:nvPr/>
        </p:nvSpPr>
        <p:spPr>
          <a:xfrm>
            <a:off x="4989633" y="1582511"/>
            <a:ext cx="174038" cy="165476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左大括号 15"/>
          <p:cNvSpPr/>
          <p:nvPr/>
        </p:nvSpPr>
        <p:spPr>
          <a:xfrm>
            <a:off x="4989633" y="5149051"/>
            <a:ext cx="174038" cy="114444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标题 1"/>
          <p:cNvSpPr>
            <a:spLocks noGrp="1"/>
          </p:cNvSpPr>
          <p:nvPr>
            <p:ph type="title"/>
          </p:nvPr>
        </p:nvSpPr>
        <p:spPr>
          <a:xfrm>
            <a:off x="886326" y="142457"/>
            <a:ext cx="3678054" cy="392864"/>
          </a:xfrm>
        </p:spPr>
        <p:txBody>
          <a:bodyPr>
            <a:noAutofit/>
          </a:bodyPr>
          <a:lstStyle/>
          <a:p>
            <a:r>
              <a:rPr lang="en-US" altLang="zh-CN" sz="1800" dirty="0">
                <a:solidFill>
                  <a:schemeClr val="bg1"/>
                </a:solidFill>
                <a:latin typeface="+mn-ea"/>
                <a:ea typeface="+mn-ea"/>
              </a:rPr>
              <a:t>3.1. </a:t>
            </a:r>
            <a:r>
              <a:rPr lang="zh-CN" altLang="en-US" sz="1800" dirty="0">
                <a:solidFill>
                  <a:schemeClr val="bg1"/>
                </a:solidFill>
                <a:latin typeface="+mn-ea"/>
                <a:ea typeface="+mn-ea"/>
              </a:rPr>
              <a:t>巡航设置输入接口</a:t>
            </a:r>
            <a:r>
              <a:rPr lang="en-US" altLang="zh-CN" sz="1800" dirty="0">
                <a:solidFill>
                  <a:schemeClr val="bg1"/>
                </a:solidFill>
                <a:latin typeface="+mn-ea"/>
                <a:ea typeface="+mn-ea"/>
              </a:rPr>
              <a:t>(</a:t>
            </a:r>
            <a:r>
              <a:rPr lang="en-US" altLang="zh-CN" sz="1800" dirty="0" err="1">
                <a:solidFill>
                  <a:schemeClr val="bg1"/>
                </a:solidFill>
                <a:latin typeface="+mn-ea"/>
                <a:ea typeface="+mn-ea"/>
              </a:rPr>
              <a:t>I_Set</a:t>
            </a:r>
            <a:r>
              <a:rPr lang="en-US" altLang="zh-CN" sz="1800" dirty="0">
                <a:solidFill>
                  <a:schemeClr val="bg1"/>
                </a:solidFill>
                <a:latin typeface="+mn-ea"/>
                <a:ea typeface="+mn-ea"/>
              </a:rPr>
              <a:t>)</a:t>
            </a:r>
            <a:endParaRPr lang="zh-CN" altLang="en-US" sz="1800" dirty="0">
              <a:solidFill>
                <a:schemeClr val="bg1"/>
              </a:solidFill>
              <a:latin typeface="+mn-ea"/>
              <a:ea typeface="+mn-ea"/>
            </a:endParaRPr>
          </a:p>
        </p:txBody>
      </p:sp>
      <p:sp>
        <p:nvSpPr>
          <p:cNvPr id="9" name="文本框 8"/>
          <p:cNvSpPr txBox="1"/>
          <p:nvPr/>
        </p:nvSpPr>
        <p:spPr>
          <a:xfrm>
            <a:off x="670933" y="1174606"/>
            <a:ext cx="1195410" cy="307777"/>
          </a:xfrm>
          <a:prstGeom prst="rect">
            <a:avLst/>
          </a:prstGeom>
          <a:noFill/>
        </p:spPr>
        <p:txBody>
          <a:bodyPr wrap="square">
            <a:spAutoFit/>
          </a:bodyPr>
          <a:lstStyle/>
          <a:p>
            <a:r>
              <a:rPr lang="zh-CN" altLang="en-US" sz="1400" b="1" dirty="0">
                <a:solidFill>
                  <a:srgbClr val="000000"/>
                </a:solidFill>
                <a:latin typeface="+mn-ea"/>
              </a:rPr>
              <a:t>测试点</a:t>
            </a:r>
            <a:endParaRPr lang="en-US" altLang="zh-CN" sz="1400" b="1" dirty="0">
              <a:solidFill>
                <a:srgbClr val="000000"/>
              </a:solidFill>
              <a:latin typeface="+mn-ea"/>
            </a:endParaRPr>
          </a:p>
        </p:txBody>
      </p:sp>
      <p:sp>
        <p:nvSpPr>
          <p:cNvPr id="11" name="文本框 10"/>
          <p:cNvSpPr txBox="1"/>
          <p:nvPr/>
        </p:nvSpPr>
        <p:spPr>
          <a:xfrm>
            <a:off x="595290" y="2776287"/>
            <a:ext cx="3327167" cy="307777"/>
          </a:xfrm>
          <a:prstGeom prst="rect">
            <a:avLst/>
          </a:prstGeom>
          <a:noFill/>
        </p:spPr>
        <p:txBody>
          <a:bodyPr wrap="square">
            <a:spAutoFit/>
          </a:bodyPr>
          <a:lstStyle/>
          <a:p>
            <a:r>
              <a:rPr lang="zh-CN" altLang="en-US" sz="1400" b="1" dirty="0">
                <a:solidFill>
                  <a:srgbClr val="000000"/>
                </a:solidFill>
                <a:latin typeface="+mn-ea"/>
              </a:rPr>
              <a:t>测试思路</a:t>
            </a:r>
            <a:endParaRPr lang="en-US" altLang="zh-CN" sz="1400" b="1" dirty="0">
              <a:solidFill>
                <a:srgbClr val="000000"/>
              </a:solidFill>
              <a:latin typeface="+mn-ea"/>
            </a:endParaRPr>
          </a:p>
        </p:txBody>
      </p:sp>
      <p:sp>
        <p:nvSpPr>
          <p:cNvPr id="18" name="文本框 17"/>
          <p:cNvSpPr txBox="1"/>
          <p:nvPr/>
        </p:nvSpPr>
        <p:spPr>
          <a:xfrm>
            <a:off x="601288" y="1517880"/>
            <a:ext cx="3520780" cy="654923"/>
          </a:xfrm>
          <a:prstGeom prst="rect">
            <a:avLst/>
          </a:prstGeom>
          <a:noFill/>
        </p:spPr>
        <p:txBody>
          <a:bodyPr wrap="square">
            <a:spAutoFit/>
          </a:bodyPr>
          <a:lstStyle>
            <a:defPPr>
              <a:defRPr lang="zh-CN"/>
            </a:defPPr>
            <a:lvl1pPr>
              <a:defRPr sz="1200">
                <a:solidFill>
                  <a:srgbClr val="000000"/>
                </a:solidFill>
                <a:latin typeface="+mn-ea"/>
              </a:defRPr>
            </a:lvl1pPr>
          </a:lstStyle>
          <a:p>
            <a:pPr marL="171450" indent="-171450">
              <a:lnSpc>
                <a:spcPts val="1500"/>
              </a:lnSpc>
              <a:buFont typeface="Arial" panose="020B0604020202020204" pitchFamily="34" charset="0"/>
              <a:buChar char="•"/>
            </a:pPr>
            <a:r>
              <a:rPr lang="zh-CN" altLang="en-US" sz="1100" dirty="0"/>
              <a:t>包头、指令类型、数据长度、数据内容、校验和、包尾应该按照要求填写，否则做出丢包处理。当包前有冗余字段时，应该可以剔除冗余字段。</a:t>
            </a:r>
            <a:endParaRPr lang="en-US" altLang="zh-CN" sz="1100" dirty="0"/>
          </a:p>
        </p:txBody>
      </p:sp>
      <p:sp>
        <p:nvSpPr>
          <p:cNvPr id="21" name="文本框 20"/>
          <p:cNvSpPr txBox="1"/>
          <p:nvPr/>
        </p:nvSpPr>
        <p:spPr>
          <a:xfrm>
            <a:off x="616180" y="3167390"/>
            <a:ext cx="3306278" cy="430887"/>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开启状态：</a:t>
            </a:r>
            <a:endParaRPr lang="en-US" altLang="zh-CN" sz="1100" dirty="0">
              <a:solidFill>
                <a:srgbClr val="000000"/>
              </a:solidFill>
              <a:latin typeface="+mn-ea"/>
            </a:endParaRPr>
          </a:p>
          <a:p>
            <a:r>
              <a:rPr lang="en-US" altLang="zh-CN" sz="1100" dirty="0">
                <a:solidFill>
                  <a:srgbClr val="000000"/>
                </a:solidFill>
                <a:latin typeface="+mn-ea"/>
              </a:rPr>
              <a:t>    </a:t>
            </a:r>
            <a:r>
              <a:rPr lang="zh-CN" altLang="en-US" sz="1100" dirty="0">
                <a:solidFill>
                  <a:srgbClr val="000000"/>
                </a:solidFill>
                <a:latin typeface="+mn-ea"/>
              </a:rPr>
              <a:t>发送</a:t>
            </a:r>
            <a:r>
              <a:rPr lang="en-US" altLang="zh-CN" sz="1100" dirty="0">
                <a:solidFill>
                  <a:srgbClr val="000000"/>
                </a:solidFill>
                <a:latin typeface="+mn-ea"/>
              </a:rPr>
              <a:t>【</a:t>
            </a:r>
            <a:r>
              <a:rPr lang="zh-CN" altLang="en-US" sz="1100" dirty="0">
                <a:solidFill>
                  <a:srgbClr val="000000"/>
                </a:solidFill>
                <a:latin typeface="+mn-ea"/>
              </a:rPr>
              <a:t>包头</a:t>
            </a:r>
            <a:r>
              <a:rPr lang="en-US" altLang="zh-CN" sz="1100" dirty="0">
                <a:solidFill>
                  <a:srgbClr val="000000"/>
                </a:solidFill>
                <a:latin typeface="+mn-ea"/>
              </a:rPr>
              <a:t>】</a:t>
            </a:r>
            <a:r>
              <a:rPr lang="zh-CN" altLang="en-US" sz="1100" dirty="0">
                <a:solidFill>
                  <a:srgbClr val="000000"/>
                </a:solidFill>
                <a:latin typeface="+mn-ea"/>
              </a:rPr>
              <a:t>错误的</a:t>
            </a:r>
            <a:r>
              <a:rPr lang="en-US" altLang="zh-CN" sz="1100" dirty="0">
                <a:solidFill>
                  <a:srgbClr val="000000"/>
                </a:solidFill>
                <a:latin typeface="+mn-ea"/>
              </a:rPr>
              <a:t>【</a:t>
            </a:r>
            <a:r>
              <a:rPr lang="zh-CN" altLang="en-US" sz="1100" dirty="0">
                <a:solidFill>
                  <a:srgbClr val="000000"/>
                </a:solidFill>
                <a:latin typeface="+mn-ea"/>
              </a:rPr>
              <a:t>停止</a:t>
            </a:r>
            <a:r>
              <a:rPr lang="en-US" altLang="zh-CN" sz="1100" dirty="0">
                <a:solidFill>
                  <a:srgbClr val="000000"/>
                </a:solidFill>
                <a:latin typeface="+mn-ea"/>
              </a:rPr>
              <a:t>】</a:t>
            </a:r>
            <a:r>
              <a:rPr lang="zh-CN" altLang="en-US" sz="1100" dirty="0">
                <a:solidFill>
                  <a:srgbClr val="000000"/>
                </a:solidFill>
                <a:latin typeface="+mn-ea"/>
              </a:rPr>
              <a:t>指令，保持开启</a:t>
            </a:r>
            <a:endParaRPr lang="en-US" altLang="zh-CN" sz="1100" dirty="0">
              <a:solidFill>
                <a:srgbClr val="000000"/>
              </a:solidFill>
              <a:latin typeface="+mn-ea"/>
            </a:endParaRPr>
          </a:p>
        </p:txBody>
      </p:sp>
      <p:sp>
        <p:nvSpPr>
          <p:cNvPr id="23" name="文本框 22"/>
          <p:cNvSpPr txBox="1"/>
          <p:nvPr/>
        </p:nvSpPr>
        <p:spPr>
          <a:xfrm>
            <a:off x="670933" y="4415626"/>
            <a:ext cx="2239534" cy="1078116"/>
          </a:xfrm>
          <a:prstGeom prst="rect">
            <a:avLst/>
          </a:prstGeom>
          <a:noFill/>
        </p:spPr>
        <p:txBody>
          <a:bodyPr wrap="square">
            <a:spAutoFit/>
          </a:bodyPr>
          <a:lstStyle/>
          <a:p>
            <a:pPr marL="228600" indent="-228600">
              <a:lnSpc>
                <a:spcPct val="150000"/>
              </a:lnSpc>
              <a:buFont typeface="+mj-lt"/>
              <a:buAutoNum type="arabicPeriod"/>
            </a:pPr>
            <a:r>
              <a:rPr lang="zh-CN" altLang="en-US" sz="1100" dirty="0">
                <a:solidFill>
                  <a:srgbClr val="000000"/>
                </a:solidFill>
                <a:latin typeface="+mn-ea"/>
              </a:rPr>
              <a:t>数据长度错误，其他字段正常</a:t>
            </a:r>
            <a:endParaRPr lang="en-US" altLang="zh-CN" sz="1100" dirty="0">
              <a:solidFill>
                <a:srgbClr val="000000"/>
              </a:solidFill>
              <a:latin typeface="+mn-ea"/>
            </a:endParaRPr>
          </a:p>
          <a:p>
            <a:pPr marL="228600" indent="-228600">
              <a:lnSpc>
                <a:spcPct val="150000"/>
              </a:lnSpc>
              <a:buFont typeface="+mj-lt"/>
              <a:buAutoNum type="arabicPeriod"/>
            </a:pPr>
            <a:r>
              <a:rPr lang="zh-CN" altLang="en-US" sz="1100" dirty="0">
                <a:solidFill>
                  <a:srgbClr val="000000"/>
                </a:solidFill>
                <a:latin typeface="+mn-ea"/>
              </a:rPr>
              <a:t>数据内容错误，其他字段正常</a:t>
            </a:r>
            <a:endParaRPr lang="en-US" altLang="zh-CN" sz="1100" dirty="0">
              <a:solidFill>
                <a:srgbClr val="000000"/>
              </a:solidFill>
              <a:latin typeface="+mn-ea"/>
            </a:endParaRPr>
          </a:p>
          <a:p>
            <a:pPr marL="228600" indent="-228600">
              <a:lnSpc>
                <a:spcPct val="150000"/>
              </a:lnSpc>
              <a:buFont typeface="+mj-lt"/>
              <a:buAutoNum type="arabicPeriod"/>
            </a:pPr>
            <a:r>
              <a:rPr lang="zh-CN" altLang="en-US" sz="1100" dirty="0">
                <a:solidFill>
                  <a:srgbClr val="000000"/>
                </a:solidFill>
                <a:latin typeface="+mn-ea"/>
              </a:rPr>
              <a:t>校验和错误，其他字段正常</a:t>
            </a:r>
            <a:endParaRPr lang="en-US" altLang="zh-CN" sz="1100" dirty="0">
              <a:solidFill>
                <a:srgbClr val="000000"/>
              </a:solidFill>
              <a:latin typeface="+mn-ea"/>
            </a:endParaRPr>
          </a:p>
          <a:p>
            <a:pPr marL="228600" indent="-228600">
              <a:lnSpc>
                <a:spcPct val="150000"/>
              </a:lnSpc>
              <a:buFont typeface="+mj-lt"/>
              <a:buAutoNum type="arabicPeriod"/>
            </a:pPr>
            <a:r>
              <a:rPr lang="zh-CN" altLang="en-US" sz="1100" dirty="0">
                <a:solidFill>
                  <a:srgbClr val="000000"/>
                </a:solidFill>
                <a:latin typeface="+mn-ea"/>
              </a:rPr>
              <a:t>包尾错误，其他字段正常</a:t>
            </a:r>
            <a:endParaRPr lang="en-US" altLang="zh-CN" sz="1100" dirty="0">
              <a:solidFill>
                <a:srgbClr val="000000"/>
              </a:solidFill>
              <a:latin typeface="+mn-ea"/>
            </a:endParaRPr>
          </a:p>
        </p:txBody>
      </p:sp>
      <p:sp>
        <p:nvSpPr>
          <p:cNvPr id="27" name="左大括号 26"/>
          <p:cNvSpPr/>
          <p:nvPr/>
        </p:nvSpPr>
        <p:spPr>
          <a:xfrm>
            <a:off x="4976984" y="3357744"/>
            <a:ext cx="174038" cy="163850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8" name="直接箭头连接符 27"/>
          <p:cNvCxnSpPr>
            <a:endCxn id="15" idx="1"/>
          </p:cNvCxnSpPr>
          <p:nvPr/>
        </p:nvCxnSpPr>
        <p:spPr>
          <a:xfrm flipV="1">
            <a:off x="3663576" y="2409895"/>
            <a:ext cx="1326057" cy="10060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endCxn id="27" idx="1"/>
          </p:cNvCxnSpPr>
          <p:nvPr/>
        </p:nvCxnSpPr>
        <p:spPr>
          <a:xfrm>
            <a:off x="4098699" y="3958738"/>
            <a:ext cx="878285" cy="218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2844800" y="4635974"/>
            <a:ext cx="2144833" cy="1094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05734" y="3633774"/>
            <a:ext cx="3715944" cy="430887"/>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停止状态：</a:t>
            </a:r>
            <a:endParaRPr lang="en-US" altLang="zh-CN" sz="1100" dirty="0">
              <a:solidFill>
                <a:srgbClr val="000000"/>
              </a:solidFill>
              <a:latin typeface="+mn-ea"/>
            </a:endParaRPr>
          </a:p>
          <a:p>
            <a:r>
              <a:rPr lang="zh-CN" altLang="en-US" sz="1100" dirty="0">
                <a:solidFill>
                  <a:srgbClr val="000000"/>
                </a:solidFill>
                <a:latin typeface="+mn-ea"/>
              </a:rPr>
              <a:t>    发送错误的</a:t>
            </a:r>
            <a:r>
              <a:rPr lang="en-US" altLang="zh-CN" sz="1100" dirty="0">
                <a:solidFill>
                  <a:srgbClr val="000000"/>
                </a:solidFill>
                <a:latin typeface="+mn-ea"/>
              </a:rPr>
              <a:t>【</a:t>
            </a:r>
            <a:r>
              <a:rPr lang="zh-CN" altLang="en-US" sz="1100" dirty="0">
                <a:solidFill>
                  <a:srgbClr val="000000"/>
                </a:solidFill>
                <a:latin typeface="+mn-ea"/>
              </a:rPr>
              <a:t>指令类型</a:t>
            </a:r>
            <a:r>
              <a:rPr lang="en-US" altLang="zh-CN" sz="1100" dirty="0">
                <a:solidFill>
                  <a:srgbClr val="000000"/>
                </a:solidFill>
                <a:latin typeface="+mn-ea"/>
              </a:rPr>
              <a:t>】</a:t>
            </a:r>
            <a:r>
              <a:rPr lang="zh-CN" altLang="en-US" sz="1100" dirty="0">
                <a:solidFill>
                  <a:srgbClr val="000000"/>
                </a:solidFill>
                <a:latin typeface="+mn-ea"/>
              </a:rPr>
              <a:t>的</a:t>
            </a:r>
            <a:r>
              <a:rPr lang="en-US" altLang="zh-CN" sz="1100" dirty="0">
                <a:solidFill>
                  <a:srgbClr val="000000"/>
                </a:solidFill>
                <a:latin typeface="+mn-ea"/>
              </a:rPr>
              <a:t>【</a:t>
            </a:r>
            <a:r>
              <a:rPr lang="zh-CN" altLang="en-US" sz="1100" dirty="0">
                <a:solidFill>
                  <a:srgbClr val="000000"/>
                </a:solidFill>
                <a:latin typeface="+mn-ea"/>
              </a:rPr>
              <a:t>开启</a:t>
            </a:r>
            <a:r>
              <a:rPr lang="en-US" altLang="zh-CN" sz="1100" dirty="0">
                <a:solidFill>
                  <a:srgbClr val="000000"/>
                </a:solidFill>
                <a:latin typeface="+mn-ea"/>
              </a:rPr>
              <a:t>】</a:t>
            </a:r>
            <a:r>
              <a:rPr lang="zh-CN" altLang="en-US" sz="1100" dirty="0">
                <a:solidFill>
                  <a:srgbClr val="000000"/>
                </a:solidFill>
                <a:latin typeface="+mn-ea"/>
              </a:rPr>
              <a:t>指令，保持停止</a:t>
            </a:r>
            <a:endParaRPr lang="en-US" altLang="zh-CN" sz="1100" dirty="0">
              <a:solidFill>
                <a:srgbClr val="000000"/>
              </a:solidFill>
              <a:latin typeface="+mn-ea"/>
            </a:endParaRPr>
          </a:p>
        </p:txBody>
      </p:sp>
      <p:sp>
        <p:nvSpPr>
          <p:cNvPr id="39" name="文本框 38"/>
          <p:cNvSpPr txBox="1"/>
          <p:nvPr/>
        </p:nvSpPr>
        <p:spPr>
          <a:xfrm>
            <a:off x="595290" y="4176995"/>
            <a:ext cx="3237520" cy="261610"/>
          </a:xfrm>
          <a:prstGeom prst="rect">
            <a:avLst/>
          </a:prstGeom>
          <a:noFill/>
        </p:spPr>
        <p:txBody>
          <a:bodyPr wrap="square">
            <a:spAutoFit/>
          </a:bodyPr>
          <a:lstStyle>
            <a:defPPr>
              <a:defRPr lang="zh-CN"/>
            </a:defPPr>
            <a:lvl1pPr marL="171450" indent="-171450">
              <a:buFont typeface="Arial" panose="020B0604020202020204" pitchFamily="34" charset="0"/>
              <a:buChar char="•"/>
              <a:defRPr sz="1100">
                <a:solidFill>
                  <a:srgbClr val="000000"/>
                </a:solidFill>
                <a:latin typeface="+mn-ea"/>
              </a:defRPr>
            </a:lvl1pPr>
          </a:lstStyle>
          <a:p>
            <a:r>
              <a:rPr lang="zh-CN" altLang="en-US" dirty="0"/>
              <a:t>开启状态，发送错误的停止指令，保持开启</a:t>
            </a:r>
            <a:endParaRPr lang="en-US" altLang="zh-CN" dirty="0"/>
          </a:p>
        </p:txBody>
      </p:sp>
      <p:pic>
        <p:nvPicPr>
          <p:cNvPr id="2" name="图片 1"/>
          <p:cNvPicPr>
            <a:picLocks noChangeAspect="1"/>
          </p:cNvPicPr>
          <p:nvPr/>
        </p:nvPicPr>
        <p:blipFill>
          <a:blip r:embed="rId2"/>
          <a:stretch>
            <a:fillRect/>
          </a:stretch>
        </p:blipFill>
        <p:spPr>
          <a:xfrm>
            <a:off x="0" y="0"/>
            <a:ext cx="5163671" cy="1148799"/>
          </a:xfrm>
          <a:prstGeom prst="rect">
            <a:avLst/>
          </a:prstGeom>
        </p:spPr>
      </p:pic>
      <p:sp>
        <p:nvSpPr>
          <p:cNvPr id="3" name="文本框 2"/>
          <p:cNvSpPr txBox="1"/>
          <p:nvPr/>
        </p:nvSpPr>
        <p:spPr>
          <a:xfrm>
            <a:off x="1995805" y="471001"/>
            <a:ext cx="5301466" cy="523220"/>
          </a:xfrm>
          <a:prstGeom prst="rect">
            <a:avLst/>
          </a:prstGeom>
          <a:noFill/>
        </p:spPr>
        <p:txBody>
          <a:bodyPr wrap="square" rtlCol="0">
            <a:spAutoFit/>
          </a:bodyPr>
          <a:lstStyle/>
          <a:p>
            <a:r>
              <a:rPr lang="en-US" altLang="zh-CN" sz="2800" b="1" dirty="0">
                <a:solidFill>
                  <a:srgbClr val="136FB8"/>
                </a:solidFill>
              </a:rPr>
              <a:t>3.1. </a:t>
            </a:r>
            <a:r>
              <a:rPr lang="zh-CN" altLang="en-US" sz="2800" b="1" dirty="0">
                <a:solidFill>
                  <a:srgbClr val="136FB8"/>
                </a:solidFill>
              </a:rPr>
              <a:t>巡航设置输入接口</a:t>
            </a:r>
            <a:r>
              <a:rPr lang="en-US" altLang="zh-CN" sz="2800" b="1" dirty="0">
                <a:solidFill>
                  <a:srgbClr val="136FB8"/>
                </a:solidFill>
              </a:rPr>
              <a:t>(I_Set)</a:t>
            </a:r>
            <a:endParaRPr lang="zh-CN" altLang="en-US" sz="2800" b="1" dirty="0">
              <a:solidFill>
                <a:srgbClr val="136FB8"/>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srcRect t="4509"/>
          <a:stretch>
            <a:fillRect/>
          </a:stretch>
        </p:blipFill>
        <p:spPr>
          <a:xfrm>
            <a:off x="4799018" y="1798907"/>
            <a:ext cx="6228803" cy="2862072"/>
          </a:xfrm>
          <a:prstGeom prst="rect">
            <a:avLst/>
          </a:prstGeom>
        </p:spPr>
      </p:pic>
      <p:sp>
        <p:nvSpPr>
          <p:cNvPr id="22" name="标题 1"/>
          <p:cNvSpPr>
            <a:spLocks noGrp="1"/>
          </p:cNvSpPr>
          <p:nvPr>
            <p:ph type="title"/>
          </p:nvPr>
        </p:nvSpPr>
        <p:spPr>
          <a:xfrm>
            <a:off x="886326" y="142457"/>
            <a:ext cx="3678054" cy="392864"/>
          </a:xfrm>
        </p:spPr>
        <p:txBody>
          <a:bodyPr>
            <a:noAutofit/>
          </a:bodyPr>
          <a:lstStyle/>
          <a:p>
            <a:r>
              <a:rPr lang="en-US" altLang="zh-CN" sz="1800" dirty="0">
                <a:solidFill>
                  <a:schemeClr val="bg1"/>
                </a:solidFill>
                <a:latin typeface="+mn-ea"/>
                <a:ea typeface="+mn-ea"/>
              </a:rPr>
              <a:t>3.2. </a:t>
            </a:r>
            <a:r>
              <a:rPr lang="zh-CN" altLang="en-US" sz="1800" dirty="0">
                <a:solidFill>
                  <a:schemeClr val="bg1"/>
                </a:solidFill>
                <a:latin typeface="+mn-ea"/>
                <a:ea typeface="+mn-ea"/>
              </a:rPr>
              <a:t>油门输出接口</a:t>
            </a:r>
            <a:r>
              <a:rPr lang="en-US" altLang="zh-CN" sz="1800" dirty="0">
                <a:solidFill>
                  <a:schemeClr val="bg1"/>
                </a:solidFill>
                <a:latin typeface="+mn-ea"/>
                <a:ea typeface="+mn-ea"/>
              </a:rPr>
              <a:t>(</a:t>
            </a:r>
            <a:r>
              <a:rPr lang="en-US" altLang="zh-CN" sz="1800" dirty="0" err="1">
                <a:solidFill>
                  <a:schemeClr val="bg1"/>
                </a:solidFill>
                <a:latin typeface="+mn-ea"/>
                <a:ea typeface="+mn-ea"/>
              </a:rPr>
              <a:t>I_Accelerator</a:t>
            </a:r>
            <a:r>
              <a:rPr lang="en-US" altLang="zh-CN" sz="1800" dirty="0">
                <a:solidFill>
                  <a:schemeClr val="bg1"/>
                </a:solidFill>
                <a:latin typeface="+mn-ea"/>
                <a:ea typeface="+mn-ea"/>
              </a:rPr>
              <a:t>)</a:t>
            </a:r>
            <a:endParaRPr lang="zh-CN" altLang="en-US" sz="1800" dirty="0">
              <a:solidFill>
                <a:schemeClr val="bg1"/>
              </a:solidFill>
              <a:latin typeface="+mn-ea"/>
              <a:ea typeface="+mn-ea"/>
            </a:endParaRPr>
          </a:p>
        </p:txBody>
      </p:sp>
      <p:sp>
        <p:nvSpPr>
          <p:cNvPr id="9" name="文本框 8"/>
          <p:cNvSpPr txBox="1"/>
          <p:nvPr/>
        </p:nvSpPr>
        <p:spPr>
          <a:xfrm>
            <a:off x="595290" y="1212904"/>
            <a:ext cx="960460" cy="307777"/>
          </a:xfrm>
          <a:prstGeom prst="rect">
            <a:avLst/>
          </a:prstGeom>
          <a:noFill/>
        </p:spPr>
        <p:txBody>
          <a:bodyPr wrap="square">
            <a:spAutoFit/>
          </a:bodyPr>
          <a:lstStyle/>
          <a:p>
            <a:r>
              <a:rPr lang="zh-CN" altLang="en-US" sz="1400" b="1" dirty="0">
                <a:solidFill>
                  <a:srgbClr val="000000"/>
                </a:solidFill>
                <a:latin typeface="+mn-ea"/>
              </a:rPr>
              <a:t>测试点</a:t>
            </a:r>
            <a:endParaRPr lang="en-US" altLang="zh-CN" sz="1400" b="1" dirty="0">
              <a:solidFill>
                <a:srgbClr val="000000"/>
              </a:solidFill>
              <a:latin typeface="+mn-ea"/>
            </a:endParaRPr>
          </a:p>
        </p:txBody>
      </p:sp>
      <p:sp>
        <p:nvSpPr>
          <p:cNvPr id="11" name="文本框 10"/>
          <p:cNvSpPr txBox="1"/>
          <p:nvPr/>
        </p:nvSpPr>
        <p:spPr>
          <a:xfrm>
            <a:off x="595290" y="2128587"/>
            <a:ext cx="3327167" cy="307777"/>
          </a:xfrm>
          <a:prstGeom prst="rect">
            <a:avLst/>
          </a:prstGeom>
          <a:noFill/>
        </p:spPr>
        <p:txBody>
          <a:bodyPr wrap="square">
            <a:spAutoFit/>
          </a:bodyPr>
          <a:lstStyle/>
          <a:p>
            <a:r>
              <a:rPr lang="zh-CN" altLang="en-US" sz="1400" b="1" dirty="0">
                <a:solidFill>
                  <a:srgbClr val="000000"/>
                </a:solidFill>
                <a:latin typeface="+mn-ea"/>
              </a:rPr>
              <a:t>测试思路</a:t>
            </a:r>
            <a:endParaRPr lang="en-US" altLang="zh-CN" sz="1400" b="1" dirty="0">
              <a:solidFill>
                <a:srgbClr val="000000"/>
              </a:solidFill>
              <a:latin typeface="+mn-ea"/>
            </a:endParaRPr>
          </a:p>
        </p:txBody>
      </p:sp>
      <p:sp>
        <p:nvSpPr>
          <p:cNvPr id="12" name="文本框 11"/>
          <p:cNvSpPr txBox="1"/>
          <p:nvPr/>
        </p:nvSpPr>
        <p:spPr>
          <a:xfrm>
            <a:off x="644820" y="1567793"/>
            <a:ext cx="3856060" cy="270202"/>
          </a:xfrm>
          <a:prstGeom prst="rect">
            <a:avLst/>
          </a:prstGeom>
          <a:noFill/>
        </p:spPr>
        <p:txBody>
          <a:bodyPr wrap="square">
            <a:spAutoFit/>
          </a:bodyPr>
          <a:lstStyle>
            <a:defPPr>
              <a:defRPr lang="zh-CN"/>
            </a:defPPr>
            <a:lvl1pPr>
              <a:defRPr sz="1200">
                <a:solidFill>
                  <a:srgbClr val="000000"/>
                </a:solidFill>
                <a:latin typeface="+mn-ea"/>
              </a:defRPr>
            </a:lvl1pPr>
          </a:lstStyle>
          <a:p>
            <a:pPr marL="171450" indent="-171450">
              <a:lnSpc>
                <a:spcPts val="1500"/>
              </a:lnSpc>
              <a:buFont typeface="Arial" panose="020B0604020202020204" pitchFamily="34" charset="0"/>
              <a:buChar char="•"/>
            </a:pPr>
            <a:r>
              <a:rPr lang="zh-CN" altLang="en-US" sz="1100" dirty="0"/>
              <a:t>定速巡航系统依据功能需求向油门发送数据的数据格式</a:t>
            </a:r>
            <a:endParaRPr lang="en-US" altLang="zh-CN" sz="1100" dirty="0"/>
          </a:p>
        </p:txBody>
      </p:sp>
      <p:sp>
        <p:nvSpPr>
          <p:cNvPr id="17" name="文本框 16"/>
          <p:cNvSpPr txBox="1"/>
          <p:nvPr/>
        </p:nvSpPr>
        <p:spPr>
          <a:xfrm>
            <a:off x="644820" y="2483476"/>
            <a:ext cx="2644480"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发送速度</a:t>
            </a:r>
            <a:endParaRPr lang="en-US" altLang="zh-CN" sz="1100" dirty="0">
              <a:solidFill>
                <a:srgbClr val="000000"/>
              </a:solidFill>
              <a:latin typeface="+mn-ea"/>
            </a:endParaRPr>
          </a:p>
        </p:txBody>
      </p:sp>
      <p:sp>
        <p:nvSpPr>
          <p:cNvPr id="20" name="文本框 19"/>
          <p:cNvSpPr txBox="1"/>
          <p:nvPr/>
        </p:nvSpPr>
        <p:spPr>
          <a:xfrm>
            <a:off x="644820" y="2825135"/>
            <a:ext cx="2644480"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读取油门通道信息，并根据协议解包</a:t>
            </a:r>
            <a:endParaRPr lang="en-US" altLang="zh-CN" sz="1100" dirty="0">
              <a:solidFill>
                <a:srgbClr val="000000"/>
              </a:solidFill>
              <a:latin typeface="+mn-ea"/>
            </a:endParaRPr>
          </a:p>
        </p:txBody>
      </p:sp>
      <p:sp>
        <p:nvSpPr>
          <p:cNvPr id="21" name="文本框 20"/>
          <p:cNvSpPr txBox="1"/>
          <p:nvPr/>
        </p:nvSpPr>
        <p:spPr>
          <a:xfrm>
            <a:off x="644820" y="3161296"/>
            <a:ext cx="2644480"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判断油门通道信息每个字段的正确性</a:t>
            </a:r>
            <a:endParaRPr lang="en-US" altLang="zh-CN" sz="1100" dirty="0">
              <a:solidFill>
                <a:srgbClr val="000000"/>
              </a:solidFill>
              <a:latin typeface="+mn-ea"/>
            </a:endParaRPr>
          </a:p>
        </p:txBody>
      </p:sp>
      <p:sp>
        <p:nvSpPr>
          <p:cNvPr id="27" name="左大括号 26"/>
          <p:cNvSpPr/>
          <p:nvPr/>
        </p:nvSpPr>
        <p:spPr>
          <a:xfrm>
            <a:off x="4982754" y="3200473"/>
            <a:ext cx="174038" cy="9664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2" name="直接箭头连接符 31"/>
          <p:cNvCxnSpPr>
            <a:stCxn id="21" idx="3"/>
            <a:endCxn id="27" idx="1"/>
          </p:cNvCxnSpPr>
          <p:nvPr/>
        </p:nvCxnSpPr>
        <p:spPr>
          <a:xfrm>
            <a:off x="3289300" y="3292101"/>
            <a:ext cx="1693454" cy="391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2"/>
          <a:stretch>
            <a:fillRect/>
          </a:stretch>
        </p:blipFill>
        <p:spPr>
          <a:xfrm>
            <a:off x="739801" y="3675862"/>
            <a:ext cx="3476930" cy="2096110"/>
          </a:xfrm>
          <a:prstGeom prst="rect">
            <a:avLst/>
          </a:prstGeom>
        </p:spPr>
      </p:pic>
      <p:cxnSp>
        <p:nvCxnSpPr>
          <p:cNvPr id="24" name="直接箭头连接符 23"/>
          <p:cNvCxnSpPr>
            <a:stCxn id="17" idx="3"/>
          </p:cNvCxnSpPr>
          <p:nvPr/>
        </p:nvCxnSpPr>
        <p:spPr>
          <a:xfrm>
            <a:off x="3289300" y="2614281"/>
            <a:ext cx="1803992" cy="30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0" idx="3"/>
            <a:endCxn id="36" idx="1"/>
          </p:cNvCxnSpPr>
          <p:nvPr/>
        </p:nvCxnSpPr>
        <p:spPr>
          <a:xfrm>
            <a:off x="3289300" y="2955940"/>
            <a:ext cx="1693454" cy="35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左大括号 35"/>
          <p:cNvSpPr/>
          <p:nvPr/>
        </p:nvSpPr>
        <p:spPr>
          <a:xfrm>
            <a:off x="4982754" y="2783286"/>
            <a:ext cx="174038" cy="41718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0" y="0"/>
            <a:ext cx="5163671" cy="1148799"/>
          </a:xfrm>
          <a:prstGeom prst="rect">
            <a:avLst/>
          </a:prstGeom>
        </p:spPr>
      </p:pic>
      <p:sp>
        <p:nvSpPr>
          <p:cNvPr id="3" name="文本框 2"/>
          <p:cNvSpPr txBox="1"/>
          <p:nvPr/>
        </p:nvSpPr>
        <p:spPr>
          <a:xfrm>
            <a:off x="1995805" y="471001"/>
            <a:ext cx="5970830" cy="523220"/>
          </a:xfrm>
          <a:prstGeom prst="rect">
            <a:avLst/>
          </a:prstGeom>
          <a:noFill/>
        </p:spPr>
        <p:txBody>
          <a:bodyPr wrap="square" rtlCol="0">
            <a:spAutoFit/>
          </a:bodyPr>
          <a:lstStyle/>
          <a:p>
            <a:r>
              <a:rPr lang="en-US" altLang="zh-CN" sz="2800" b="1" dirty="0">
                <a:solidFill>
                  <a:srgbClr val="136FB8"/>
                </a:solidFill>
              </a:rPr>
              <a:t>3.2. </a:t>
            </a:r>
            <a:r>
              <a:rPr lang="zh-CN" altLang="en-US" sz="2800" b="1" dirty="0">
                <a:solidFill>
                  <a:srgbClr val="136FB8"/>
                </a:solidFill>
              </a:rPr>
              <a:t>油门输出接口</a:t>
            </a:r>
            <a:r>
              <a:rPr lang="en-US" altLang="zh-CN" sz="2800" b="1" dirty="0">
                <a:solidFill>
                  <a:srgbClr val="136FB8"/>
                </a:solidFill>
              </a:rPr>
              <a:t>(I_Accelerator)</a:t>
            </a:r>
            <a:endParaRPr lang="zh-CN" altLang="en-US" sz="2800" b="1" dirty="0">
              <a:solidFill>
                <a:srgbClr val="136FB8"/>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4912306" y="2157251"/>
            <a:ext cx="5014608" cy="2521590"/>
          </a:xfrm>
          <a:prstGeom prst="rect">
            <a:avLst/>
          </a:prstGeom>
        </p:spPr>
      </p:pic>
      <p:sp>
        <p:nvSpPr>
          <p:cNvPr id="22" name="标题 1"/>
          <p:cNvSpPr>
            <a:spLocks noGrp="1"/>
          </p:cNvSpPr>
          <p:nvPr>
            <p:ph type="title"/>
          </p:nvPr>
        </p:nvSpPr>
        <p:spPr>
          <a:xfrm>
            <a:off x="886326" y="142457"/>
            <a:ext cx="4613326" cy="392864"/>
          </a:xfrm>
        </p:spPr>
        <p:txBody>
          <a:bodyPr>
            <a:noAutofit/>
          </a:bodyPr>
          <a:lstStyle/>
          <a:p>
            <a:r>
              <a:rPr lang="en-US" altLang="zh-CN" sz="1800" dirty="0">
                <a:solidFill>
                  <a:schemeClr val="bg1"/>
                </a:solidFill>
                <a:latin typeface="+mn-ea"/>
                <a:ea typeface="+mn-ea"/>
              </a:rPr>
              <a:t>4.1. </a:t>
            </a:r>
            <a:r>
              <a:rPr lang="zh-CN" altLang="en-US" sz="1800" dirty="0">
                <a:solidFill>
                  <a:schemeClr val="bg1"/>
                </a:solidFill>
                <a:latin typeface="+mn-ea"/>
                <a:ea typeface="+mn-ea"/>
              </a:rPr>
              <a:t>油门输出时间性能需求</a:t>
            </a:r>
            <a:r>
              <a:rPr lang="en-US" altLang="zh-CN" sz="1800" dirty="0">
                <a:solidFill>
                  <a:schemeClr val="bg1"/>
                </a:solidFill>
                <a:latin typeface="+mn-ea"/>
                <a:ea typeface="+mn-ea"/>
              </a:rPr>
              <a:t>(</a:t>
            </a:r>
            <a:r>
              <a:rPr lang="en-US" altLang="zh-CN" sz="1800" dirty="0" err="1">
                <a:solidFill>
                  <a:schemeClr val="bg1"/>
                </a:solidFill>
                <a:latin typeface="+mn-ea"/>
                <a:ea typeface="+mn-ea"/>
              </a:rPr>
              <a:t>P_Control</a:t>
            </a:r>
            <a:r>
              <a:rPr lang="en-US" altLang="zh-CN" sz="1800" dirty="0">
                <a:solidFill>
                  <a:schemeClr val="bg1"/>
                </a:solidFill>
                <a:latin typeface="+mn-ea"/>
                <a:ea typeface="+mn-ea"/>
              </a:rPr>
              <a:t>)</a:t>
            </a:r>
            <a:endParaRPr lang="zh-CN" altLang="en-US" sz="1800" dirty="0">
              <a:solidFill>
                <a:schemeClr val="bg1"/>
              </a:solidFill>
              <a:latin typeface="+mn-ea"/>
              <a:ea typeface="+mn-ea"/>
            </a:endParaRPr>
          </a:p>
        </p:txBody>
      </p:sp>
      <p:sp>
        <p:nvSpPr>
          <p:cNvPr id="9" name="文本框 8"/>
          <p:cNvSpPr txBox="1"/>
          <p:nvPr/>
        </p:nvSpPr>
        <p:spPr>
          <a:xfrm>
            <a:off x="595289" y="1192697"/>
            <a:ext cx="1106510" cy="307777"/>
          </a:xfrm>
          <a:prstGeom prst="rect">
            <a:avLst/>
          </a:prstGeom>
          <a:noFill/>
        </p:spPr>
        <p:txBody>
          <a:bodyPr wrap="square">
            <a:spAutoFit/>
          </a:bodyPr>
          <a:lstStyle/>
          <a:p>
            <a:r>
              <a:rPr lang="zh-CN" altLang="en-US" sz="1400" b="1" dirty="0">
                <a:solidFill>
                  <a:srgbClr val="000000"/>
                </a:solidFill>
                <a:latin typeface="+mn-ea"/>
              </a:rPr>
              <a:t>测试点</a:t>
            </a:r>
            <a:endParaRPr lang="en-US" altLang="zh-CN" sz="1400" b="1" dirty="0">
              <a:solidFill>
                <a:srgbClr val="000000"/>
              </a:solidFill>
              <a:latin typeface="+mn-ea"/>
            </a:endParaRPr>
          </a:p>
        </p:txBody>
      </p:sp>
      <p:sp>
        <p:nvSpPr>
          <p:cNvPr id="11" name="文本框 10"/>
          <p:cNvSpPr txBox="1"/>
          <p:nvPr/>
        </p:nvSpPr>
        <p:spPr>
          <a:xfrm>
            <a:off x="595290" y="2128587"/>
            <a:ext cx="3327167" cy="307777"/>
          </a:xfrm>
          <a:prstGeom prst="rect">
            <a:avLst/>
          </a:prstGeom>
          <a:noFill/>
        </p:spPr>
        <p:txBody>
          <a:bodyPr wrap="square">
            <a:spAutoFit/>
          </a:bodyPr>
          <a:lstStyle/>
          <a:p>
            <a:r>
              <a:rPr lang="zh-CN" altLang="en-US" sz="1400" b="1" dirty="0">
                <a:solidFill>
                  <a:srgbClr val="000000"/>
                </a:solidFill>
                <a:latin typeface="+mn-ea"/>
              </a:rPr>
              <a:t>测试思路</a:t>
            </a:r>
            <a:endParaRPr lang="en-US" altLang="zh-CN" sz="1400" b="1" dirty="0">
              <a:solidFill>
                <a:srgbClr val="000000"/>
              </a:solidFill>
              <a:latin typeface="+mn-ea"/>
            </a:endParaRPr>
          </a:p>
        </p:txBody>
      </p:sp>
      <p:sp>
        <p:nvSpPr>
          <p:cNvPr id="12" name="文本框 11"/>
          <p:cNvSpPr txBox="1"/>
          <p:nvPr/>
        </p:nvSpPr>
        <p:spPr>
          <a:xfrm>
            <a:off x="644820" y="1540531"/>
            <a:ext cx="3856060" cy="462563"/>
          </a:xfrm>
          <a:prstGeom prst="rect">
            <a:avLst/>
          </a:prstGeom>
          <a:noFill/>
        </p:spPr>
        <p:txBody>
          <a:bodyPr wrap="square">
            <a:spAutoFit/>
          </a:bodyPr>
          <a:lstStyle>
            <a:defPPr>
              <a:defRPr lang="zh-CN"/>
            </a:defPPr>
            <a:lvl1pPr>
              <a:defRPr sz="1200">
                <a:solidFill>
                  <a:srgbClr val="000000"/>
                </a:solidFill>
                <a:latin typeface="+mn-ea"/>
              </a:defRPr>
            </a:lvl1pPr>
          </a:lstStyle>
          <a:p>
            <a:pPr marL="171450" indent="-171450">
              <a:lnSpc>
                <a:spcPts val="1500"/>
              </a:lnSpc>
              <a:buFont typeface="Arial" panose="020B0604020202020204" pitchFamily="34" charset="0"/>
              <a:buChar char="•"/>
            </a:pPr>
            <a:r>
              <a:rPr lang="zh-CN" altLang="en-US" sz="1100" dirty="0"/>
              <a:t>请给出连续 </a:t>
            </a:r>
            <a:r>
              <a:rPr lang="en-US" altLang="zh-CN" sz="1100" dirty="0"/>
              <a:t>10 </a:t>
            </a:r>
            <a:r>
              <a:rPr lang="zh-CN" altLang="en-US" sz="1100" dirty="0"/>
              <a:t>次测试的平均响应时间，并判断是否符合</a:t>
            </a:r>
            <a:r>
              <a:rPr lang="en-US" altLang="zh-CN" sz="1100" dirty="0"/>
              <a:t>【</a:t>
            </a:r>
            <a:r>
              <a:rPr lang="zh-CN" altLang="en-US" sz="1100" dirty="0"/>
              <a:t>油门输出时间</a:t>
            </a:r>
            <a:r>
              <a:rPr lang="en-US" altLang="zh-CN" sz="1100" dirty="0"/>
              <a:t>&lt;=100ms】</a:t>
            </a:r>
            <a:r>
              <a:rPr lang="zh-CN" altLang="en-US" sz="1100" dirty="0"/>
              <a:t>的要求。</a:t>
            </a:r>
            <a:endParaRPr lang="en-US" altLang="zh-CN" sz="1100" dirty="0"/>
          </a:p>
        </p:txBody>
      </p:sp>
      <p:sp>
        <p:nvSpPr>
          <p:cNvPr id="17" name="文本框 16"/>
          <p:cNvSpPr txBox="1"/>
          <p:nvPr/>
        </p:nvSpPr>
        <p:spPr>
          <a:xfrm>
            <a:off x="1002628" y="2750103"/>
            <a:ext cx="1146984"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取得时间</a:t>
            </a:r>
            <a:r>
              <a:rPr lang="en-US" altLang="zh-CN" sz="1100" dirty="0">
                <a:solidFill>
                  <a:srgbClr val="000000"/>
                </a:solidFill>
                <a:latin typeface="+mn-ea"/>
              </a:rPr>
              <a:t>1</a:t>
            </a:r>
            <a:endParaRPr lang="en-US" altLang="zh-CN" sz="1100" dirty="0">
              <a:solidFill>
                <a:srgbClr val="000000"/>
              </a:solidFill>
              <a:latin typeface="+mn-ea"/>
            </a:endParaRPr>
          </a:p>
        </p:txBody>
      </p:sp>
      <p:sp>
        <p:nvSpPr>
          <p:cNvPr id="20" name="文本框 19"/>
          <p:cNvSpPr txBox="1"/>
          <p:nvPr/>
        </p:nvSpPr>
        <p:spPr>
          <a:xfrm>
            <a:off x="1002628" y="3091762"/>
            <a:ext cx="2737246"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打包输出车速</a:t>
            </a:r>
            <a:r>
              <a:rPr lang="zh-CN" altLang="en-US" sz="1100">
                <a:solidFill>
                  <a:srgbClr val="000000"/>
                </a:solidFill>
                <a:latin typeface="+mn-ea"/>
              </a:rPr>
              <a:t>数据值，并</a:t>
            </a:r>
            <a:r>
              <a:rPr lang="zh-CN" altLang="en-US" sz="1100" dirty="0">
                <a:solidFill>
                  <a:srgbClr val="000000"/>
                </a:solidFill>
                <a:latin typeface="+mn-ea"/>
              </a:rPr>
              <a:t>读取油门信号</a:t>
            </a:r>
            <a:endParaRPr lang="en-US" altLang="zh-CN" sz="1100" dirty="0">
              <a:solidFill>
                <a:srgbClr val="000000"/>
              </a:solidFill>
              <a:latin typeface="+mn-ea"/>
            </a:endParaRPr>
          </a:p>
        </p:txBody>
      </p:sp>
      <p:sp>
        <p:nvSpPr>
          <p:cNvPr id="21" name="文本框 20"/>
          <p:cNvSpPr txBox="1"/>
          <p:nvPr/>
        </p:nvSpPr>
        <p:spPr>
          <a:xfrm>
            <a:off x="1002628" y="3427923"/>
            <a:ext cx="1047593"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取得时间</a:t>
            </a:r>
            <a:r>
              <a:rPr lang="en-US" altLang="zh-CN" sz="1100" dirty="0">
                <a:solidFill>
                  <a:srgbClr val="000000"/>
                </a:solidFill>
                <a:latin typeface="+mn-ea"/>
              </a:rPr>
              <a:t>2</a:t>
            </a:r>
            <a:endParaRPr lang="en-US" altLang="zh-CN" sz="1100" dirty="0">
              <a:solidFill>
                <a:srgbClr val="000000"/>
              </a:solidFill>
              <a:latin typeface="+mn-ea"/>
            </a:endParaRPr>
          </a:p>
        </p:txBody>
      </p:sp>
      <p:cxnSp>
        <p:nvCxnSpPr>
          <p:cNvPr id="32" name="直接箭头连接符 31"/>
          <p:cNvCxnSpPr>
            <a:stCxn id="21" idx="3"/>
          </p:cNvCxnSpPr>
          <p:nvPr/>
        </p:nvCxnSpPr>
        <p:spPr>
          <a:xfrm flipV="1">
            <a:off x="2050221" y="3355685"/>
            <a:ext cx="3178764" cy="203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7" idx="3"/>
          </p:cNvCxnSpPr>
          <p:nvPr/>
        </p:nvCxnSpPr>
        <p:spPr>
          <a:xfrm flipV="1">
            <a:off x="2149612" y="2870406"/>
            <a:ext cx="3079373" cy="10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0" idx="3"/>
            <a:endCxn id="36" idx="1"/>
          </p:cNvCxnSpPr>
          <p:nvPr/>
        </p:nvCxnSpPr>
        <p:spPr>
          <a:xfrm flipV="1">
            <a:off x="3739874" y="3108272"/>
            <a:ext cx="1492975" cy="114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左大括号 35"/>
          <p:cNvSpPr/>
          <p:nvPr/>
        </p:nvSpPr>
        <p:spPr>
          <a:xfrm>
            <a:off x="5232849" y="2976253"/>
            <a:ext cx="174038" cy="2640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1002627" y="3740906"/>
            <a:ext cx="2902896" cy="430887"/>
          </a:xfrm>
          <a:prstGeom prst="rect">
            <a:avLst/>
          </a:prstGeom>
          <a:noFill/>
        </p:spPr>
        <p:txBody>
          <a:bodyPr wrap="square">
            <a:spAutoFit/>
          </a:bodyPr>
          <a:lstStyle/>
          <a:p>
            <a:pPr marL="171450" indent="-171450">
              <a:buFont typeface="Arial" panose="020B0604020202020204" pitchFamily="34" charset="0"/>
              <a:buChar char="•"/>
            </a:pPr>
            <a:r>
              <a:rPr lang="zh-CN" altLang="en-US" sz="1100">
                <a:solidFill>
                  <a:srgbClr val="000000"/>
                </a:solidFill>
                <a:latin typeface="+mn-ea"/>
              </a:rPr>
              <a:t>计算响应时间，并</a:t>
            </a:r>
            <a:r>
              <a:rPr lang="zh-CN" altLang="en-US" sz="1100" dirty="0">
                <a:solidFill>
                  <a:srgbClr val="000000"/>
                </a:solidFill>
                <a:latin typeface="+mn-ea"/>
              </a:rPr>
              <a:t>加到总和</a:t>
            </a:r>
            <a:r>
              <a:rPr lang="en-US" altLang="zh-CN" sz="1100" dirty="0" err="1">
                <a:solidFill>
                  <a:srgbClr val="000000"/>
                </a:solidFill>
                <a:latin typeface="+mn-ea"/>
              </a:rPr>
              <a:t>sumTime</a:t>
            </a:r>
            <a:r>
              <a:rPr lang="zh-CN" altLang="en-US" sz="1100" dirty="0">
                <a:solidFill>
                  <a:srgbClr val="000000"/>
                </a:solidFill>
                <a:latin typeface="+mn-ea"/>
              </a:rPr>
              <a:t>里</a:t>
            </a:r>
            <a:endParaRPr lang="en-US" altLang="zh-CN" sz="1100" dirty="0">
              <a:solidFill>
                <a:srgbClr val="000000"/>
              </a:solidFill>
              <a:latin typeface="+mn-ea"/>
            </a:endParaRPr>
          </a:p>
          <a:p>
            <a:r>
              <a:rPr lang="en-US" altLang="zh-CN" sz="1100" dirty="0">
                <a:solidFill>
                  <a:srgbClr val="000000"/>
                </a:solidFill>
                <a:latin typeface="+mn-ea"/>
              </a:rPr>
              <a:t>    (</a:t>
            </a:r>
            <a:r>
              <a:rPr lang="zh-CN" altLang="en-US" sz="1100" dirty="0">
                <a:solidFill>
                  <a:srgbClr val="000000"/>
                </a:solidFill>
                <a:latin typeface="+mn-ea"/>
              </a:rPr>
              <a:t>响应时间 </a:t>
            </a:r>
            <a:r>
              <a:rPr lang="en-US" altLang="zh-CN" sz="1100" dirty="0">
                <a:solidFill>
                  <a:srgbClr val="000000"/>
                </a:solidFill>
                <a:latin typeface="+mn-ea"/>
              </a:rPr>
              <a:t>= </a:t>
            </a:r>
            <a:r>
              <a:rPr lang="zh-CN" altLang="en-US" sz="1100" dirty="0">
                <a:solidFill>
                  <a:srgbClr val="000000"/>
                </a:solidFill>
                <a:latin typeface="+mn-ea"/>
              </a:rPr>
              <a:t>时间</a:t>
            </a:r>
            <a:r>
              <a:rPr lang="en-US" altLang="zh-CN" sz="1100" dirty="0">
                <a:solidFill>
                  <a:srgbClr val="000000"/>
                </a:solidFill>
                <a:latin typeface="+mn-ea"/>
              </a:rPr>
              <a:t>1 -</a:t>
            </a:r>
            <a:r>
              <a:rPr lang="zh-CN" altLang="en-US" sz="1100" dirty="0">
                <a:solidFill>
                  <a:srgbClr val="000000"/>
                </a:solidFill>
                <a:latin typeface="+mn-ea"/>
              </a:rPr>
              <a:t> 时间</a:t>
            </a:r>
            <a:r>
              <a:rPr lang="en-US" altLang="zh-CN" sz="1100" dirty="0">
                <a:solidFill>
                  <a:srgbClr val="000000"/>
                </a:solidFill>
                <a:latin typeface="+mn-ea"/>
              </a:rPr>
              <a:t>2)</a:t>
            </a:r>
            <a:endParaRPr lang="en-US" altLang="zh-CN" sz="1100" dirty="0">
              <a:solidFill>
                <a:srgbClr val="000000"/>
              </a:solidFill>
              <a:latin typeface="+mn-ea"/>
            </a:endParaRPr>
          </a:p>
        </p:txBody>
      </p:sp>
      <p:sp>
        <p:nvSpPr>
          <p:cNvPr id="18" name="文本框 17"/>
          <p:cNvSpPr txBox="1"/>
          <p:nvPr/>
        </p:nvSpPr>
        <p:spPr>
          <a:xfrm>
            <a:off x="595290" y="4269305"/>
            <a:ext cx="2902896"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平均响应时间 </a:t>
            </a:r>
            <a:r>
              <a:rPr lang="en-US" altLang="zh-CN" sz="1100" dirty="0">
                <a:solidFill>
                  <a:srgbClr val="000000"/>
                </a:solidFill>
                <a:latin typeface="+mn-ea"/>
              </a:rPr>
              <a:t>= 10</a:t>
            </a:r>
            <a:r>
              <a:rPr lang="zh-CN" altLang="en-US" sz="1100" dirty="0">
                <a:solidFill>
                  <a:srgbClr val="000000"/>
                </a:solidFill>
                <a:latin typeface="+mn-ea"/>
              </a:rPr>
              <a:t>次响应时间总和 </a:t>
            </a:r>
            <a:r>
              <a:rPr lang="en-US" altLang="zh-CN" sz="1100" dirty="0">
                <a:solidFill>
                  <a:srgbClr val="000000"/>
                </a:solidFill>
                <a:latin typeface="+mn-ea"/>
              </a:rPr>
              <a:t>÷ 10</a:t>
            </a:r>
            <a:endParaRPr lang="en-US" altLang="zh-CN" sz="1100" dirty="0">
              <a:solidFill>
                <a:srgbClr val="000000"/>
              </a:solidFill>
              <a:latin typeface="+mn-ea"/>
            </a:endParaRPr>
          </a:p>
        </p:txBody>
      </p:sp>
      <p:cxnSp>
        <p:nvCxnSpPr>
          <p:cNvPr id="38" name="直接箭头连接符 37"/>
          <p:cNvCxnSpPr>
            <a:stCxn id="7" idx="3"/>
            <a:endCxn id="71" idx="1"/>
          </p:cNvCxnSpPr>
          <p:nvPr/>
        </p:nvCxnSpPr>
        <p:spPr>
          <a:xfrm flipV="1">
            <a:off x="3905523" y="3605226"/>
            <a:ext cx="1333954" cy="3511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18" idx="3"/>
            <a:endCxn id="51" idx="1"/>
          </p:cNvCxnSpPr>
          <p:nvPr/>
        </p:nvCxnSpPr>
        <p:spPr>
          <a:xfrm flipV="1">
            <a:off x="3498186" y="4053481"/>
            <a:ext cx="1732903" cy="346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644820" y="2448436"/>
            <a:ext cx="2001750"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取得</a:t>
            </a:r>
            <a:r>
              <a:rPr lang="en-US" altLang="zh-CN" sz="1100" dirty="0">
                <a:solidFill>
                  <a:srgbClr val="000000"/>
                </a:solidFill>
                <a:latin typeface="+mn-ea"/>
              </a:rPr>
              <a:t>10</a:t>
            </a:r>
            <a:r>
              <a:rPr lang="zh-CN" altLang="en-US" sz="1100" dirty="0">
                <a:solidFill>
                  <a:srgbClr val="000000"/>
                </a:solidFill>
                <a:latin typeface="+mn-ea"/>
              </a:rPr>
              <a:t>次响应时间的总和</a:t>
            </a:r>
            <a:endParaRPr lang="en-US" altLang="zh-CN" sz="1100" dirty="0">
              <a:solidFill>
                <a:srgbClr val="000000"/>
              </a:solidFill>
              <a:latin typeface="+mn-ea"/>
            </a:endParaRPr>
          </a:p>
        </p:txBody>
      </p:sp>
      <p:sp>
        <p:nvSpPr>
          <p:cNvPr id="51" name="左大括号 50"/>
          <p:cNvSpPr/>
          <p:nvPr/>
        </p:nvSpPr>
        <p:spPr>
          <a:xfrm>
            <a:off x="5231089" y="3921462"/>
            <a:ext cx="174038" cy="2640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左大括号 70"/>
          <p:cNvSpPr/>
          <p:nvPr/>
        </p:nvSpPr>
        <p:spPr>
          <a:xfrm>
            <a:off x="5239477" y="3473207"/>
            <a:ext cx="174038" cy="2640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 name="文本框 79"/>
          <p:cNvSpPr txBox="1"/>
          <p:nvPr/>
        </p:nvSpPr>
        <p:spPr>
          <a:xfrm>
            <a:off x="595289" y="4579785"/>
            <a:ext cx="3721053" cy="261610"/>
          </a:xfrm>
          <a:prstGeom prst="rect">
            <a:avLst/>
          </a:prstGeom>
          <a:noFill/>
        </p:spPr>
        <p:txBody>
          <a:bodyPr wrap="square">
            <a:spAutoFit/>
          </a:bodyPr>
          <a:lstStyle/>
          <a:p>
            <a:pPr marL="171450" indent="-171450">
              <a:buFont typeface="Arial" panose="020B0604020202020204" pitchFamily="34" charset="0"/>
              <a:buChar char="•"/>
            </a:pPr>
            <a:r>
              <a:rPr lang="zh-CN" altLang="en-US" sz="1100" dirty="0">
                <a:solidFill>
                  <a:srgbClr val="000000"/>
                </a:solidFill>
                <a:latin typeface="+mn-ea"/>
              </a:rPr>
              <a:t>判断是否满足</a:t>
            </a:r>
            <a:r>
              <a:rPr lang="en-US" altLang="zh-CN" sz="1100" dirty="0">
                <a:solidFill>
                  <a:srgbClr val="000000"/>
                </a:solidFill>
                <a:latin typeface="+mn-ea"/>
              </a:rPr>
              <a:t>【</a:t>
            </a:r>
            <a:r>
              <a:rPr lang="zh-CN" altLang="en-US" sz="1100" dirty="0">
                <a:solidFill>
                  <a:srgbClr val="000000"/>
                </a:solidFill>
                <a:latin typeface="+mn-ea"/>
              </a:rPr>
              <a:t>平均响应时间</a:t>
            </a:r>
            <a:r>
              <a:rPr lang="en-US" altLang="zh-CN" sz="1100" dirty="0">
                <a:solidFill>
                  <a:srgbClr val="000000"/>
                </a:solidFill>
                <a:latin typeface="+mn-ea"/>
              </a:rPr>
              <a:t>&lt;=100】</a:t>
            </a:r>
            <a:endParaRPr lang="en-US" altLang="zh-CN" sz="1100" dirty="0">
              <a:solidFill>
                <a:srgbClr val="000000"/>
              </a:solidFill>
              <a:latin typeface="+mn-ea"/>
            </a:endParaRPr>
          </a:p>
        </p:txBody>
      </p:sp>
      <p:pic>
        <p:nvPicPr>
          <p:cNvPr id="2" name="图片 1"/>
          <p:cNvPicPr>
            <a:picLocks noChangeAspect="1"/>
          </p:cNvPicPr>
          <p:nvPr/>
        </p:nvPicPr>
        <p:blipFill>
          <a:blip r:embed="rId2"/>
          <a:stretch>
            <a:fillRect/>
          </a:stretch>
        </p:blipFill>
        <p:spPr>
          <a:xfrm>
            <a:off x="0" y="0"/>
            <a:ext cx="5163671" cy="1148799"/>
          </a:xfrm>
          <a:prstGeom prst="rect">
            <a:avLst/>
          </a:prstGeom>
        </p:spPr>
      </p:pic>
      <p:sp>
        <p:nvSpPr>
          <p:cNvPr id="3" name="文本框 2"/>
          <p:cNvSpPr txBox="1"/>
          <p:nvPr/>
        </p:nvSpPr>
        <p:spPr>
          <a:xfrm>
            <a:off x="1995805" y="471001"/>
            <a:ext cx="6502736" cy="523220"/>
          </a:xfrm>
          <a:prstGeom prst="rect">
            <a:avLst/>
          </a:prstGeom>
          <a:noFill/>
        </p:spPr>
        <p:txBody>
          <a:bodyPr wrap="square" rtlCol="0">
            <a:spAutoFit/>
          </a:bodyPr>
          <a:lstStyle/>
          <a:p>
            <a:r>
              <a:rPr lang="en-US" altLang="zh-CN" sz="2800" b="1" dirty="0">
                <a:solidFill>
                  <a:srgbClr val="136FB8"/>
                </a:solidFill>
              </a:rPr>
              <a:t>4.1. </a:t>
            </a:r>
            <a:r>
              <a:rPr lang="zh-CN" altLang="en-US" sz="2800" b="1" dirty="0">
                <a:solidFill>
                  <a:srgbClr val="136FB8"/>
                </a:solidFill>
              </a:rPr>
              <a:t>油门输出时间性能需求</a:t>
            </a:r>
            <a:r>
              <a:rPr lang="en-US" altLang="zh-CN" sz="2800" b="1" dirty="0">
                <a:solidFill>
                  <a:srgbClr val="136FB8"/>
                </a:solidFill>
              </a:rPr>
              <a:t>(P_Control)</a:t>
            </a:r>
            <a:endParaRPr lang="zh-CN" altLang="en-US" sz="2800" b="1" dirty="0">
              <a:solidFill>
                <a:srgbClr val="136FB8"/>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988142" y="2824241"/>
            <a:ext cx="2926080" cy="922020"/>
          </a:xfrm>
          <a:prstGeom prst="rect">
            <a:avLst/>
          </a:prstGeom>
        </p:spPr>
        <p:txBody>
          <a:bodyPr wrap="none">
            <a:spAutoFit/>
          </a:bodyPr>
          <a:lstStyle/>
          <a:p>
            <a:pPr algn="l"/>
            <a:r>
              <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常见</a:t>
            </a:r>
            <a:r>
              <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问题</a:t>
            </a:r>
            <a:endPar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p:cNvSpPr/>
          <p:nvPr/>
        </p:nvSpPr>
        <p:spPr>
          <a:xfrm>
            <a:off x="5148346" y="3868120"/>
            <a:ext cx="5657767" cy="15020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菱形 5"/>
          <p:cNvSpPr/>
          <p:nvPr>
            <p:custDataLst>
              <p:tags r:id="rId1"/>
            </p:custDataLst>
          </p:nvPr>
        </p:nvSpPr>
        <p:spPr>
          <a:xfrm>
            <a:off x="955040" y="1601470"/>
            <a:ext cx="3403600" cy="3427095"/>
          </a:xfrm>
          <a:prstGeom prst="diamond">
            <a:avLst/>
          </a:prstGeom>
          <a:blipFill dpi="0" rotWithShape="1">
            <a:blip r:embed="rId2" cstate="screen"/>
            <a:srcRect/>
            <a:tile sx="100000" sy="100000"/>
          </a:blipFill>
          <a:ln w="762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67130" y="1235075"/>
            <a:ext cx="5536565" cy="922020"/>
          </a:xfrm>
          <a:prstGeom prst="rect">
            <a:avLst/>
          </a:prstGeom>
          <a:noFill/>
        </p:spPr>
        <p:txBody>
          <a:bodyPr wrap="square" rtlCol="0">
            <a:spAutoFit/>
          </a:bodyPr>
          <a:p>
            <a:r>
              <a:rPr lang="zh-CN" altLang="en-US">
                <a:highlight>
                  <a:srgbClr val="FFFF00"/>
                </a:highlight>
              </a:rPr>
              <a:t>问题列表：</a:t>
            </a:r>
            <a:r>
              <a:rPr lang="en-US" altLang="zh-CN">
                <a:highlight>
                  <a:srgbClr val="FFFF00"/>
                </a:highlight>
              </a:rPr>
              <a:t>***</a:t>
            </a:r>
            <a:r>
              <a:rPr lang="zh-CN" altLang="en-US">
                <a:highlight>
                  <a:srgbClr val="FFFF00"/>
                </a:highlight>
              </a:rPr>
              <a:t>解决方案见详细介绍页面</a:t>
            </a:r>
            <a:r>
              <a:rPr lang="en-US" altLang="zh-CN">
                <a:highlight>
                  <a:srgbClr val="FFFF00"/>
                </a:highlight>
              </a:rPr>
              <a:t>***</a:t>
            </a:r>
            <a:endParaRPr lang="zh-CN" altLang="en-US">
              <a:highlight>
                <a:srgbClr val="FFFF00"/>
              </a:highlight>
            </a:endParaRPr>
          </a:p>
          <a:p>
            <a:endParaRPr lang="zh-CN" altLang="en-US">
              <a:highlight>
                <a:srgbClr val="FFFF00"/>
              </a:highlight>
            </a:endParaRPr>
          </a:p>
          <a:p>
            <a:endParaRPr lang="zh-CN" altLang="en-US">
              <a:highlight>
                <a:srgbClr val="FFFF00"/>
              </a:highlight>
            </a:endParaRPr>
          </a:p>
        </p:txBody>
      </p:sp>
      <p:pic>
        <p:nvPicPr>
          <p:cNvPr id="6" name="图片 5"/>
          <p:cNvPicPr>
            <a:picLocks noChangeAspect="1"/>
          </p:cNvPicPr>
          <p:nvPr/>
        </p:nvPicPr>
        <p:blipFill>
          <a:blip r:embed="rId1"/>
          <a:stretch>
            <a:fillRect/>
          </a:stretch>
        </p:blipFill>
        <p:spPr>
          <a:xfrm>
            <a:off x="0" y="0"/>
            <a:ext cx="12192000" cy="1209040"/>
          </a:xfrm>
          <a:prstGeom prst="rect">
            <a:avLst/>
          </a:prstGeom>
        </p:spPr>
      </p:pic>
      <p:sp>
        <p:nvSpPr>
          <p:cNvPr id="8" name="文本框 7"/>
          <p:cNvSpPr txBox="1"/>
          <p:nvPr/>
        </p:nvSpPr>
        <p:spPr>
          <a:xfrm>
            <a:off x="1209675" y="1617345"/>
            <a:ext cx="10368915" cy="4615815"/>
          </a:xfrm>
          <a:prstGeom prst="rect">
            <a:avLst/>
          </a:prstGeom>
          <a:noFill/>
        </p:spPr>
        <p:txBody>
          <a:bodyPr wrap="square" rtlCol="0">
            <a:spAutoFit/>
          </a:bodyPr>
          <a:p>
            <a:pPr indent="0" fontAlgn="auto">
              <a:lnSpc>
                <a:spcPct val="150000"/>
              </a:lnSpc>
            </a:pPr>
            <a:r>
              <a:rPr lang="en-US" altLang="zh-CN" sz="1400"/>
              <a:t>1</a:t>
            </a:r>
            <a:r>
              <a:rPr lang="zh-CN" altLang="en-US" sz="1400"/>
              <a:t>、进行测试前，怎么确认</a:t>
            </a:r>
            <a:r>
              <a:rPr lang="en-US" altLang="zh-CN" sz="1400"/>
              <a:t>ETest</a:t>
            </a:r>
            <a:r>
              <a:rPr lang="zh-CN" altLang="en-US" sz="1400"/>
              <a:t>软件状态是正确的</a:t>
            </a:r>
            <a:endParaRPr lang="zh-CN" altLang="en-US" sz="1400"/>
          </a:p>
          <a:p>
            <a:pPr indent="0" fontAlgn="auto">
              <a:lnSpc>
                <a:spcPct val="150000"/>
              </a:lnSpc>
            </a:pPr>
            <a:r>
              <a:rPr lang="en-US" altLang="zh-CN" sz="1400"/>
              <a:t>2</a:t>
            </a:r>
            <a:r>
              <a:rPr lang="zh-CN" altLang="en-US" sz="1400"/>
              <a:t>、修改脚本后执行报错</a:t>
            </a:r>
            <a:r>
              <a:rPr lang="en-US" altLang="zh-CN" sz="1400"/>
              <a:t>“</a:t>
            </a:r>
            <a:r>
              <a:rPr lang="zh-CN" altLang="en-US" sz="1400"/>
              <a:t>请先保存文件再执行</a:t>
            </a:r>
            <a:r>
              <a:rPr lang="en-US" altLang="zh-CN" sz="1400"/>
              <a:t>”</a:t>
            </a:r>
            <a:endParaRPr lang="en-US" altLang="zh-CN" sz="1400"/>
          </a:p>
          <a:p>
            <a:pPr indent="0" fontAlgn="auto">
              <a:lnSpc>
                <a:spcPct val="150000"/>
              </a:lnSpc>
            </a:pPr>
            <a:r>
              <a:rPr lang="en-US" altLang="zh-CN" sz="1400"/>
              <a:t>3</a:t>
            </a:r>
            <a:r>
              <a:rPr lang="zh-CN" altLang="en-US" sz="1400"/>
              <a:t>、启动</a:t>
            </a:r>
            <a:r>
              <a:rPr lang="en-US" altLang="zh-CN" sz="1400"/>
              <a:t>ETest</a:t>
            </a:r>
            <a:r>
              <a:rPr lang="zh-CN" altLang="en-US" sz="1400"/>
              <a:t>不能启动成功</a:t>
            </a:r>
            <a:endParaRPr lang="zh-CN" altLang="en-US" sz="1400"/>
          </a:p>
          <a:p>
            <a:pPr indent="0" fontAlgn="auto">
              <a:lnSpc>
                <a:spcPct val="150000"/>
              </a:lnSpc>
            </a:pPr>
            <a:r>
              <a:rPr lang="en-US" altLang="zh-CN" sz="1400"/>
              <a:t>4</a:t>
            </a:r>
            <a:r>
              <a:rPr lang="zh-CN" altLang="en-US" sz="1400"/>
              <a:t>、启动</a:t>
            </a:r>
            <a:r>
              <a:rPr lang="en-US" altLang="zh-CN" sz="1400"/>
              <a:t>ETest</a:t>
            </a:r>
            <a:r>
              <a:rPr lang="zh-CN" altLang="en-US" sz="1400"/>
              <a:t>启动报错</a:t>
            </a:r>
            <a:endParaRPr lang="zh-CN" altLang="en-US" sz="1400"/>
          </a:p>
          <a:p>
            <a:pPr indent="0" fontAlgn="auto">
              <a:lnSpc>
                <a:spcPct val="150000"/>
              </a:lnSpc>
            </a:pPr>
            <a:r>
              <a:rPr lang="en-US" altLang="zh-CN" sz="1400"/>
              <a:t>5</a:t>
            </a:r>
            <a:r>
              <a:rPr lang="zh-CN" altLang="en-US" sz="1400"/>
              <a:t>、启动</a:t>
            </a:r>
            <a:r>
              <a:rPr lang="en-US" altLang="zh-CN" sz="1400"/>
              <a:t>ETest</a:t>
            </a:r>
            <a:r>
              <a:rPr lang="zh-CN" altLang="en-US" sz="1400"/>
              <a:t>后界面右下角显示未连接</a:t>
            </a:r>
            <a:endParaRPr lang="zh-CN" altLang="en-US" sz="1400"/>
          </a:p>
          <a:p>
            <a:pPr indent="0" fontAlgn="auto">
              <a:lnSpc>
                <a:spcPct val="150000"/>
              </a:lnSpc>
            </a:pPr>
            <a:r>
              <a:rPr lang="en-US" altLang="zh-CN" sz="1400"/>
              <a:t>6</a:t>
            </a:r>
            <a:r>
              <a:rPr lang="zh-CN" altLang="en-US" sz="1400"/>
              <a:t>、串口下显示暂无数据</a:t>
            </a:r>
            <a:endParaRPr lang="zh-CN" altLang="en-US" sz="1400"/>
          </a:p>
          <a:p>
            <a:pPr indent="0" fontAlgn="auto">
              <a:lnSpc>
                <a:spcPct val="150000"/>
              </a:lnSpc>
            </a:pPr>
            <a:r>
              <a:rPr lang="en-US" altLang="zh-CN" sz="1400"/>
              <a:t>7</a:t>
            </a:r>
            <a:r>
              <a:rPr lang="zh-CN" altLang="en-US" sz="1400"/>
              <a:t>、执行报错</a:t>
            </a:r>
            <a:r>
              <a:rPr lang="en-US" altLang="zh-CN" sz="1400"/>
              <a:t>“</a:t>
            </a:r>
            <a:r>
              <a:rPr lang="zh-CN" altLang="en-US" sz="1400"/>
              <a:t>当前工程存在错误</a:t>
            </a:r>
            <a:r>
              <a:rPr lang="en-US" altLang="zh-CN" sz="1400"/>
              <a:t>”</a:t>
            </a:r>
            <a:endParaRPr lang="en-US" altLang="zh-CN" sz="1400"/>
          </a:p>
          <a:p>
            <a:pPr indent="0" fontAlgn="auto">
              <a:lnSpc>
                <a:spcPct val="150000"/>
              </a:lnSpc>
            </a:pPr>
            <a:r>
              <a:rPr lang="en-US" altLang="zh-CN" sz="1400"/>
              <a:t>8</a:t>
            </a:r>
            <a:r>
              <a:rPr lang="zh-CN" altLang="en-US" sz="1400"/>
              <a:t>、执行报错</a:t>
            </a:r>
            <a:r>
              <a:rPr lang="en-US" altLang="zh-CN" sz="1400"/>
              <a:t>“</a:t>
            </a:r>
            <a:r>
              <a:rPr lang="zh-CN" altLang="en-US" sz="1400"/>
              <a:t>错误的通道类型</a:t>
            </a:r>
            <a:r>
              <a:rPr lang="en-US" altLang="zh-CN" sz="1400"/>
              <a:t>”</a:t>
            </a:r>
            <a:endParaRPr lang="en-US" altLang="zh-CN" sz="1400"/>
          </a:p>
          <a:p>
            <a:pPr indent="0" fontAlgn="auto">
              <a:lnSpc>
                <a:spcPct val="150000"/>
              </a:lnSpc>
            </a:pPr>
            <a:r>
              <a:rPr lang="en-US" altLang="zh-CN" sz="1400"/>
              <a:t>9</a:t>
            </a:r>
            <a:r>
              <a:rPr lang="zh-CN" altLang="en-US" sz="1400"/>
              <a:t>、定速巡航项目点击执行按钮后报错：</a:t>
            </a:r>
            <a:r>
              <a:rPr lang="en-US" altLang="zh-CN" sz="1400"/>
              <a:t>attempt to index a nil value(local 'res')</a:t>
            </a:r>
            <a:endParaRPr lang="en-US" altLang="zh-CN" sz="1400"/>
          </a:p>
          <a:p>
            <a:pPr indent="0" fontAlgn="auto">
              <a:lnSpc>
                <a:spcPct val="150000"/>
              </a:lnSpc>
            </a:pPr>
            <a:r>
              <a:rPr lang="en-US" altLang="zh-CN" sz="1400"/>
              <a:t>10</a:t>
            </a:r>
            <a:r>
              <a:rPr lang="zh-CN" altLang="en-US" sz="1400"/>
              <a:t>、报错：环境准备</a:t>
            </a:r>
            <a:r>
              <a:rPr lang="en-US" altLang="zh-CN" sz="1400"/>
              <a:t>“</a:t>
            </a:r>
            <a:r>
              <a:rPr lang="zh-CN" altLang="en-US" sz="1400"/>
              <a:t>仿真环境</a:t>
            </a:r>
            <a:r>
              <a:rPr lang="en-US" altLang="zh-CN" sz="1400"/>
              <a:t>.env”</a:t>
            </a:r>
            <a:r>
              <a:rPr lang="zh-CN" altLang="en-US" sz="1400"/>
              <a:t>失败</a:t>
            </a:r>
            <a:endParaRPr lang="zh-CN" altLang="en-US" sz="1400"/>
          </a:p>
          <a:p>
            <a:pPr indent="0" fontAlgn="auto">
              <a:lnSpc>
                <a:spcPct val="150000"/>
              </a:lnSpc>
            </a:pPr>
            <a:r>
              <a:rPr lang="en-US" altLang="zh-CN" sz="1400"/>
              <a:t>11</a:t>
            </a:r>
            <a:r>
              <a:rPr lang="zh-CN" altLang="en-US" sz="1400"/>
              <a:t>、执行后控制台没有输出，使用</a:t>
            </a:r>
            <a:r>
              <a:rPr lang="en-US" altLang="zh-CN" sz="1400"/>
              <a:t>ask</a:t>
            </a:r>
            <a:r>
              <a:rPr lang="zh-CN" altLang="en-US" sz="1400"/>
              <a:t>也没弹出交互</a:t>
            </a:r>
            <a:endParaRPr lang="zh-CN" altLang="en-US" sz="1400"/>
          </a:p>
          <a:p>
            <a:pPr indent="0" fontAlgn="auto">
              <a:lnSpc>
                <a:spcPct val="150000"/>
              </a:lnSpc>
            </a:pPr>
            <a:r>
              <a:rPr lang="en-US" altLang="zh-CN" sz="1400"/>
              <a:t>12</a:t>
            </a:r>
            <a:r>
              <a:rPr lang="zh-CN" altLang="en-US" sz="1400"/>
              <a:t>、定速巡航项目启动被测件，报错</a:t>
            </a:r>
            <a:r>
              <a:rPr lang="en-US" altLang="zh-CN" sz="1400"/>
              <a:t>“</a:t>
            </a:r>
            <a:r>
              <a:rPr lang="zh-CN" altLang="en-US" sz="1400"/>
              <a:t>端口错误</a:t>
            </a:r>
            <a:r>
              <a:rPr lang="en-US" altLang="zh-CN" sz="1400"/>
              <a:t>:</a:t>
            </a:r>
            <a:r>
              <a:rPr lang="zh-CN" altLang="en-US" sz="1400"/>
              <a:t>信号灯超时时间已到</a:t>
            </a:r>
            <a:r>
              <a:rPr lang="en-US" altLang="zh-CN" sz="1400"/>
              <a:t>”</a:t>
            </a:r>
            <a:endParaRPr lang="en-US" altLang="zh-CN" sz="1400"/>
          </a:p>
          <a:p>
            <a:pPr indent="0" fontAlgn="auto">
              <a:lnSpc>
                <a:spcPct val="150000"/>
              </a:lnSpc>
            </a:pPr>
            <a:r>
              <a:rPr lang="en-US" altLang="zh-CN" sz="1400"/>
              <a:t>13</a:t>
            </a:r>
            <a:r>
              <a:rPr lang="zh-CN" altLang="en-US" sz="1400"/>
              <a:t>、定速巡航项目执行接口</a:t>
            </a:r>
            <a:r>
              <a:rPr lang="en-US" altLang="zh-CN" sz="1400"/>
              <a:t>3_</a:t>
            </a:r>
            <a:r>
              <a:rPr lang="zh-CN" altLang="en-US" sz="1400"/>
              <a:t>车速传感器输入接口</a:t>
            </a:r>
            <a:r>
              <a:rPr lang="en-US" altLang="zh-CN" sz="1400"/>
              <a:t>.lua</a:t>
            </a:r>
            <a:r>
              <a:rPr lang="zh-CN" altLang="en-US" sz="1400"/>
              <a:t>文件，被测件弹出提示：</a:t>
            </a:r>
            <a:r>
              <a:rPr lang="en-US" altLang="zh-CN" sz="1400"/>
              <a:t>startlndex </a:t>
            </a:r>
            <a:r>
              <a:rPr lang="zh-CN" altLang="en-US" sz="1400"/>
              <a:t>不能大于字符串长度。参数名</a:t>
            </a:r>
            <a:r>
              <a:rPr lang="en-US" altLang="zh-CN" sz="1400"/>
              <a:t>: startIndex</a:t>
            </a:r>
            <a:endParaRPr lang="en-US" altLang="zh-CN" sz="1400"/>
          </a:p>
          <a:p>
            <a:pPr indent="0" fontAlgn="auto">
              <a:lnSpc>
                <a:spcPct val="150000"/>
              </a:lnSpc>
            </a:pPr>
            <a:r>
              <a:rPr lang="en-US" altLang="zh-CN" sz="1400"/>
              <a:t>14</a:t>
            </a:r>
            <a:r>
              <a:rPr lang="zh-CN" altLang="en-US" sz="1400"/>
              <a:t>、校验和的值的计算</a:t>
            </a:r>
            <a:endParaRPr lang="zh-CN" altLang="en-US" sz="1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92225" y="1625600"/>
            <a:ext cx="8371840" cy="472440"/>
          </a:xfrm>
          <a:prstGeom prst="rect">
            <a:avLst/>
          </a:prstGeom>
          <a:noFill/>
        </p:spPr>
        <p:txBody>
          <a:bodyPr wrap="square" rtlCol="0">
            <a:noAutofit/>
          </a:bodyPr>
          <a:lstStyle/>
          <a:p>
            <a:r>
              <a:rPr lang="zh-CN" altLang="en-US">
                <a:solidFill>
                  <a:schemeClr val="tx1"/>
                </a:solidFill>
              </a:rPr>
              <a:t>启动</a:t>
            </a:r>
            <a:r>
              <a:rPr lang="en-US" altLang="zh-CN">
                <a:solidFill>
                  <a:schemeClr val="tx1"/>
                </a:solidFill>
              </a:rPr>
              <a:t>ETest,</a:t>
            </a:r>
            <a:r>
              <a:rPr lang="zh-CN" altLang="en-US">
                <a:solidFill>
                  <a:schemeClr val="tx1"/>
                </a:solidFill>
              </a:rPr>
              <a:t>界面右下角的</a:t>
            </a:r>
            <a:r>
              <a:rPr lang="en-US" altLang="zh-CN">
                <a:solidFill>
                  <a:schemeClr val="tx1"/>
                </a:solidFill>
              </a:rPr>
              <a:t>“127.0.0.1:1210”</a:t>
            </a:r>
            <a:r>
              <a:rPr lang="zh-CN" altLang="en-US">
                <a:solidFill>
                  <a:schemeClr val="tx1"/>
                </a:solidFill>
              </a:rPr>
              <a:t>显示为绿色时，才能正常执行脚本</a:t>
            </a:r>
            <a:endParaRPr lang="zh-CN" altLang="en-US">
              <a:solidFill>
                <a:schemeClr val="tx1"/>
              </a:solidFill>
              <a:highlight>
                <a:srgbClr val="FFFF00"/>
              </a:highlight>
            </a:endParaRPr>
          </a:p>
          <a:p>
            <a:endParaRPr lang="zh-CN" altLang="en-US">
              <a:solidFill>
                <a:schemeClr val="tx1"/>
              </a:solidFill>
              <a:highlight>
                <a:srgbClr val="FFFF00"/>
              </a:highlight>
            </a:endParaRPr>
          </a:p>
        </p:txBody>
      </p:sp>
      <p:pic>
        <p:nvPicPr>
          <p:cNvPr id="7" name="图片 6"/>
          <p:cNvPicPr>
            <a:picLocks noChangeAspect="1"/>
          </p:cNvPicPr>
          <p:nvPr/>
        </p:nvPicPr>
        <p:blipFill>
          <a:blip r:embed="rId1"/>
          <a:stretch>
            <a:fillRect/>
          </a:stretch>
        </p:blipFill>
        <p:spPr>
          <a:xfrm>
            <a:off x="1397000" y="2164715"/>
            <a:ext cx="5132070" cy="3675380"/>
          </a:xfrm>
          <a:prstGeom prst="rect">
            <a:avLst/>
          </a:prstGeom>
        </p:spPr>
      </p:pic>
      <p:sp>
        <p:nvSpPr>
          <p:cNvPr id="5" name="文本框 4"/>
          <p:cNvSpPr txBox="1"/>
          <p:nvPr/>
        </p:nvSpPr>
        <p:spPr>
          <a:xfrm>
            <a:off x="1314450" y="1190625"/>
            <a:ext cx="5536565" cy="368300"/>
          </a:xfrm>
          <a:prstGeom prst="rect">
            <a:avLst/>
          </a:prstGeom>
          <a:noFill/>
        </p:spPr>
        <p:txBody>
          <a:bodyPr wrap="square" rtlCol="0">
            <a:spAutoFit/>
          </a:bodyPr>
          <a:p>
            <a:r>
              <a:rPr lang="zh-CN" altLang="en-US">
                <a:highlight>
                  <a:srgbClr val="FFFF00"/>
                </a:highlight>
              </a:rPr>
              <a:t>进行测试前，怎么确认</a:t>
            </a:r>
            <a:r>
              <a:rPr lang="en-US" altLang="zh-CN">
                <a:highlight>
                  <a:srgbClr val="FFFF00"/>
                </a:highlight>
              </a:rPr>
              <a:t>ETest</a:t>
            </a:r>
            <a:r>
              <a:rPr lang="zh-CN" altLang="en-US">
                <a:highlight>
                  <a:srgbClr val="FFFF00"/>
                </a:highlight>
              </a:rPr>
              <a:t>软件状态是正确的</a:t>
            </a:r>
            <a:endParaRPr lang="zh-CN" altLang="en-US">
              <a:highlight>
                <a:srgbClr val="FFFF00"/>
              </a:highlight>
            </a:endParaRPr>
          </a:p>
        </p:txBody>
      </p:sp>
      <p:pic>
        <p:nvPicPr>
          <p:cNvPr id="6" name="图片 5"/>
          <p:cNvPicPr>
            <a:picLocks noChangeAspect="1"/>
          </p:cNvPicPr>
          <p:nvPr/>
        </p:nvPicPr>
        <p:blipFill>
          <a:blip r:embed="rId2"/>
          <a:stretch>
            <a:fillRect/>
          </a:stretch>
        </p:blipFill>
        <p:spPr>
          <a:xfrm>
            <a:off x="0" y="0"/>
            <a:ext cx="12192000" cy="12090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92225" y="1625600"/>
            <a:ext cx="8371840" cy="472440"/>
          </a:xfrm>
          <a:prstGeom prst="rect">
            <a:avLst/>
          </a:prstGeom>
          <a:noFill/>
        </p:spPr>
        <p:txBody>
          <a:bodyPr wrap="square" rtlCol="0">
            <a:noAutofit/>
          </a:bodyPr>
          <a:lstStyle/>
          <a:p>
            <a:r>
              <a:rPr lang="zh-CN" altLang="en-US">
                <a:solidFill>
                  <a:schemeClr val="tx1"/>
                </a:solidFill>
              </a:rPr>
              <a:t>打开项目后，设置为</a:t>
            </a:r>
            <a:r>
              <a:rPr lang="en-US" altLang="zh-CN">
                <a:solidFill>
                  <a:schemeClr val="tx1"/>
                </a:solidFill>
              </a:rPr>
              <a:t>“</a:t>
            </a:r>
            <a:r>
              <a:rPr lang="zh-CN" altLang="en-US">
                <a:solidFill>
                  <a:schemeClr val="tx1"/>
                </a:solidFill>
              </a:rPr>
              <a:t>自动保存</a:t>
            </a:r>
            <a:r>
              <a:rPr lang="en-US" altLang="zh-CN">
                <a:solidFill>
                  <a:schemeClr val="tx1"/>
                </a:solidFill>
              </a:rPr>
              <a:t>”</a:t>
            </a:r>
            <a:r>
              <a:rPr lang="zh-CN" altLang="en-US">
                <a:solidFill>
                  <a:schemeClr val="tx1"/>
                </a:solidFill>
              </a:rPr>
              <a:t>，避免因为忘记保存修改的文件导致执行报错</a:t>
            </a:r>
            <a:endParaRPr lang="zh-CN" altLang="en-US">
              <a:solidFill>
                <a:schemeClr val="tx1"/>
              </a:solidFill>
            </a:endParaRPr>
          </a:p>
        </p:txBody>
      </p:sp>
      <p:pic>
        <p:nvPicPr>
          <p:cNvPr id="2" name="图片 1"/>
          <p:cNvPicPr>
            <a:picLocks noChangeAspect="1"/>
          </p:cNvPicPr>
          <p:nvPr/>
        </p:nvPicPr>
        <p:blipFill>
          <a:blip r:embed="rId1"/>
          <a:stretch>
            <a:fillRect/>
          </a:stretch>
        </p:blipFill>
        <p:spPr>
          <a:xfrm>
            <a:off x="5803265" y="2279650"/>
            <a:ext cx="3342640" cy="2749550"/>
          </a:xfrm>
          <a:prstGeom prst="rect">
            <a:avLst/>
          </a:prstGeom>
        </p:spPr>
      </p:pic>
      <p:sp>
        <p:nvSpPr>
          <p:cNvPr id="5" name="文本框 4"/>
          <p:cNvSpPr txBox="1"/>
          <p:nvPr/>
        </p:nvSpPr>
        <p:spPr>
          <a:xfrm>
            <a:off x="1314450" y="1190625"/>
            <a:ext cx="5536565" cy="368300"/>
          </a:xfrm>
          <a:prstGeom prst="rect">
            <a:avLst/>
          </a:prstGeom>
          <a:noFill/>
        </p:spPr>
        <p:txBody>
          <a:bodyPr wrap="square" rtlCol="0">
            <a:spAutoFit/>
          </a:bodyPr>
          <a:p>
            <a:r>
              <a:rPr lang="zh-CN" altLang="en-US">
                <a:highlight>
                  <a:srgbClr val="FFFF00"/>
                </a:highlight>
              </a:rPr>
              <a:t>修改脚本后执行报错</a:t>
            </a:r>
            <a:r>
              <a:rPr lang="en-US" altLang="zh-CN">
                <a:highlight>
                  <a:srgbClr val="FFFF00"/>
                </a:highlight>
              </a:rPr>
              <a:t>“</a:t>
            </a:r>
            <a:r>
              <a:rPr lang="zh-CN" altLang="en-US">
                <a:highlight>
                  <a:srgbClr val="FFFF00"/>
                </a:highlight>
              </a:rPr>
              <a:t>请先保存文件再执行</a:t>
            </a:r>
            <a:r>
              <a:rPr lang="en-US" altLang="zh-CN">
                <a:highlight>
                  <a:srgbClr val="FFFF00"/>
                </a:highlight>
              </a:rPr>
              <a:t>”</a:t>
            </a:r>
            <a:endParaRPr lang="en-US" altLang="zh-CN">
              <a:highlight>
                <a:srgbClr val="FFFF00"/>
              </a:highlight>
            </a:endParaRPr>
          </a:p>
        </p:txBody>
      </p:sp>
      <p:pic>
        <p:nvPicPr>
          <p:cNvPr id="6" name="图片 5"/>
          <p:cNvPicPr>
            <a:picLocks noChangeAspect="1"/>
          </p:cNvPicPr>
          <p:nvPr/>
        </p:nvPicPr>
        <p:blipFill>
          <a:blip r:embed="rId2"/>
          <a:stretch>
            <a:fillRect/>
          </a:stretch>
        </p:blipFill>
        <p:spPr>
          <a:xfrm>
            <a:off x="0" y="0"/>
            <a:ext cx="12192000" cy="1209040"/>
          </a:xfrm>
          <a:prstGeom prst="rect">
            <a:avLst/>
          </a:prstGeom>
        </p:spPr>
      </p:pic>
      <p:pic>
        <p:nvPicPr>
          <p:cNvPr id="4" name="图片 3"/>
          <p:cNvPicPr>
            <a:picLocks noChangeAspect="1"/>
          </p:cNvPicPr>
          <p:nvPr/>
        </p:nvPicPr>
        <p:blipFill>
          <a:blip r:embed="rId3"/>
          <a:stretch>
            <a:fillRect/>
          </a:stretch>
        </p:blipFill>
        <p:spPr>
          <a:xfrm>
            <a:off x="1424940" y="2230755"/>
            <a:ext cx="4124325" cy="302450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sym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354455" y="1165225"/>
            <a:ext cx="7091680" cy="2991485"/>
          </a:xfrm>
          <a:prstGeom prst="rect">
            <a:avLst/>
          </a:prstGeom>
          <a:noFill/>
        </p:spPr>
        <p:txBody>
          <a:bodyPr wrap="square" rtlCol="0">
            <a:noAutofit/>
          </a:bodyPr>
          <a:lstStyle/>
          <a:p>
            <a:r>
              <a:rPr lang="zh-CN" altLang="en-US">
                <a:highlight>
                  <a:srgbClr val="FFFF00"/>
                </a:highlight>
              </a:rPr>
              <a:t>启动</a:t>
            </a:r>
            <a:r>
              <a:rPr lang="en-US" altLang="zh-CN">
                <a:highlight>
                  <a:srgbClr val="FFFF00"/>
                </a:highlight>
              </a:rPr>
              <a:t>ETest</a:t>
            </a:r>
            <a:r>
              <a:rPr lang="zh-CN" altLang="en-US">
                <a:highlight>
                  <a:srgbClr val="FFFF00"/>
                </a:highlight>
              </a:rPr>
              <a:t>不能启动成功</a:t>
            </a:r>
            <a:endParaRPr lang="zh-CN" altLang="en-US">
              <a:highlight>
                <a:srgbClr val="FFFF00"/>
              </a:highlight>
            </a:endParaRPr>
          </a:p>
        </p:txBody>
      </p:sp>
      <p:pic>
        <p:nvPicPr>
          <p:cNvPr id="2" name="图片 1"/>
          <p:cNvPicPr>
            <a:picLocks noChangeAspect="1"/>
          </p:cNvPicPr>
          <p:nvPr/>
        </p:nvPicPr>
        <p:blipFill>
          <a:blip r:embed="rId1"/>
          <a:stretch>
            <a:fillRect/>
          </a:stretch>
        </p:blipFill>
        <p:spPr>
          <a:xfrm>
            <a:off x="1386205" y="1687195"/>
            <a:ext cx="4238625" cy="3025140"/>
          </a:xfrm>
          <a:prstGeom prst="rect">
            <a:avLst/>
          </a:prstGeom>
        </p:spPr>
      </p:pic>
      <p:sp>
        <p:nvSpPr>
          <p:cNvPr id="5" name="文本框 4"/>
          <p:cNvSpPr txBox="1"/>
          <p:nvPr/>
        </p:nvSpPr>
        <p:spPr>
          <a:xfrm>
            <a:off x="1239520" y="4786630"/>
            <a:ext cx="9328785" cy="1476375"/>
          </a:xfrm>
          <a:prstGeom prst="rect">
            <a:avLst/>
          </a:prstGeom>
          <a:noFill/>
        </p:spPr>
        <p:txBody>
          <a:bodyPr wrap="square" rtlCol="0">
            <a:spAutoFit/>
          </a:bodyPr>
          <a:lstStyle/>
          <a:p>
            <a:r>
              <a:rPr lang="zh-CN" altLang="en-US"/>
              <a:t>解决方案</a:t>
            </a:r>
            <a:r>
              <a:rPr lang="en-US" altLang="zh-CN"/>
              <a:t>1</a:t>
            </a:r>
            <a:r>
              <a:rPr lang="zh-CN" altLang="en-US"/>
              <a:t>：关闭全部的杀毒软件</a:t>
            </a:r>
            <a:endParaRPr lang="zh-CN" altLang="en-US"/>
          </a:p>
          <a:p>
            <a:r>
              <a:rPr lang="zh-CN" altLang="en-US"/>
              <a:t>解决方案</a:t>
            </a:r>
            <a:r>
              <a:rPr lang="en-US" altLang="zh-CN"/>
              <a:t>2</a:t>
            </a:r>
            <a:r>
              <a:rPr lang="zh-CN" altLang="en-US"/>
              <a:t>：百度搜一下VC_redist.x64.exe,跟自己电脑操作系统兼容的版本，下载安装</a:t>
            </a:r>
            <a:endParaRPr lang="zh-CN" altLang="en-US"/>
          </a:p>
          <a:p>
            <a:r>
              <a:rPr lang="zh-CN" altLang="en-US">
                <a:sym typeface="+mn-ea"/>
              </a:rPr>
              <a:t>解决方案</a:t>
            </a:r>
            <a:r>
              <a:rPr lang="en-US" altLang="zh-CN">
                <a:sym typeface="+mn-ea"/>
              </a:rPr>
              <a:t>3</a:t>
            </a:r>
            <a:r>
              <a:rPr lang="zh-CN" altLang="en-US">
                <a:sym typeface="+mn-ea"/>
              </a:rPr>
              <a:t>：重新启动电脑</a:t>
            </a:r>
            <a:r>
              <a:rPr lang="en-US" altLang="zh-CN">
                <a:sym typeface="+mn-ea"/>
              </a:rPr>
              <a:t>(</a:t>
            </a:r>
            <a:r>
              <a:rPr lang="zh-CN" altLang="en-US">
                <a:sym typeface="+mn-ea"/>
              </a:rPr>
              <a:t>之前学生遇到过方案</a:t>
            </a:r>
            <a:r>
              <a:rPr lang="en-US" altLang="zh-CN">
                <a:sym typeface="+mn-ea"/>
              </a:rPr>
              <a:t>1</a:t>
            </a:r>
            <a:r>
              <a:rPr lang="zh-CN" altLang="en-US">
                <a:sym typeface="+mn-ea"/>
              </a:rPr>
              <a:t>和</a:t>
            </a:r>
            <a:r>
              <a:rPr lang="en-US" altLang="zh-CN">
                <a:sym typeface="+mn-ea"/>
              </a:rPr>
              <a:t>2</a:t>
            </a:r>
            <a:r>
              <a:rPr lang="zh-CN" altLang="en-US">
                <a:sym typeface="+mn-ea"/>
              </a:rPr>
              <a:t>都操作过后还是显示未连接，重启电脑后就好了。</a:t>
            </a:r>
            <a:r>
              <a:rPr lang="en-US" altLang="zh-CN">
                <a:sym typeface="+mn-ea"/>
              </a:rPr>
              <a:t>)</a:t>
            </a:r>
            <a:endParaRPr lang="en-US" altLang="zh-CN">
              <a:sym typeface="+mn-ea"/>
            </a:endParaRPr>
          </a:p>
          <a:p>
            <a:r>
              <a:rPr lang="zh-CN" altLang="en-US">
                <a:sym typeface="+mn-ea"/>
              </a:rPr>
              <a:t>解决方案</a:t>
            </a:r>
            <a:r>
              <a:rPr lang="en-US" altLang="zh-CN">
                <a:sym typeface="+mn-ea"/>
              </a:rPr>
              <a:t>4</a:t>
            </a:r>
            <a:r>
              <a:rPr lang="zh-CN" altLang="en-US">
                <a:sym typeface="+mn-ea"/>
              </a:rPr>
              <a:t>：重新解压</a:t>
            </a:r>
            <a:r>
              <a:rPr lang="en-US" altLang="zh-CN">
                <a:sym typeface="+mn-ea"/>
              </a:rPr>
              <a:t>ETest</a:t>
            </a:r>
            <a:r>
              <a:rPr lang="zh-CN" altLang="en-US">
                <a:sym typeface="+mn-ea"/>
              </a:rPr>
              <a:t>软件包</a:t>
            </a:r>
            <a:endParaRPr lang="zh-CN" altLang="en-US">
              <a:sym typeface="+mn-ea"/>
            </a:endParaRPr>
          </a:p>
        </p:txBody>
      </p:sp>
      <p:pic>
        <p:nvPicPr>
          <p:cNvPr id="6" name="图片 5"/>
          <p:cNvPicPr>
            <a:picLocks noChangeAspect="1"/>
          </p:cNvPicPr>
          <p:nvPr/>
        </p:nvPicPr>
        <p:blipFill>
          <a:blip r:embed="rId2"/>
          <a:stretch>
            <a:fillRect/>
          </a:stretch>
        </p:blipFill>
        <p:spPr>
          <a:xfrm>
            <a:off x="0" y="0"/>
            <a:ext cx="12192635" cy="12090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sym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286510" y="1198245"/>
            <a:ext cx="7091680" cy="2991485"/>
          </a:xfrm>
          <a:prstGeom prst="rect">
            <a:avLst/>
          </a:prstGeom>
          <a:noFill/>
        </p:spPr>
        <p:txBody>
          <a:bodyPr wrap="square" rtlCol="0">
            <a:noAutofit/>
          </a:bodyPr>
          <a:lstStyle/>
          <a:p>
            <a:r>
              <a:rPr lang="zh-CN" altLang="en-US">
                <a:highlight>
                  <a:srgbClr val="FFFF00"/>
                </a:highlight>
              </a:rPr>
              <a:t>启动</a:t>
            </a:r>
            <a:r>
              <a:rPr lang="en-US" altLang="zh-CN">
                <a:highlight>
                  <a:srgbClr val="FFFF00"/>
                </a:highlight>
              </a:rPr>
              <a:t>ETest</a:t>
            </a:r>
            <a:r>
              <a:rPr lang="zh-CN" altLang="en-US">
                <a:highlight>
                  <a:srgbClr val="FFFF00"/>
                </a:highlight>
              </a:rPr>
              <a:t>启动报错</a:t>
            </a:r>
            <a:endParaRPr lang="zh-CN" altLang="en-US">
              <a:highlight>
                <a:srgbClr val="FFFF00"/>
              </a:highlight>
            </a:endParaRPr>
          </a:p>
        </p:txBody>
      </p:sp>
      <p:pic>
        <p:nvPicPr>
          <p:cNvPr id="2" name="图片 1"/>
          <p:cNvPicPr>
            <a:picLocks noChangeAspect="1"/>
          </p:cNvPicPr>
          <p:nvPr/>
        </p:nvPicPr>
        <p:blipFill>
          <a:blip r:embed="rId1"/>
          <a:stretch>
            <a:fillRect/>
          </a:stretch>
        </p:blipFill>
        <p:spPr>
          <a:xfrm>
            <a:off x="1392555" y="1731645"/>
            <a:ext cx="4238625" cy="3025140"/>
          </a:xfrm>
          <a:prstGeom prst="rect">
            <a:avLst/>
          </a:prstGeom>
        </p:spPr>
      </p:pic>
      <p:sp>
        <p:nvSpPr>
          <p:cNvPr id="5" name="文本框 4"/>
          <p:cNvSpPr txBox="1"/>
          <p:nvPr/>
        </p:nvSpPr>
        <p:spPr>
          <a:xfrm>
            <a:off x="1286510" y="4756785"/>
            <a:ext cx="9328785" cy="1476375"/>
          </a:xfrm>
          <a:prstGeom prst="rect">
            <a:avLst/>
          </a:prstGeom>
          <a:noFill/>
        </p:spPr>
        <p:txBody>
          <a:bodyPr wrap="square" rtlCol="0">
            <a:spAutoFit/>
          </a:bodyPr>
          <a:lstStyle/>
          <a:p>
            <a:r>
              <a:rPr lang="zh-CN" altLang="en-US"/>
              <a:t>解决方案</a:t>
            </a:r>
            <a:r>
              <a:rPr lang="en-US" altLang="zh-CN"/>
              <a:t>1</a:t>
            </a:r>
            <a:r>
              <a:rPr lang="zh-CN" altLang="en-US"/>
              <a:t>：关闭全部的杀毒软件</a:t>
            </a:r>
            <a:endParaRPr lang="zh-CN" altLang="en-US"/>
          </a:p>
          <a:p>
            <a:r>
              <a:rPr lang="zh-CN" altLang="en-US"/>
              <a:t>解决方案</a:t>
            </a:r>
            <a:r>
              <a:rPr lang="en-US" altLang="zh-CN"/>
              <a:t>2</a:t>
            </a:r>
            <a:r>
              <a:rPr lang="zh-CN" altLang="en-US"/>
              <a:t>：百度搜一下VC_redist.x64.exe,跟自己电脑操作系统兼容的版本，下载安装</a:t>
            </a:r>
            <a:endParaRPr lang="zh-CN" altLang="en-US"/>
          </a:p>
          <a:p>
            <a:r>
              <a:rPr lang="zh-CN" altLang="en-US">
                <a:sym typeface="+mn-ea"/>
              </a:rPr>
              <a:t>解决方案</a:t>
            </a:r>
            <a:r>
              <a:rPr lang="en-US" altLang="zh-CN">
                <a:sym typeface="+mn-ea"/>
              </a:rPr>
              <a:t>3</a:t>
            </a:r>
            <a:r>
              <a:rPr lang="zh-CN" altLang="en-US">
                <a:sym typeface="+mn-ea"/>
              </a:rPr>
              <a:t>：重新启动电脑</a:t>
            </a:r>
            <a:r>
              <a:rPr lang="en-US" altLang="zh-CN">
                <a:sym typeface="+mn-ea"/>
              </a:rPr>
              <a:t>(</a:t>
            </a:r>
            <a:r>
              <a:rPr lang="zh-CN" altLang="en-US">
                <a:sym typeface="+mn-ea"/>
              </a:rPr>
              <a:t>之前学生遇到过方案</a:t>
            </a:r>
            <a:r>
              <a:rPr lang="en-US" altLang="zh-CN">
                <a:sym typeface="+mn-ea"/>
              </a:rPr>
              <a:t>1</a:t>
            </a:r>
            <a:r>
              <a:rPr lang="zh-CN" altLang="en-US">
                <a:sym typeface="+mn-ea"/>
              </a:rPr>
              <a:t>和</a:t>
            </a:r>
            <a:r>
              <a:rPr lang="en-US" altLang="zh-CN">
                <a:sym typeface="+mn-ea"/>
              </a:rPr>
              <a:t>2</a:t>
            </a:r>
            <a:r>
              <a:rPr lang="zh-CN" altLang="en-US">
                <a:sym typeface="+mn-ea"/>
              </a:rPr>
              <a:t>都操作过后还是显示未连接，重启电脑后就好了。</a:t>
            </a:r>
            <a:r>
              <a:rPr lang="en-US" altLang="zh-CN">
                <a:sym typeface="+mn-ea"/>
              </a:rPr>
              <a:t>)</a:t>
            </a:r>
            <a:endParaRPr lang="en-US" altLang="zh-CN">
              <a:sym typeface="+mn-ea"/>
            </a:endParaRPr>
          </a:p>
          <a:p>
            <a:r>
              <a:rPr lang="zh-CN" altLang="en-US">
                <a:sym typeface="+mn-ea"/>
              </a:rPr>
              <a:t>解决方案</a:t>
            </a:r>
            <a:r>
              <a:rPr lang="en-US" altLang="zh-CN">
                <a:sym typeface="+mn-ea"/>
              </a:rPr>
              <a:t>4</a:t>
            </a:r>
            <a:r>
              <a:rPr lang="zh-CN" altLang="en-US">
                <a:sym typeface="+mn-ea"/>
              </a:rPr>
              <a:t>：重新解压</a:t>
            </a:r>
            <a:r>
              <a:rPr lang="en-US" altLang="zh-CN">
                <a:sym typeface="+mn-ea"/>
              </a:rPr>
              <a:t>ETest</a:t>
            </a:r>
            <a:r>
              <a:rPr lang="zh-CN" altLang="en-US">
                <a:sym typeface="+mn-ea"/>
              </a:rPr>
              <a:t>软件包</a:t>
            </a:r>
            <a:endParaRPr lang="zh-CN" altLang="en-US">
              <a:sym typeface="+mn-ea"/>
            </a:endParaRPr>
          </a:p>
        </p:txBody>
      </p:sp>
      <p:pic>
        <p:nvPicPr>
          <p:cNvPr id="6" name="图片 5"/>
          <p:cNvPicPr>
            <a:picLocks noChangeAspect="1"/>
          </p:cNvPicPr>
          <p:nvPr/>
        </p:nvPicPr>
        <p:blipFill>
          <a:blip r:embed="rId2"/>
          <a:stretch>
            <a:fillRect/>
          </a:stretch>
        </p:blipFill>
        <p:spPr>
          <a:xfrm>
            <a:off x="5763895" y="1754505"/>
            <a:ext cx="5067300" cy="2252980"/>
          </a:xfrm>
          <a:prstGeom prst="rect">
            <a:avLst/>
          </a:prstGeom>
        </p:spPr>
      </p:pic>
      <p:pic>
        <p:nvPicPr>
          <p:cNvPr id="7" name="图片 6"/>
          <p:cNvPicPr>
            <a:picLocks noChangeAspect="1"/>
          </p:cNvPicPr>
          <p:nvPr/>
        </p:nvPicPr>
        <p:blipFill>
          <a:blip r:embed="rId3"/>
          <a:stretch>
            <a:fillRect/>
          </a:stretch>
        </p:blipFill>
        <p:spPr>
          <a:xfrm>
            <a:off x="0" y="0"/>
            <a:ext cx="12192000" cy="12090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sym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254125" y="1274445"/>
            <a:ext cx="7091680" cy="2991485"/>
          </a:xfrm>
          <a:prstGeom prst="rect">
            <a:avLst/>
          </a:prstGeom>
          <a:noFill/>
        </p:spPr>
        <p:txBody>
          <a:bodyPr wrap="square" rtlCol="0">
            <a:noAutofit/>
          </a:bodyPr>
          <a:lstStyle/>
          <a:p>
            <a:r>
              <a:rPr lang="zh-CN" altLang="en-US">
                <a:highlight>
                  <a:srgbClr val="FFFF00"/>
                </a:highlight>
              </a:rPr>
              <a:t>启动</a:t>
            </a:r>
            <a:r>
              <a:rPr lang="en-US" altLang="zh-CN">
                <a:highlight>
                  <a:srgbClr val="FFFF00"/>
                </a:highlight>
              </a:rPr>
              <a:t>ETest</a:t>
            </a:r>
            <a:r>
              <a:rPr lang="zh-CN" altLang="en-US">
                <a:highlight>
                  <a:srgbClr val="FFFF00"/>
                </a:highlight>
              </a:rPr>
              <a:t>后界面右下角显示未连接</a:t>
            </a:r>
            <a:endParaRPr lang="zh-CN" altLang="en-US">
              <a:highlight>
                <a:srgbClr val="FFFF00"/>
              </a:highlight>
            </a:endParaRPr>
          </a:p>
        </p:txBody>
      </p:sp>
      <p:pic>
        <p:nvPicPr>
          <p:cNvPr id="2" name="图片 1"/>
          <p:cNvPicPr>
            <a:picLocks noChangeAspect="1"/>
          </p:cNvPicPr>
          <p:nvPr/>
        </p:nvPicPr>
        <p:blipFill>
          <a:blip r:embed="rId1"/>
          <a:stretch>
            <a:fillRect/>
          </a:stretch>
        </p:blipFill>
        <p:spPr>
          <a:xfrm>
            <a:off x="1362710" y="1684655"/>
            <a:ext cx="4238625" cy="3025140"/>
          </a:xfrm>
          <a:prstGeom prst="rect">
            <a:avLst/>
          </a:prstGeom>
        </p:spPr>
      </p:pic>
      <p:sp>
        <p:nvSpPr>
          <p:cNvPr id="5" name="文本框 4"/>
          <p:cNvSpPr txBox="1"/>
          <p:nvPr/>
        </p:nvSpPr>
        <p:spPr>
          <a:xfrm>
            <a:off x="1254125" y="4709795"/>
            <a:ext cx="9328785" cy="1476375"/>
          </a:xfrm>
          <a:prstGeom prst="rect">
            <a:avLst/>
          </a:prstGeom>
          <a:noFill/>
        </p:spPr>
        <p:txBody>
          <a:bodyPr wrap="square" rtlCol="0">
            <a:spAutoFit/>
          </a:bodyPr>
          <a:lstStyle/>
          <a:p>
            <a:r>
              <a:rPr lang="zh-CN" altLang="en-US"/>
              <a:t>解决方案</a:t>
            </a:r>
            <a:r>
              <a:rPr lang="en-US" altLang="zh-CN"/>
              <a:t>1</a:t>
            </a:r>
            <a:r>
              <a:rPr lang="zh-CN" altLang="en-US"/>
              <a:t>：关闭全部的杀毒软件</a:t>
            </a:r>
            <a:endParaRPr lang="zh-CN" altLang="en-US"/>
          </a:p>
          <a:p>
            <a:r>
              <a:rPr lang="zh-CN" altLang="en-US"/>
              <a:t>解决方案</a:t>
            </a:r>
            <a:r>
              <a:rPr lang="en-US" altLang="zh-CN"/>
              <a:t>2</a:t>
            </a:r>
            <a:r>
              <a:rPr lang="zh-CN" altLang="en-US"/>
              <a:t>：百度搜一下VC_redist.x64.exe,跟自己电脑操作系统兼容的版本，下载安装</a:t>
            </a:r>
            <a:endParaRPr lang="zh-CN" altLang="en-US"/>
          </a:p>
          <a:p>
            <a:r>
              <a:rPr lang="zh-CN" altLang="en-US">
                <a:sym typeface="+mn-ea"/>
              </a:rPr>
              <a:t>解决方案</a:t>
            </a:r>
            <a:r>
              <a:rPr lang="en-US" altLang="zh-CN">
                <a:sym typeface="+mn-ea"/>
              </a:rPr>
              <a:t>3</a:t>
            </a:r>
            <a:r>
              <a:rPr lang="zh-CN" altLang="en-US">
                <a:sym typeface="+mn-ea"/>
              </a:rPr>
              <a:t>：重新启动电脑</a:t>
            </a:r>
            <a:r>
              <a:rPr lang="en-US" altLang="zh-CN">
                <a:sym typeface="+mn-ea"/>
              </a:rPr>
              <a:t>(</a:t>
            </a:r>
            <a:r>
              <a:rPr lang="zh-CN" altLang="en-US">
                <a:sym typeface="+mn-ea"/>
              </a:rPr>
              <a:t>之前学生遇到过方案</a:t>
            </a:r>
            <a:r>
              <a:rPr lang="en-US" altLang="zh-CN">
                <a:sym typeface="+mn-ea"/>
              </a:rPr>
              <a:t>1</a:t>
            </a:r>
            <a:r>
              <a:rPr lang="zh-CN" altLang="en-US">
                <a:sym typeface="+mn-ea"/>
              </a:rPr>
              <a:t>和</a:t>
            </a:r>
            <a:r>
              <a:rPr lang="en-US" altLang="zh-CN">
                <a:sym typeface="+mn-ea"/>
              </a:rPr>
              <a:t>2</a:t>
            </a:r>
            <a:r>
              <a:rPr lang="zh-CN" altLang="en-US">
                <a:sym typeface="+mn-ea"/>
              </a:rPr>
              <a:t>都操作过后还是显示未连接，重启电脑后就好了。</a:t>
            </a:r>
            <a:r>
              <a:rPr lang="en-US" altLang="zh-CN">
                <a:sym typeface="+mn-ea"/>
              </a:rPr>
              <a:t>)</a:t>
            </a:r>
            <a:endParaRPr lang="en-US" altLang="zh-CN">
              <a:sym typeface="+mn-ea"/>
            </a:endParaRPr>
          </a:p>
          <a:p>
            <a:r>
              <a:rPr lang="zh-CN" altLang="en-US">
                <a:sym typeface="+mn-ea"/>
              </a:rPr>
              <a:t>解决方案</a:t>
            </a:r>
            <a:r>
              <a:rPr lang="en-US" altLang="zh-CN">
                <a:sym typeface="+mn-ea"/>
              </a:rPr>
              <a:t>4</a:t>
            </a:r>
            <a:r>
              <a:rPr lang="zh-CN" altLang="en-US">
                <a:sym typeface="+mn-ea"/>
              </a:rPr>
              <a:t>：重新解压</a:t>
            </a:r>
            <a:r>
              <a:rPr lang="en-US" altLang="zh-CN">
                <a:sym typeface="+mn-ea"/>
              </a:rPr>
              <a:t>ETest</a:t>
            </a:r>
            <a:r>
              <a:rPr lang="zh-CN" altLang="en-US">
                <a:sym typeface="+mn-ea"/>
              </a:rPr>
              <a:t>软件包</a:t>
            </a:r>
            <a:endParaRPr lang="zh-CN" altLang="en-US">
              <a:sym typeface="+mn-ea"/>
            </a:endParaRPr>
          </a:p>
        </p:txBody>
      </p:sp>
      <p:pic>
        <p:nvPicPr>
          <p:cNvPr id="6" name="图片 5"/>
          <p:cNvPicPr>
            <a:picLocks noChangeAspect="1"/>
          </p:cNvPicPr>
          <p:nvPr/>
        </p:nvPicPr>
        <p:blipFill>
          <a:blip r:embed="rId2"/>
          <a:stretch>
            <a:fillRect/>
          </a:stretch>
        </p:blipFill>
        <p:spPr>
          <a:xfrm>
            <a:off x="0" y="0"/>
            <a:ext cx="12198985" cy="12096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pic>
        <p:nvPicPr>
          <p:cNvPr id="2" name="图片 1"/>
          <p:cNvPicPr>
            <a:picLocks noChangeAspect="1"/>
          </p:cNvPicPr>
          <p:nvPr/>
        </p:nvPicPr>
        <p:blipFill>
          <a:blip r:embed="rId1"/>
          <a:stretch>
            <a:fillRect/>
          </a:stretch>
        </p:blipFill>
        <p:spPr>
          <a:xfrm>
            <a:off x="1426210" y="1604010"/>
            <a:ext cx="4810125" cy="1457325"/>
          </a:xfrm>
          <a:prstGeom prst="rect">
            <a:avLst/>
          </a:prstGeom>
        </p:spPr>
      </p:pic>
      <p:sp>
        <p:nvSpPr>
          <p:cNvPr id="3" name="文本框 2"/>
          <p:cNvSpPr txBox="1"/>
          <p:nvPr/>
        </p:nvSpPr>
        <p:spPr>
          <a:xfrm>
            <a:off x="1363980" y="1188085"/>
            <a:ext cx="4064000" cy="368300"/>
          </a:xfrm>
          <a:prstGeom prst="rect">
            <a:avLst/>
          </a:prstGeom>
          <a:noFill/>
        </p:spPr>
        <p:txBody>
          <a:bodyPr wrap="square" rtlCol="0">
            <a:spAutoFit/>
          </a:bodyPr>
          <a:lstStyle/>
          <a:p>
            <a:r>
              <a:rPr lang="zh-CN" altLang="en-US">
                <a:highlight>
                  <a:srgbClr val="FFFF00"/>
                </a:highlight>
              </a:rPr>
              <a:t>串口下显示暂无数据</a:t>
            </a:r>
            <a:endParaRPr lang="zh-CN" altLang="en-US">
              <a:highlight>
                <a:srgbClr val="FFFF00"/>
              </a:highlight>
            </a:endParaRPr>
          </a:p>
        </p:txBody>
      </p:sp>
      <p:sp>
        <p:nvSpPr>
          <p:cNvPr id="5" name="文本框 4"/>
          <p:cNvSpPr txBox="1"/>
          <p:nvPr/>
        </p:nvSpPr>
        <p:spPr>
          <a:xfrm>
            <a:off x="1311275" y="3081655"/>
            <a:ext cx="8208010" cy="1198880"/>
          </a:xfrm>
          <a:prstGeom prst="rect">
            <a:avLst/>
          </a:prstGeom>
          <a:noFill/>
        </p:spPr>
        <p:txBody>
          <a:bodyPr wrap="square" rtlCol="0" anchor="t">
            <a:spAutoFit/>
          </a:bodyPr>
          <a:lstStyle/>
          <a:p>
            <a:r>
              <a:rPr lang="zh-CN" altLang="en-US">
                <a:sym typeface="+mn-ea"/>
              </a:rPr>
              <a:t>解决方案</a:t>
            </a:r>
            <a:r>
              <a:rPr lang="en-US" altLang="zh-CN">
                <a:sym typeface="+mn-ea"/>
              </a:rPr>
              <a:t>1</a:t>
            </a:r>
            <a:r>
              <a:rPr lang="zh-CN" altLang="en-US">
                <a:sym typeface="+mn-ea"/>
              </a:rPr>
              <a:t>：要关闭全部的杀毒软件，把win自带的杀毒的实时保护关了重启</a:t>
            </a:r>
            <a:endParaRPr lang="zh-CN" altLang="en-US">
              <a:sym typeface="+mn-ea"/>
            </a:endParaRPr>
          </a:p>
          <a:p>
            <a:r>
              <a:rPr lang="zh-CN" altLang="en-US">
                <a:sym typeface="+mn-ea"/>
              </a:rPr>
              <a:t>解决方案</a:t>
            </a:r>
            <a:r>
              <a:rPr lang="en-US" altLang="zh-CN">
                <a:sym typeface="+mn-ea"/>
              </a:rPr>
              <a:t>2</a:t>
            </a:r>
            <a:r>
              <a:rPr lang="zh-CN" altLang="en-US">
                <a:sym typeface="+mn-ea"/>
              </a:rPr>
              <a:t>：</a:t>
            </a:r>
            <a:r>
              <a:rPr lang="zh-CN" altLang="en-US"/>
              <a:t>重启电脑，有时候虚拟串口创建完重启后才能成功识别串口</a:t>
            </a:r>
            <a:endParaRPr lang="zh-CN" altLang="en-US"/>
          </a:p>
          <a:p>
            <a:r>
              <a:rPr lang="zh-CN" altLang="en-US"/>
              <a:t>解决方案</a:t>
            </a:r>
            <a:r>
              <a:rPr lang="en-US" altLang="zh-CN"/>
              <a:t>3</a:t>
            </a:r>
            <a:r>
              <a:rPr lang="zh-CN" altLang="en-US"/>
              <a:t>：把虚拟串口都删除，再下载最新的 vspd 最新版创建虚拟串口</a:t>
            </a:r>
            <a:r>
              <a:rPr lang="en-US" altLang="zh-CN"/>
              <a:t>,</a:t>
            </a:r>
            <a:r>
              <a:rPr lang="zh-CN" altLang="en-US"/>
              <a:t>正常虚拟串口应该显示在端口下，如下图所示显示的位置</a:t>
            </a:r>
            <a:endParaRPr lang="zh-CN" altLang="en-US"/>
          </a:p>
        </p:txBody>
      </p:sp>
      <p:pic>
        <p:nvPicPr>
          <p:cNvPr id="6" name="图片 5"/>
          <p:cNvPicPr>
            <a:picLocks noChangeAspect="1"/>
          </p:cNvPicPr>
          <p:nvPr/>
        </p:nvPicPr>
        <p:blipFill>
          <a:blip r:embed="rId2"/>
          <a:stretch>
            <a:fillRect/>
          </a:stretch>
        </p:blipFill>
        <p:spPr>
          <a:xfrm>
            <a:off x="1363980" y="4413885"/>
            <a:ext cx="3680460" cy="1798320"/>
          </a:xfrm>
          <a:prstGeom prst="rect">
            <a:avLst/>
          </a:prstGeom>
        </p:spPr>
      </p:pic>
      <p:pic>
        <p:nvPicPr>
          <p:cNvPr id="7" name="图片 6"/>
          <p:cNvPicPr>
            <a:picLocks noChangeAspect="1"/>
          </p:cNvPicPr>
          <p:nvPr/>
        </p:nvPicPr>
        <p:blipFill>
          <a:blip r:embed="rId3"/>
          <a:stretch>
            <a:fillRect/>
          </a:stretch>
        </p:blipFill>
        <p:spPr>
          <a:xfrm>
            <a:off x="0" y="0"/>
            <a:ext cx="12192000" cy="12090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277620" y="1348105"/>
            <a:ext cx="4064000" cy="368300"/>
          </a:xfrm>
          <a:prstGeom prst="rect">
            <a:avLst/>
          </a:prstGeom>
          <a:noFill/>
        </p:spPr>
        <p:txBody>
          <a:bodyPr wrap="square" rtlCol="0">
            <a:spAutoFit/>
          </a:bodyPr>
          <a:lstStyle/>
          <a:p>
            <a:r>
              <a:rPr lang="zh-CN" altLang="en-US">
                <a:highlight>
                  <a:srgbClr val="FFFF00"/>
                </a:highlight>
              </a:rPr>
              <a:t>执行报错</a:t>
            </a:r>
            <a:r>
              <a:rPr lang="en-US" altLang="zh-CN">
                <a:highlight>
                  <a:srgbClr val="FFFF00"/>
                </a:highlight>
              </a:rPr>
              <a:t>“</a:t>
            </a:r>
            <a:r>
              <a:rPr lang="zh-CN" altLang="en-US">
                <a:highlight>
                  <a:srgbClr val="FFFF00"/>
                </a:highlight>
                <a:sym typeface="+mn-ea"/>
              </a:rPr>
              <a:t>当前工程存在错误</a:t>
            </a:r>
            <a:r>
              <a:rPr lang="en-US" altLang="zh-CN">
                <a:highlight>
                  <a:srgbClr val="FFFF00"/>
                </a:highlight>
              </a:rPr>
              <a:t>”</a:t>
            </a:r>
            <a:endParaRPr lang="en-US" altLang="zh-CN">
              <a:highlight>
                <a:srgbClr val="FFFF00"/>
              </a:highlight>
            </a:endParaRPr>
          </a:p>
        </p:txBody>
      </p:sp>
      <p:sp>
        <p:nvSpPr>
          <p:cNvPr id="5" name="文本框 4"/>
          <p:cNvSpPr txBox="1"/>
          <p:nvPr/>
        </p:nvSpPr>
        <p:spPr>
          <a:xfrm>
            <a:off x="1277620" y="1696720"/>
            <a:ext cx="9702800" cy="1198880"/>
          </a:xfrm>
          <a:prstGeom prst="rect">
            <a:avLst/>
          </a:prstGeom>
          <a:noFill/>
        </p:spPr>
        <p:txBody>
          <a:bodyPr wrap="square" rtlCol="0" anchor="t">
            <a:spAutoFit/>
          </a:bodyPr>
          <a:lstStyle/>
          <a:p>
            <a:r>
              <a:rPr lang="zh-CN" altLang="en-US">
                <a:sym typeface="+mn-ea"/>
              </a:rPr>
              <a:t>解决方案</a:t>
            </a:r>
            <a:r>
              <a:rPr lang="en-US" altLang="zh-CN">
                <a:sym typeface="+mn-ea"/>
              </a:rPr>
              <a:t>1</a:t>
            </a:r>
            <a:r>
              <a:rPr lang="zh-CN" altLang="en-US">
                <a:sym typeface="+mn-ea"/>
              </a:rPr>
              <a:t>：打开的工程路径错误，打开项目时要选择</a:t>
            </a:r>
            <a:r>
              <a:rPr lang="en-US" altLang="zh-CN">
                <a:sym typeface="+mn-ea"/>
              </a:rPr>
              <a:t>project</a:t>
            </a:r>
            <a:r>
              <a:rPr lang="zh-CN" altLang="en-US">
                <a:sym typeface="+mn-ea"/>
              </a:rPr>
              <a:t>文件夹</a:t>
            </a:r>
            <a:endParaRPr lang="zh-CN" altLang="en-US"/>
          </a:p>
          <a:p>
            <a:r>
              <a:rPr lang="zh-CN" altLang="en-US"/>
              <a:t>解决方案</a:t>
            </a:r>
            <a:r>
              <a:rPr lang="en-US" altLang="zh-CN"/>
              <a:t>2</a:t>
            </a:r>
            <a:r>
              <a:rPr lang="zh-CN" altLang="en-US"/>
              <a:t>：</a:t>
            </a:r>
            <a:r>
              <a:rPr lang="zh-CN" altLang="en-US">
                <a:sym typeface="+mn-ea"/>
              </a:rPr>
              <a:t>执行配置run文件里检查一下仿真环境和执行程序配置是否正确</a:t>
            </a:r>
            <a:endParaRPr lang="zh-CN" altLang="en-US">
              <a:sym typeface="+mn-ea"/>
            </a:endParaRPr>
          </a:p>
          <a:p>
            <a:r>
              <a:rPr lang="zh-CN" altLang="en-US">
                <a:sym typeface="+mn-ea"/>
              </a:rPr>
              <a:t>解决方案3：检查一下ETest里的工具-串口名称设置页面，串口名称是否配置正确</a:t>
            </a:r>
            <a:endParaRPr lang="zh-CN" altLang="en-US">
              <a:sym typeface="+mn-ea"/>
            </a:endParaRPr>
          </a:p>
          <a:p>
            <a:endParaRPr lang="zh-CN" altLang="en-US"/>
          </a:p>
        </p:txBody>
      </p:sp>
      <p:pic>
        <p:nvPicPr>
          <p:cNvPr id="6" name="图片 5"/>
          <p:cNvPicPr>
            <a:picLocks noChangeAspect="1"/>
          </p:cNvPicPr>
          <p:nvPr/>
        </p:nvPicPr>
        <p:blipFill>
          <a:blip r:embed="rId1"/>
          <a:stretch>
            <a:fillRect/>
          </a:stretch>
        </p:blipFill>
        <p:spPr>
          <a:xfrm>
            <a:off x="0" y="0"/>
            <a:ext cx="12198985" cy="120967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249045" y="1326515"/>
            <a:ext cx="4064000" cy="368300"/>
          </a:xfrm>
          <a:prstGeom prst="rect">
            <a:avLst/>
          </a:prstGeom>
          <a:noFill/>
        </p:spPr>
        <p:txBody>
          <a:bodyPr wrap="square" rtlCol="0">
            <a:spAutoFit/>
          </a:bodyPr>
          <a:lstStyle/>
          <a:p>
            <a:r>
              <a:rPr lang="zh-CN" altLang="en-US">
                <a:highlight>
                  <a:srgbClr val="FFFF00"/>
                </a:highlight>
              </a:rPr>
              <a:t>执行报错</a:t>
            </a:r>
            <a:r>
              <a:rPr lang="en-US" altLang="zh-CN">
                <a:highlight>
                  <a:srgbClr val="FFFF00"/>
                </a:highlight>
              </a:rPr>
              <a:t>“</a:t>
            </a:r>
            <a:r>
              <a:rPr lang="zh-CN" altLang="en-US">
                <a:highlight>
                  <a:srgbClr val="FFFF00"/>
                </a:highlight>
                <a:sym typeface="+mn-ea"/>
              </a:rPr>
              <a:t>错误的通道类型</a:t>
            </a:r>
            <a:r>
              <a:rPr lang="en-US" altLang="zh-CN">
                <a:highlight>
                  <a:srgbClr val="FFFF00"/>
                </a:highlight>
              </a:rPr>
              <a:t>”</a:t>
            </a:r>
            <a:endParaRPr lang="en-US" altLang="zh-CN">
              <a:highlight>
                <a:srgbClr val="FFFF00"/>
              </a:highlight>
            </a:endParaRPr>
          </a:p>
        </p:txBody>
      </p:sp>
      <p:sp>
        <p:nvSpPr>
          <p:cNvPr id="5" name="文本框 4"/>
          <p:cNvSpPr txBox="1"/>
          <p:nvPr/>
        </p:nvSpPr>
        <p:spPr>
          <a:xfrm>
            <a:off x="1172210" y="4946015"/>
            <a:ext cx="9702800" cy="645160"/>
          </a:xfrm>
          <a:prstGeom prst="rect">
            <a:avLst/>
          </a:prstGeom>
          <a:noFill/>
        </p:spPr>
        <p:txBody>
          <a:bodyPr wrap="square" rtlCol="0" anchor="t">
            <a:spAutoFit/>
          </a:bodyPr>
          <a:lstStyle/>
          <a:p>
            <a:r>
              <a:rPr lang="zh-CN" altLang="en-US">
                <a:sym typeface="+mn-ea"/>
              </a:rPr>
              <a:t>解决方案：通道选择错误，需求里要求使用串口通道，程序里添加的是</a:t>
            </a:r>
            <a:r>
              <a:rPr lang="en-US" altLang="zh-CN">
                <a:sym typeface="+mn-ea"/>
              </a:rPr>
              <a:t>AIO</a:t>
            </a:r>
            <a:r>
              <a:rPr lang="zh-CN" altLang="en-US">
                <a:sym typeface="+mn-ea"/>
              </a:rPr>
              <a:t>通道，要</a:t>
            </a:r>
            <a:r>
              <a:rPr lang="zh-CN" altLang="en-US">
                <a:sym typeface="+mn-ea"/>
              </a:rPr>
              <a:t>添加正确的通道。</a:t>
            </a:r>
            <a:endParaRPr lang="zh-CN" altLang="en-US">
              <a:sym typeface="+mn-ea"/>
            </a:endParaRPr>
          </a:p>
        </p:txBody>
      </p:sp>
      <p:pic>
        <p:nvPicPr>
          <p:cNvPr id="2" name="图片 1"/>
          <p:cNvPicPr>
            <a:picLocks noChangeAspect="1"/>
          </p:cNvPicPr>
          <p:nvPr/>
        </p:nvPicPr>
        <p:blipFill>
          <a:blip r:embed="rId1"/>
          <a:stretch>
            <a:fillRect/>
          </a:stretch>
        </p:blipFill>
        <p:spPr>
          <a:xfrm>
            <a:off x="1290955" y="1722755"/>
            <a:ext cx="6144895" cy="3223260"/>
          </a:xfrm>
          <a:prstGeom prst="rect">
            <a:avLst/>
          </a:prstGeom>
        </p:spPr>
      </p:pic>
      <p:pic>
        <p:nvPicPr>
          <p:cNvPr id="6" name="图片 5"/>
          <p:cNvPicPr>
            <a:picLocks noChangeAspect="1"/>
          </p:cNvPicPr>
          <p:nvPr/>
        </p:nvPicPr>
        <p:blipFill>
          <a:blip r:embed="rId2"/>
          <a:stretch>
            <a:fillRect/>
          </a:stretch>
        </p:blipFill>
        <p:spPr>
          <a:xfrm>
            <a:off x="0" y="0"/>
            <a:ext cx="12192000" cy="120904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178560" y="1188720"/>
            <a:ext cx="8131175" cy="368300"/>
          </a:xfrm>
          <a:prstGeom prst="rect">
            <a:avLst/>
          </a:prstGeom>
          <a:noFill/>
        </p:spPr>
        <p:txBody>
          <a:bodyPr wrap="square" rtlCol="0">
            <a:spAutoFit/>
          </a:bodyPr>
          <a:lstStyle/>
          <a:p>
            <a:r>
              <a:rPr lang="zh-CN" altLang="en-US">
                <a:highlight>
                  <a:srgbClr val="FFFF00"/>
                </a:highlight>
              </a:rPr>
              <a:t>定速巡航</a:t>
            </a:r>
            <a:r>
              <a:rPr lang="zh-CN" altLang="en-US">
                <a:highlight>
                  <a:srgbClr val="FFFF00"/>
                </a:highlight>
              </a:rPr>
              <a:t>项目点击执行按钮后报错：</a:t>
            </a:r>
            <a:r>
              <a:rPr lang="en-US" altLang="zh-CN">
                <a:highlight>
                  <a:srgbClr val="FFFF00"/>
                </a:highlight>
              </a:rPr>
              <a:t>attempt to index a nil value(local 'res')</a:t>
            </a:r>
            <a:endParaRPr lang="en-US" altLang="zh-CN">
              <a:highlight>
                <a:srgbClr val="FFFF00"/>
              </a:highlight>
            </a:endParaRPr>
          </a:p>
        </p:txBody>
      </p:sp>
      <p:pic>
        <p:nvPicPr>
          <p:cNvPr id="9" name="图片 8"/>
          <p:cNvPicPr>
            <a:picLocks noChangeAspect="1"/>
          </p:cNvPicPr>
          <p:nvPr/>
        </p:nvPicPr>
        <p:blipFill>
          <a:blip r:embed="rId1"/>
          <a:stretch>
            <a:fillRect/>
          </a:stretch>
        </p:blipFill>
        <p:spPr>
          <a:xfrm>
            <a:off x="1293495" y="3914140"/>
            <a:ext cx="6391275" cy="2781300"/>
          </a:xfrm>
          <a:prstGeom prst="rect">
            <a:avLst/>
          </a:prstGeom>
        </p:spPr>
      </p:pic>
      <p:sp>
        <p:nvSpPr>
          <p:cNvPr id="10" name="文本框 9"/>
          <p:cNvSpPr txBox="1"/>
          <p:nvPr/>
        </p:nvSpPr>
        <p:spPr>
          <a:xfrm>
            <a:off x="1293495" y="3245485"/>
            <a:ext cx="9309735" cy="645160"/>
          </a:xfrm>
          <a:prstGeom prst="rect">
            <a:avLst/>
          </a:prstGeom>
          <a:noFill/>
        </p:spPr>
        <p:txBody>
          <a:bodyPr wrap="square" rtlCol="0">
            <a:spAutoFit/>
          </a:bodyPr>
          <a:lstStyle/>
          <a:p>
            <a:r>
              <a:rPr lang="zh-CN" altLang="en-US"/>
              <a:t>解决方案</a:t>
            </a:r>
            <a:r>
              <a:rPr lang="en-US" altLang="zh-CN"/>
              <a:t>1</a:t>
            </a:r>
            <a:r>
              <a:rPr lang="zh-CN" altLang="en-US"/>
              <a:t>：巡航系统状态开启时，执行；不要关闭状态下执行。关闭状态下通道不能接收数据，所以返回值是</a:t>
            </a:r>
            <a:r>
              <a:rPr lang="en-US" altLang="zh-CN"/>
              <a:t>nil</a:t>
            </a:r>
            <a:endParaRPr lang="en-US" altLang="zh-CN"/>
          </a:p>
        </p:txBody>
      </p:sp>
      <p:pic>
        <p:nvPicPr>
          <p:cNvPr id="11" name="图片 10"/>
          <p:cNvPicPr>
            <a:picLocks noChangeAspect="1"/>
          </p:cNvPicPr>
          <p:nvPr/>
        </p:nvPicPr>
        <p:blipFill>
          <a:blip r:embed="rId2"/>
          <a:stretch>
            <a:fillRect/>
          </a:stretch>
        </p:blipFill>
        <p:spPr>
          <a:xfrm>
            <a:off x="1293495" y="1557020"/>
            <a:ext cx="2347595" cy="1700530"/>
          </a:xfrm>
          <a:prstGeom prst="rect">
            <a:avLst/>
          </a:prstGeom>
        </p:spPr>
      </p:pic>
      <p:pic>
        <p:nvPicPr>
          <p:cNvPr id="6" name="图片 5"/>
          <p:cNvPicPr>
            <a:picLocks noChangeAspect="1"/>
          </p:cNvPicPr>
          <p:nvPr/>
        </p:nvPicPr>
        <p:blipFill>
          <a:blip r:embed="rId3"/>
          <a:stretch>
            <a:fillRect/>
          </a:stretch>
        </p:blipFill>
        <p:spPr>
          <a:xfrm>
            <a:off x="0" y="0"/>
            <a:ext cx="12192000" cy="120904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110615" y="1250315"/>
            <a:ext cx="10464800" cy="645160"/>
          </a:xfrm>
          <a:prstGeom prst="rect">
            <a:avLst/>
          </a:prstGeom>
          <a:noFill/>
        </p:spPr>
        <p:txBody>
          <a:bodyPr wrap="square" rtlCol="0">
            <a:spAutoFit/>
          </a:bodyPr>
          <a:lstStyle/>
          <a:p>
            <a:r>
              <a:rPr>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报错：环境准备“仿真环境.env”失败</a:t>
            </a:r>
            <a:endParaRPr lang="zh-CN" altLang="en-US">
              <a:highlight>
                <a:srgbClr val="FFFF00"/>
              </a:highlight>
            </a:endParaRPr>
          </a:p>
          <a:p>
            <a:endParaRPr lang="zh-CN">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240155" y="1710055"/>
            <a:ext cx="4525010" cy="3141980"/>
          </a:xfrm>
          <a:prstGeom prst="rect">
            <a:avLst/>
          </a:prstGeom>
        </p:spPr>
      </p:pic>
      <p:sp>
        <p:nvSpPr>
          <p:cNvPr id="7" name="文本框 6"/>
          <p:cNvSpPr txBox="1"/>
          <p:nvPr/>
        </p:nvSpPr>
        <p:spPr>
          <a:xfrm>
            <a:off x="1172210" y="4911090"/>
            <a:ext cx="10575925" cy="1715135"/>
          </a:xfrm>
          <a:prstGeom prst="rect">
            <a:avLst/>
          </a:prstGeom>
          <a:noFill/>
        </p:spPr>
        <p:txBody>
          <a:bodyPr wrap="square" rtlCol="0">
            <a:noAutofit/>
          </a:bodyPr>
          <a:lstStyle/>
          <a:p>
            <a:r>
              <a:rPr lang="zh-CN" altLang="en-US" sz="1600" dirty="0">
                <a:sym typeface="+mn-ea"/>
              </a:rPr>
              <a:t>是环境配置不正确导致的。按需求文档的要求，先检查一下仿真环境里的配置，然后再检测一下串口名称设置页面的设置。</a:t>
            </a:r>
            <a:endParaRPr lang="zh-CN" altLang="en-US" sz="1600" dirty="0"/>
          </a:p>
          <a:p>
            <a:r>
              <a:rPr lang="zh-CN" altLang="en-US" sz="1600" dirty="0"/>
              <a:t>解决方案</a:t>
            </a:r>
            <a:r>
              <a:rPr lang="en-US" altLang="zh-CN" sz="1600" dirty="0"/>
              <a:t>1</a:t>
            </a:r>
            <a:r>
              <a:rPr lang="zh-CN" altLang="en-US" sz="1600" dirty="0"/>
              <a:t>：原因是硬件环境通道配置错误。如果</a:t>
            </a:r>
            <a:r>
              <a:rPr lang="en-US" altLang="zh-CN" sz="1600" dirty="0"/>
              <a:t>VSPD</a:t>
            </a:r>
            <a:r>
              <a:rPr lang="zh-CN" altLang="en-US" sz="1600" dirty="0"/>
              <a:t>创建的虚拟端口分别是</a:t>
            </a:r>
            <a:r>
              <a:rPr lang="en-US" altLang="zh-CN" sz="1600" dirty="0"/>
              <a:t>1</a:t>
            </a:r>
            <a:r>
              <a:rPr lang="zh-CN" altLang="en-US" sz="1600" dirty="0"/>
              <a:t>和</a:t>
            </a:r>
            <a:r>
              <a:rPr lang="en-US" altLang="zh-CN" sz="1600" dirty="0"/>
              <a:t>2</a:t>
            </a:r>
            <a:r>
              <a:rPr lang="zh-CN" altLang="en-US" sz="1600" dirty="0"/>
              <a:t>、</a:t>
            </a:r>
            <a:r>
              <a:rPr lang="en-US" altLang="zh-CN" sz="1600" dirty="0"/>
              <a:t>3</a:t>
            </a:r>
            <a:r>
              <a:rPr lang="zh-CN" altLang="en-US" sz="1600" dirty="0"/>
              <a:t>和</a:t>
            </a:r>
            <a:r>
              <a:rPr lang="en-US" altLang="zh-CN" sz="1600" dirty="0"/>
              <a:t>4</a:t>
            </a:r>
            <a:r>
              <a:rPr lang="zh-CN" altLang="en-US" sz="1600" dirty="0"/>
              <a:t>、</a:t>
            </a:r>
            <a:r>
              <a:rPr lang="en-US" altLang="zh-CN" sz="1600" dirty="0"/>
              <a:t>5</a:t>
            </a:r>
            <a:r>
              <a:rPr lang="zh-CN" altLang="en-US" sz="1600" dirty="0"/>
              <a:t>和</a:t>
            </a:r>
            <a:r>
              <a:rPr lang="en-US" altLang="zh-CN" sz="1600" dirty="0"/>
              <a:t>6</a:t>
            </a:r>
            <a:r>
              <a:rPr lang="zh-CN" altLang="en-US" sz="1600" dirty="0"/>
              <a:t>，那么被测件启动时的端口默认设置了</a:t>
            </a:r>
            <a:r>
              <a:rPr lang="en-US" altLang="zh-CN" sz="1600" dirty="0"/>
              <a:t>1</a:t>
            </a:r>
            <a:r>
              <a:rPr lang="zh-CN" altLang="en-US" sz="1600" dirty="0"/>
              <a:t>、</a:t>
            </a:r>
            <a:r>
              <a:rPr lang="en-US" altLang="zh-CN" sz="1600" dirty="0"/>
              <a:t>3</a:t>
            </a:r>
            <a:r>
              <a:rPr lang="zh-CN" altLang="en-US" sz="1600" dirty="0"/>
              <a:t>、</a:t>
            </a:r>
            <a:r>
              <a:rPr lang="en-US" altLang="zh-CN" sz="1600" dirty="0"/>
              <a:t>5</a:t>
            </a:r>
            <a:r>
              <a:rPr lang="zh-CN" altLang="en-US" sz="1600" dirty="0"/>
              <a:t>，</a:t>
            </a:r>
            <a:r>
              <a:rPr lang="en-US" altLang="zh-CN" sz="1600" dirty="0"/>
              <a:t>ETest</a:t>
            </a:r>
            <a:r>
              <a:rPr lang="zh-CN" altLang="en-US" sz="1600" dirty="0"/>
              <a:t>里串口名称设置分别设置</a:t>
            </a:r>
            <a:r>
              <a:rPr lang="en-US" altLang="zh-CN" sz="1600" dirty="0"/>
              <a:t>2</a:t>
            </a:r>
            <a:r>
              <a:rPr lang="zh-CN" altLang="en-US" sz="1600" dirty="0"/>
              <a:t>、</a:t>
            </a:r>
            <a:r>
              <a:rPr lang="en-US" altLang="zh-CN" sz="1600" dirty="0"/>
              <a:t>4</a:t>
            </a:r>
            <a:r>
              <a:rPr lang="zh-CN" altLang="en-US" sz="1600" dirty="0"/>
              <a:t>、</a:t>
            </a:r>
            <a:r>
              <a:rPr lang="en-US" altLang="zh-CN" sz="1600" dirty="0"/>
              <a:t>6</a:t>
            </a:r>
            <a:r>
              <a:rPr lang="zh-CN" altLang="en-US" sz="1600" dirty="0"/>
              <a:t>，可以通信。如果</a:t>
            </a:r>
            <a:r>
              <a:rPr lang="en-US" altLang="zh-CN" sz="1600" dirty="0"/>
              <a:t>VSPD</a:t>
            </a:r>
            <a:r>
              <a:rPr lang="zh-CN" altLang="en-US" sz="1600" dirty="0"/>
              <a:t>创建的是其他数字的端口，则要根据实际的配对关系进行被测件端口的设置和</a:t>
            </a:r>
            <a:r>
              <a:rPr lang="en-US" altLang="zh-CN" sz="1600" dirty="0"/>
              <a:t>ETest</a:t>
            </a:r>
            <a:r>
              <a:rPr lang="zh-CN" altLang="en-US" sz="1600" dirty="0"/>
              <a:t>里的设置，才能正常通信。</a:t>
            </a:r>
            <a:endParaRPr lang="en-US" altLang="zh-CN" sz="1600" dirty="0"/>
          </a:p>
          <a:p>
            <a:r>
              <a:rPr lang="zh-CN" altLang="en-US" sz="1600" dirty="0"/>
              <a:t>解决方案</a:t>
            </a:r>
            <a:r>
              <a:rPr lang="en-US" altLang="zh-CN" sz="1600" dirty="0"/>
              <a:t>2</a:t>
            </a:r>
            <a:r>
              <a:rPr lang="zh-CN" altLang="en-US" sz="1600" dirty="0"/>
              <a:t>：还有一种可能是，设备管理器上的其他硬件占用了该端口，比如：蓝牙链接上的标准串行</a:t>
            </a:r>
            <a:r>
              <a:rPr lang="en-US" altLang="zh-CN" sz="1600" dirty="0"/>
              <a:t>(COM3)</a:t>
            </a:r>
            <a:r>
              <a:rPr lang="zh-CN" altLang="en-US" sz="1600" dirty="0"/>
              <a:t>，</a:t>
            </a:r>
            <a:r>
              <a:rPr lang="en-US" altLang="zh-CN" sz="1600" dirty="0" err="1"/>
              <a:t>Etest</a:t>
            </a:r>
            <a:r>
              <a:rPr lang="zh-CN" altLang="en-US" sz="1600" dirty="0"/>
              <a:t>里再绑定端口</a:t>
            </a:r>
            <a:r>
              <a:rPr lang="en-US" altLang="zh-CN" sz="1600" dirty="0"/>
              <a:t>3</a:t>
            </a:r>
            <a:r>
              <a:rPr lang="zh-CN" altLang="en-US" sz="1600" dirty="0"/>
              <a:t>师，就会报错：环境准备“</a:t>
            </a:r>
            <a:r>
              <a:rPr lang="en-US" altLang="zh-CN" sz="1600" dirty="0"/>
              <a:t>project/env/</a:t>
            </a:r>
            <a:r>
              <a:rPr lang="zh-CN" altLang="en-US" sz="1600" dirty="0"/>
              <a:t>智能手表仿真环境</a:t>
            </a:r>
            <a:r>
              <a:rPr lang="en-US" altLang="zh-CN" sz="1600" dirty="0"/>
              <a:t>.env”</a:t>
            </a:r>
            <a:r>
              <a:rPr lang="zh-CN" altLang="en-US" sz="1600" dirty="0"/>
              <a:t>失败。</a:t>
            </a:r>
            <a:endParaRPr lang="zh-CN" altLang="en-US" sz="1600" dirty="0"/>
          </a:p>
        </p:txBody>
      </p:sp>
      <p:pic>
        <p:nvPicPr>
          <p:cNvPr id="5" name="图片 4"/>
          <p:cNvPicPr>
            <a:picLocks noChangeAspect="1"/>
          </p:cNvPicPr>
          <p:nvPr/>
        </p:nvPicPr>
        <p:blipFill>
          <a:blip r:embed="rId2"/>
          <a:stretch>
            <a:fillRect/>
          </a:stretch>
        </p:blipFill>
        <p:spPr>
          <a:xfrm>
            <a:off x="0" y="0"/>
            <a:ext cx="12192000" cy="120904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110615" y="1250315"/>
            <a:ext cx="10464800" cy="368300"/>
          </a:xfrm>
          <a:prstGeom prst="rect">
            <a:avLst/>
          </a:prstGeom>
          <a:noFill/>
        </p:spPr>
        <p:txBody>
          <a:bodyPr wrap="square" rtlCol="0">
            <a:spAutoFit/>
          </a:bodyPr>
          <a:lstStyle/>
          <a:p>
            <a:r>
              <a:rPr lang="zh-CN" altLang="en-US">
                <a:highlight>
                  <a:srgbClr val="FFFF00"/>
                </a:highlight>
                <a:sym typeface="+mn-ea"/>
              </a:rPr>
              <a:t>执行后控制台没有输出，使用ask也没弹出交互</a:t>
            </a:r>
            <a:endParaRPr lang="zh-CN">
              <a:highlight>
                <a:srgbClr val="FFFF00"/>
              </a:highlight>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1223645" y="1708785"/>
            <a:ext cx="5822950" cy="3032125"/>
          </a:xfrm>
          <a:prstGeom prst="rect">
            <a:avLst/>
          </a:prstGeom>
        </p:spPr>
      </p:pic>
      <p:sp>
        <p:nvSpPr>
          <p:cNvPr id="7" name="文本框 6"/>
          <p:cNvSpPr txBox="1"/>
          <p:nvPr/>
        </p:nvSpPr>
        <p:spPr>
          <a:xfrm>
            <a:off x="1172210" y="4911090"/>
            <a:ext cx="10575925" cy="1715135"/>
          </a:xfrm>
          <a:prstGeom prst="rect">
            <a:avLst/>
          </a:prstGeom>
          <a:noFill/>
        </p:spPr>
        <p:txBody>
          <a:bodyPr wrap="square" rtlCol="0">
            <a:noAutofit/>
          </a:bodyPr>
          <a:lstStyle/>
          <a:p>
            <a:r>
              <a:rPr lang="zh-CN" altLang="en-US" sz="1600" dirty="0">
                <a:sym typeface="+mn-ea"/>
              </a:rPr>
              <a:t>是环境配置不正确导致的。按需求文档的要求，先检查一下仿真环境里的配置，然后再检测一下串口名称设置页面的设置。</a:t>
            </a:r>
            <a:endParaRPr lang="zh-CN" altLang="en-US" sz="1600" dirty="0"/>
          </a:p>
          <a:p>
            <a:r>
              <a:rPr lang="zh-CN" altLang="en-US" sz="1600" dirty="0"/>
              <a:t>解决方案</a:t>
            </a:r>
            <a:r>
              <a:rPr lang="en-US" altLang="zh-CN" sz="1600" dirty="0"/>
              <a:t>1</a:t>
            </a:r>
            <a:r>
              <a:rPr lang="zh-CN" altLang="en-US" sz="1600" dirty="0"/>
              <a:t>：原因是硬件环境通道配置错误。如果</a:t>
            </a:r>
            <a:r>
              <a:rPr lang="en-US" altLang="zh-CN" sz="1600" dirty="0"/>
              <a:t>VSPD</a:t>
            </a:r>
            <a:r>
              <a:rPr lang="zh-CN" altLang="en-US" sz="1600" dirty="0"/>
              <a:t>创建的虚拟端口分别是</a:t>
            </a:r>
            <a:r>
              <a:rPr lang="en-US" altLang="zh-CN" sz="1600" dirty="0"/>
              <a:t>1</a:t>
            </a:r>
            <a:r>
              <a:rPr lang="zh-CN" altLang="en-US" sz="1600" dirty="0"/>
              <a:t>和</a:t>
            </a:r>
            <a:r>
              <a:rPr lang="en-US" altLang="zh-CN" sz="1600" dirty="0"/>
              <a:t>2</a:t>
            </a:r>
            <a:r>
              <a:rPr lang="zh-CN" altLang="en-US" sz="1600" dirty="0"/>
              <a:t>、</a:t>
            </a:r>
            <a:r>
              <a:rPr lang="en-US" altLang="zh-CN" sz="1600" dirty="0"/>
              <a:t>3</a:t>
            </a:r>
            <a:r>
              <a:rPr lang="zh-CN" altLang="en-US" sz="1600" dirty="0"/>
              <a:t>和</a:t>
            </a:r>
            <a:r>
              <a:rPr lang="en-US" altLang="zh-CN" sz="1600" dirty="0"/>
              <a:t>4</a:t>
            </a:r>
            <a:r>
              <a:rPr lang="zh-CN" altLang="en-US" sz="1600" dirty="0"/>
              <a:t>、</a:t>
            </a:r>
            <a:r>
              <a:rPr lang="en-US" altLang="zh-CN" sz="1600" dirty="0"/>
              <a:t>5</a:t>
            </a:r>
            <a:r>
              <a:rPr lang="zh-CN" altLang="en-US" sz="1600" dirty="0"/>
              <a:t>和</a:t>
            </a:r>
            <a:r>
              <a:rPr lang="en-US" altLang="zh-CN" sz="1600" dirty="0"/>
              <a:t>6</a:t>
            </a:r>
            <a:r>
              <a:rPr lang="zh-CN" altLang="en-US" sz="1600" dirty="0"/>
              <a:t>，那么被测件启动时的端口默认设置了</a:t>
            </a:r>
            <a:r>
              <a:rPr lang="en-US" altLang="zh-CN" sz="1600" dirty="0"/>
              <a:t>1</a:t>
            </a:r>
            <a:r>
              <a:rPr lang="zh-CN" altLang="en-US" sz="1600" dirty="0"/>
              <a:t>、</a:t>
            </a:r>
            <a:r>
              <a:rPr lang="en-US" altLang="zh-CN" sz="1600" dirty="0"/>
              <a:t>3</a:t>
            </a:r>
            <a:r>
              <a:rPr lang="zh-CN" altLang="en-US" sz="1600" dirty="0"/>
              <a:t>、</a:t>
            </a:r>
            <a:r>
              <a:rPr lang="en-US" altLang="zh-CN" sz="1600" dirty="0"/>
              <a:t>5</a:t>
            </a:r>
            <a:r>
              <a:rPr lang="zh-CN" altLang="en-US" sz="1600" dirty="0"/>
              <a:t>，</a:t>
            </a:r>
            <a:r>
              <a:rPr lang="en-US" altLang="zh-CN" sz="1600" dirty="0"/>
              <a:t>ETest</a:t>
            </a:r>
            <a:r>
              <a:rPr lang="zh-CN" altLang="en-US" sz="1600" dirty="0"/>
              <a:t>里串口名称设置分别设置</a:t>
            </a:r>
            <a:r>
              <a:rPr lang="en-US" altLang="zh-CN" sz="1600" dirty="0"/>
              <a:t>2</a:t>
            </a:r>
            <a:r>
              <a:rPr lang="zh-CN" altLang="en-US" sz="1600" dirty="0"/>
              <a:t>、</a:t>
            </a:r>
            <a:r>
              <a:rPr lang="en-US" altLang="zh-CN" sz="1600" dirty="0"/>
              <a:t>4</a:t>
            </a:r>
            <a:r>
              <a:rPr lang="zh-CN" altLang="en-US" sz="1600" dirty="0"/>
              <a:t>、</a:t>
            </a:r>
            <a:r>
              <a:rPr lang="en-US" altLang="zh-CN" sz="1600" dirty="0"/>
              <a:t>6</a:t>
            </a:r>
            <a:r>
              <a:rPr lang="zh-CN" altLang="en-US" sz="1600" dirty="0"/>
              <a:t>，可以通信。如果</a:t>
            </a:r>
            <a:r>
              <a:rPr lang="en-US" altLang="zh-CN" sz="1600" dirty="0"/>
              <a:t>VSPD</a:t>
            </a:r>
            <a:r>
              <a:rPr lang="zh-CN" altLang="en-US" sz="1600" dirty="0"/>
              <a:t>创建的是其他数字的端口，则要根据实际的配对关系进行被测件端口的设置和</a:t>
            </a:r>
            <a:r>
              <a:rPr lang="en-US" altLang="zh-CN" sz="1600" dirty="0"/>
              <a:t>ETest</a:t>
            </a:r>
            <a:r>
              <a:rPr lang="zh-CN" altLang="en-US" sz="1600" dirty="0"/>
              <a:t>里的设置，才能正常通信。</a:t>
            </a:r>
            <a:endParaRPr lang="en-US" altLang="zh-CN" sz="1600" dirty="0"/>
          </a:p>
          <a:p>
            <a:r>
              <a:rPr lang="zh-CN" altLang="en-US" sz="1600" dirty="0"/>
              <a:t>解决方案</a:t>
            </a:r>
            <a:r>
              <a:rPr lang="en-US" altLang="zh-CN" sz="1600" dirty="0"/>
              <a:t>2</a:t>
            </a:r>
            <a:r>
              <a:rPr lang="zh-CN" altLang="en-US" sz="1600" dirty="0"/>
              <a:t>：还有一种可能是，设备管理器上的其他硬件占用了该端口，比如：蓝牙链接上的标准串行</a:t>
            </a:r>
            <a:r>
              <a:rPr lang="en-US" altLang="zh-CN" sz="1600" dirty="0"/>
              <a:t>(COM3)</a:t>
            </a:r>
            <a:r>
              <a:rPr lang="zh-CN" altLang="en-US" sz="1600" dirty="0"/>
              <a:t>，</a:t>
            </a:r>
            <a:r>
              <a:rPr lang="en-US" altLang="zh-CN" sz="1600" dirty="0" err="1"/>
              <a:t>Etest</a:t>
            </a:r>
            <a:r>
              <a:rPr lang="zh-CN" altLang="en-US" sz="1600" dirty="0"/>
              <a:t>里再绑定端口</a:t>
            </a:r>
            <a:r>
              <a:rPr lang="en-US" altLang="zh-CN" sz="1600" dirty="0"/>
              <a:t>3</a:t>
            </a:r>
            <a:r>
              <a:rPr lang="zh-CN" altLang="en-US" sz="1600" dirty="0"/>
              <a:t>师，就会报错：环境准备“</a:t>
            </a:r>
            <a:r>
              <a:rPr lang="en-US" altLang="zh-CN" sz="1600" dirty="0"/>
              <a:t>project/env/</a:t>
            </a:r>
            <a:r>
              <a:rPr lang="zh-CN" altLang="en-US" sz="1600" dirty="0"/>
              <a:t>智能手表仿真环境</a:t>
            </a:r>
            <a:r>
              <a:rPr lang="en-US" altLang="zh-CN" sz="1600" dirty="0"/>
              <a:t>.env”</a:t>
            </a:r>
            <a:r>
              <a:rPr lang="zh-CN" altLang="en-US" sz="1600" dirty="0"/>
              <a:t>失败。</a:t>
            </a:r>
            <a:endParaRPr lang="zh-CN" altLang="en-US" sz="1600" dirty="0"/>
          </a:p>
        </p:txBody>
      </p:sp>
      <p:pic>
        <p:nvPicPr>
          <p:cNvPr id="5" name="图片 4"/>
          <p:cNvPicPr>
            <a:picLocks noChangeAspect="1"/>
          </p:cNvPicPr>
          <p:nvPr/>
        </p:nvPicPr>
        <p:blipFill>
          <a:blip r:embed="rId2"/>
          <a:stretch>
            <a:fillRect/>
          </a:stretch>
        </p:blipFill>
        <p:spPr>
          <a:xfrm>
            <a:off x="0" y="0"/>
            <a:ext cx="12192000" cy="120904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319530" y="1378585"/>
            <a:ext cx="7376160" cy="368300"/>
          </a:xfrm>
          <a:prstGeom prst="rect">
            <a:avLst/>
          </a:prstGeom>
          <a:noFill/>
        </p:spPr>
        <p:txBody>
          <a:bodyPr wrap="square" rtlCol="0">
            <a:spAutoFit/>
          </a:bodyPr>
          <a:lstStyle/>
          <a:p>
            <a:r>
              <a:rPr lang="zh-CN" altLang="en-US">
                <a:highlight>
                  <a:srgbClr val="FFFF00"/>
                </a:highlight>
              </a:rPr>
              <a:t>定速巡航</a:t>
            </a:r>
            <a:r>
              <a:rPr lang="zh-CN" altLang="en-US">
                <a:highlight>
                  <a:srgbClr val="FFFF00"/>
                </a:highlight>
              </a:rPr>
              <a:t>项目启动被测件，报错</a:t>
            </a:r>
            <a:r>
              <a:rPr lang="en-US" altLang="zh-CN">
                <a:highlight>
                  <a:srgbClr val="FFFF00"/>
                </a:highlight>
              </a:rPr>
              <a:t>“端口错误:信号灯超时时间已到”</a:t>
            </a:r>
            <a:endParaRPr lang="en-US" altLang="zh-CN">
              <a:highlight>
                <a:srgbClr val="FFFF00"/>
              </a:highlight>
            </a:endParaRPr>
          </a:p>
        </p:txBody>
      </p:sp>
      <p:pic>
        <p:nvPicPr>
          <p:cNvPr id="2" name="图片 1"/>
          <p:cNvPicPr>
            <a:picLocks noChangeAspect="1"/>
          </p:cNvPicPr>
          <p:nvPr/>
        </p:nvPicPr>
        <p:blipFill>
          <a:blip r:embed="rId1"/>
          <a:stretch>
            <a:fillRect/>
          </a:stretch>
        </p:blipFill>
        <p:spPr>
          <a:xfrm>
            <a:off x="1464310" y="1933575"/>
            <a:ext cx="4048125" cy="2587625"/>
          </a:xfrm>
          <a:prstGeom prst="rect">
            <a:avLst/>
          </a:prstGeom>
        </p:spPr>
      </p:pic>
      <p:sp>
        <p:nvSpPr>
          <p:cNvPr id="6" name="文本框 5"/>
          <p:cNvSpPr txBox="1"/>
          <p:nvPr/>
        </p:nvSpPr>
        <p:spPr>
          <a:xfrm>
            <a:off x="1343025" y="4625340"/>
            <a:ext cx="7205345" cy="368300"/>
          </a:xfrm>
          <a:prstGeom prst="rect">
            <a:avLst/>
          </a:prstGeom>
          <a:noFill/>
        </p:spPr>
        <p:txBody>
          <a:bodyPr wrap="square" rtlCol="0">
            <a:spAutoFit/>
          </a:bodyPr>
          <a:lstStyle/>
          <a:p>
            <a:r>
              <a:rPr lang="zh-CN" altLang="en-US"/>
              <a:t>解决方案</a:t>
            </a:r>
            <a:r>
              <a:rPr lang="en-US" altLang="zh-CN"/>
              <a:t>1</a:t>
            </a:r>
            <a:r>
              <a:rPr lang="zh-CN" altLang="en-US"/>
              <a:t>：在设备管理器删除掉端口，用VSPD重新配置一次</a:t>
            </a:r>
            <a:endParaRPr lang="zh-CN" altLang="en-US"/>
          </a:p>
        </p:txBody>
      </p:sp>
      <p:pic>
        <p:nvPicPr>
          <p:cNvPr id="5" name="图片 4"/>
          <p:cNvPicPr>
            <a:picLocks noChangeAspect="1"/>
          </p:cNvPicPr>
          <p:nvPr/>
        </p:nvPicPr>
        <p:blipFill>
          <a:blip r:embed="rId2"/>
          <a:stretch>
            <a:fillRect/>
          </a:stretch>
        </p:blipFill>
        <p:spPr>
          <a:xfrm>
            <a:off x="0" y="0"/>
            <a:ext cx="12192000" cy="120904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256030" y="1230630"/>
            <a:ext cx="10147300" cy="645160"/>
          </a:xfrm>
          <a:prstGeom prst="rect">
            <a:avLst/>
          </a:prstGeom>
          <a:noFill/>
        </p:spPr>
        <p:txBody>
          <a:bodyPr wrap="square" rtlCol="0">
            <a:spAutoFit/>
          </a:bodyPr>
          <a:lstStyle/>
          <a:p>
            <a:r>
              <a:rPr lang="zh-CN" altLang="en-US">
                <a:highlight>
                  <a:srgbClr val="FFFF00"/>
                </a:highlight>
              </a:rPr>
              <a:t>定速巡航</a:t>
            </a:r>
            <a:r>
              <a:rPr lang="zh-CN" altLang="en-US">
                <a:highlight>
                  <a:srgbClr val="FFFF00"/>
                </a:highlight>
              </a:rPr>
              <a:t>项目执行</a:t>
            </a:r>
            <a:r>
              <a:rPr lang="en-US" altLang="zh-CN">
                <a:highlight>
                  <a:srgbClr val="FFFF00"/>
                </a:highlight>
              </a:rPr>
              <a:t>接口3_车速传感器输入接口.lua</a:t>
            </a:r>
            <a:r>
              <a:rPr lang="zh-CN" altLang="en-US">
                <a:highlight>
                  <a:srgbClr val="FFFF00"/>
                </a:highlight>
              </a:rPr>
              <a:t>文件，被测件弹出提示：startlndex 不能大于字符串长度。参数名: startIndex</a:t>
            </a:r>
            <a:endParaRPr lang="zh-CN" altLang="en-US">
              <a:highlight>
                <a:srgbClr val="FFFF00"/>
              </a:highlight>
            </a:endParaRPr>
          </a:p>
        </p:txBody>
      </p:sp>
      <p:pic>
        <p:nvPicPr>
          <p:cNvPr id="9" name="图片 8"/>
          <p:cNvPicPr>
            <a:picLocks noChangeAspect="1"/>
          </p:cNvPicPr>
          <p:nvPr/>
        </p:nvPicPr>
        <p:blipFill>
          <a:blip r:embed="rId1"/>
          <a:srcRect b="28514"/>
          <a:stretch>
            <a:fillRect/>
          </a:stretch>
        </p:blipFill>
        <p:spPr>
          <a:xfrm>
            <a:off x="1383665" y="1897380"/>
            <a:ext cx="2068830" cy="915035"/>
          </a:xfrm>
          <a:prstGeom prst="rect">
            <a:avLst/>
          </a:prstGeom>
        </p:spPr>
      </p:pic>
      <p:sp>
        <p:nvSpPr>
          <p:cNvPr id="10" name="文本框 9"/>
          <p:cNvSpPr txBox="1"/>
          <p:nvPr/>
        </p:nvSpPr>
        <p:spPr>
          <a:xfrm>
            <a:off x="1256030" y="2807335"/>
            <a:ext cx="9979660" cy="1476375"/>
          </a:xfrm>
          <a:prstGeom prst="rect">
            <a:avLst/>
          </a:prstGeom>
          <a:noFill/>
        </p:spPr>
        <p:txBody>
          <a:bodyPr wrap="square" rtlCol="0">
            <a:spAutoFit/>
          </a:bodyPr>
          <a:lstStyle/>
          <a:p>
            <a:r>
              <a:rPr lang="zh-CN" altLang="en-US"/>
              <a:t>解决方案</a:t>
            </a:r>
            <a:r>
              <a:rPr lang="en-US" altLang="zh-CN"/>
              <a:t>1</a:t>
            </a:r>
            <a:r>
              <a:rPr lang="zh-CN" altLang="en-US"/>
              <a:t>：这个提示信息就是给被测件的串口信息是不完整的，被测件统一给的提示信息。“发送截断的数据包”这块脚本执行时串口信息不完整，弹出的提示信息，是个正确的提示。但是这块脚本不是接口测试要求的内容，接口测试要求测试包前有冗余字段，“发送超长的数据包”这块脚本需要改一下，使用ebuff.merge API，在数据包包前加上其他的数值，进行包前冗余字段的测试验证。</a:t>
            </a:r>
            <a:endParaRPr lang="zh-CN" altLang="en-US"/>
          </a:p>
        </p:txBody>
      </p:sp>
      <p:pic>
        <p:nvPicPr>
          <p:cNvPr id="11" name="图片 10"/>
          <p:cNvPicPr>
            <a:picLocks noChangeAspect="1"/>
          </p:cNvPicPr>
          <p:nvPr/>
        </p:nvPicPr>
        <p:blipFill>
          <a:blip r:embed="rId2"/>
          <a:stretch>
            <a:fillRect/>
          </a:stretch>
        </p:blipFill>
        <p:spPr>
          <a:xfrm>
            <a:off x="1327150" y="4283710"/>
            <a:ext cx="2479675" cy="2134870"/>
          </a:xfrm>
          <a:prstGeom prst="rect">
            <a:avLst/>
          </a:prstGeom>
        </p:spPr>
      </p:pic>
      <p:pic>
        <p:nvPicPr>
          <p:cNvPr id="6" name="图片 5"/>
          <p:cNvPicPr>
            <a:picLocks noChangeAspect="1"/>
          </p:cNvPicPr>
          <p:nvPr/>
        </p:nvPicPr>
        <p:blipFill>
          <a:blip r:embed="rId3"/>
          <a:stretch>
            <a:fillRect/>
          </a:stretch>
        </p:blipFill>
        <p:spPr>
          <a:xfrm>
            <a:off x="0" y="0"/>
            <a:ext cx="12192000" cy="120904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886326" y="142457"/>
            <a:ext cx="3306679" cy="392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1800" dirty="0">
                <a:solidFill>
                  <a:schemeClr val="bg1"/>
                </a:solidFill>
                <a:latin typeface="+mn-ea"/>
                <a:ea typeface="+mn-ea"/>
              </a:rPr>
              <a:t>常见问题汇总</a:t>
            </a:r>
            <a:endParaRPr lang="zh-CN" altLang="en-US" sz="1800" dirty="0">
              <a:solidFill>
                <a:schemeClr val="bg1"/>
              </a:solidFill>
              <a:latin typeface="+mn-ea"/>
              <a:ea typeface="+mn-ea"/>
            </a:endParaRPr>
          </a:p>
        </p:txBody>
      </p:sp>
      <p:sp>
        <p:nvSpPr>
          <p:cNvPr id="3" name="文本框 2"/>
          <p:cNvSpPr txBox="1"/>
          <p:nvPr/>
        </p:nvSpPr>
        <p:spPr>
          <a:xfrm>
            <a:off x="1310640" y="1410335"/>
            <a:ext cx="7376160" cy="368300"/>
          </a:xfrm>
          <a:prstGeom prst="rect">
            <a:avLst/>
          </a:prstGeom>
          <a:noFill/>
        </p:spPr>
        <p:txBody>
          <a:bodyPr wrap="square" rtlCol="0">
            <a:spAutoFit/>
          </a:bodyPr>
          <a:lstStyle/>
          <a:p>
            <a:r>
              <a:rPr lang="zh-CN" altLang="en-US">
                <a:highlight>
                  <a:srgbClr val="FFFF00"/>
                </a:highlight>
              </a:rPr>
              <a:t>校验和的值</a:t>
            </a:r>
            <a:r>
              <a:rPr lang="zh-CN" altLang="en-US">
                <a:highlight>
                  <a:srgbClr val="FFFF00"/>
                </a:highlight>
              </a:rPr>
              <a:t>的计算</a:t>
            </a:r>
            <a:endParaRPr lang="zh-CN" altLang="en-US">
              <a:highlight>
                <a:srgbClr val="FFFF00"/>
              </a:highlight>
            </a:endParaRPr>
          </a:p>
        </p:txBody>
      </p:sp>
      <p:pic>
        <p:nvPicPr>
          <p:cNvPr id="5" name="图片 4"/>
          <p:cNvPicPr>
            <a:picLocks noChangeAspect="1"/>
          </p:cNvPicPr>
          <p:nvPr/>
        </p:nvPicPr>
        <p:blipFill>
          <a:blip r:embed="rId1"/>
          <a:stretch>
            <a:fillRect/>
          </a:stretch>
        </p:blipFill>
        <p:spPr>
          <a:xfrm>
            <a:off x="1358265" y="2988310"/>
            <a:ext cx="8924925" cy="3076575"/>
          </a:xfrm>
          <a:prstGeom prst="rect">
            <a:avLst/>
          </a:prstGeom>
        </p:spPr>
      </p:pic>
      <p:sp>
        <p:nvSpPr>
          <p:cNvPr id="7" name="文本框 6"/>
          <p:cNvSpPr txBox="1"/>
          <p:nvPr/>
        </p:nvSpPr>
        <p:spPr>
          <a:xfrm>
            <a:off x="1310640" y="1869440"/>
            <a:ext cx="9813290" cy="922020"/>
          </a:xfrm>
          <a:prstGeom prst="rect">
            <a:avLst/>
          </a:prstGeom>
          <a:noFill/>
        </p:spPr>
        <p:txBody>
          <a:bodyPr wrap="square" rtlCol="0">
            <a:spAutoFit/>
          </a:bodyPr>
          <a:lstStyle/>
          <a:p>
            <a:r>
              <a:rPr lang="zh-CN" altLang="en-US"/>
              <a:t>帮助中心</a:t>
            </a:r>
            <a:r>
              <a:rPr lang="en-US" altLang="zh-CN"/>
              <a:t>-</a:t>
            </a:r>
            <a:r>
              <a:rPr lang="zh-CN" altLang="en-US"/>
              <a:t>环境配置</a:t>
            </a:r>
            <a:r>
              <a:rPr lang="en-US" altLang="zh-CN"/>
              <a:t>-</a:t>
            </a:r>
            <a:r>
              <a:rPr lang="zh-CN" altLang="en-US"/>
              <a:t>通信协议</a:t>
            </a:r>
            <a:r>
              <a:rPr lang="en-US" altLang="zh-CN"/>
              <a:t>-</a:t>
            </a:r>
            <a:r>
              <a:rPr lang="zh-CN" altLang="en-US"/>
              <a:t>协议</a:t>
            </a:r>
            <a:r>
              <a:rPr lang="en-US" altLang="zh-CN"/>
              <a:t>API</a:t>
            </a:r>
            <a:r>
              <a:rPr lang="zh-CN" altLang="en-US"/>
              <a:t>和相关函数里有关于</a:t>
            </a:r>
            <a:r>
              <a:rPr lang="en-US" altLang="zh-CN"/>
              <a:t>CheckCode</a:t>
            </a:r>
            <a:r>
              <a:rPr lang="zh-CN" altLang="en-US"/>
              <a:t>函数的介绍。如下图所示。</a:t>
            </a:r>
            <a:endParaRPr lang="zh-CN" altLang="en-US"/>
          </a:p>
          <a:p>
            <a:r>
              <a:rPr lang="zh-CN" altLang="en-US"/>
              <a:t>下图里的字段自动值是</a:t>
            </a:r>
            <a:r>
              <a:rPr lang="en-US" altLang="zh-CN"/>
              <a:t>16</a:t>
            </a:r>
            <a:r>
              <a:rPr lang="zh-CN" altLang="en-US"/>
              <a:t>进制的，校验和计算方式是：协议里参与计算的数据按字节相加，</a:t>
            </a:r>
            <a:r>
              <a:rPr lang="en-US" altLang="zh-CN"/>
              <a:t>8</a:t>
            </a:r>
            <a:r>
              <a:rPr lang="zh-CN" altLang="en-US"/>
              <a:t>个</a:t>
            </a:r>
            <a:r>
              <a:rPr lang="en-US" altLang="zh-CN"/>
              <a:t>bit</a:t>
            </a:r>
            <a:r>
              <a:rPr lang="zh-CN" altLang="en-US"/>
              <a:t>位是一个字节，因此</a:t>
            </a:r>
            <a:r>
              <a:rPr lang="en-US" altLang="zh-CN"/>
              <a:t>16</a:t>
            </a:r>
            <a:r>
              <a:rPr lang="zh-CN" altLang="en-US"/>
              <a:t>进制计算结果是：</a:t>
            </a:r>
            <a:r>
              <a:rPr lang="en-US" altLang="zh-CN"/>
              <a:t>55+AA+18+1=118</a:t>
            </a:r>
            <a:r>
              <a:rPr lang="zh-CN" altLang="en-US"/>
              <a:t>，转换为</a:t>
            </a:r>
            <a:r>
              <a:rPr lang="en-US" altLang="zh-CN"/>
              <a:t>10</a:t>
            </a:r>
            <a:r>
              <a:rPr lang="zh-CN" altLang="en-US"/>
              <a:t>进制是</a:t>
            </a:r>
            <a:r>
              <a:rPr lang="en-US" altLang="zh-CN"/>
              <a:t>280</a:t>
            </a:r>
            <a:r>
              <a:rPr lang="zh-CN" altLang="en-US"/>
              <a:t>。</a:t>
            </a:r>
            <a:endParaRPr lang="zh-CN" altLang="en-US"/>
          </a:p>
        </p:txBody>
      </p:sp>
      <p:pic>
        <p:nvPicPr>
          <p:cNvPr id="8" name="图片 7"/>
          <p:cNvPicPr>
            <a:picLocks noChangeAspect="1"/>
          </p:cNvPicPr>
          <p:nvPr/>
        </p:nvPicPr>
        <p:blipFill>
          <a:blip r:embed="rId2"/>
          <a:stretch>
            <a:fillRect/>
          </a:stretch>
        </p:blipFill>
        <p:spPr>
          <a:xfrm>
            <a:off x="8250555" y="3093085"/>
            <a:ext cx="1952625" cy="2295525"/>
          </a:xfrm>
          <a:prstGeom prst="rect">
            <a:avLst/>
          </a:prstGeom>
        </p:spPr>
      </p:pic>
      <p:pic>
        <p:nvPicPr>
          <p:cNvPr id="6" name="图片 5"/>
          <p:cNvPicPr>
            <a:picLocks noChangeAspect="1"/>
          </p:cNvPicPr>
          <p:nvPr/>
        </p:nvPicPr>
        <p:blipFill>
          <a:blip r:embed="rId3"/>
          <a:stretch>
            <a:fillRect/>
          </a:stretch>
        </p:blipFill>
        <p:spPr>
          <a:xfrm>
            <a:off x="0" y="0"/>
            <a:ext cx="12192000" cy="120904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988142" y="2824241"/>
            <a:ext cx="3335020" cy="922020"/>
          </a:xfrm>
          <a:prstGeom prst="rect">
            <a:avLst/>
          </a:prstGeom>
        </p:spPr>
        <p:txBody>
          <a:bodyPr wrap="none">
            <a:spAutoFit/>
          </a:bodyPr>
          <a:lstStyle/>
          <a:p>
            <a:pPr algn="l"/>
            <a:r>
              <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学习</a:t>
            </a:r>
            <a:r>
              <a:rPr lang="en-US" altLang="zh-CN"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ETest</a:t>
            </a:r>
            <a:endParaRPr lang="zh-CN" altLang="en-US" sz="5400" b="1"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矩形 36"/>
          <p:cNvSpPr/>
          <p:nvPr/>
        </p:nvSpPr>
        <p:spPr>
          <a:xfrm>
            <a:off x="5148346" y="3868120"/>
            <a:ext cx="5657767" cy="150207"/>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6" name="菱形 5"/>
          <p:cNvSpPr/>
          <p:nvPr>
            <p:custDataLst>
              <p:tags r:id="rId1"/>
            </p:custDataLst>
          </p:nvPr>
        </p:nvSpPr>
        <p:spPr>
          <a:xfrm>
            <a:off x="955040" y="1601470"/>
            <a:ext cx="3403600" cy="3427095"/>
          </a:xfrm>
          <a:prstGeom prst="diamond">
            <a:avLst/>
          </a:prstGeom>
          <a:blipFill dpi="0" rotWithShape="1">
            <a:blip r:embed="rId2" cstate="screen"/>
            <a:srcRect/>
            <a:tile sx="100000" sy="100000"/>
          </a:blipFill>
          <a:ln w="762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教学视频</a:t>
            </a:r>
            <a:endParaRPr lang="zh-CN" altLang="en-US"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71934" y="1256346"/>
            <a:ext cx="4744978" cy="523184"/>
          </a:xfrm>
          <a:prstGeom prst="rect">
            <a:avLst/>
          </a:prstGeom>
        </p:spPr>
      </p:pic>
      <p:sp>
        <p:nvSpPr>
          <p:cNvPr id="11" name="文本框 10"/>
          <p:cNvSpPr txBox="1"/>
          <p:nvPr/>
        </p:nvSpPr>
        <p:spPr>
          <a:xfrm>
            <a:off x="824209" y="1852321"/>
            <a:ext cx="4358346" cy="285463"/>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en-US" altLang="zh-CN" sz="1400" dirty="0"/>
              <a:t>https://www.bilibili.com/video/BV1gP411W7u9/</a:t>
            </a:r>
            <a:endParaRPr lang="en-US" altLang="zh-CN" sz="1400" dirty="0"/>
          </a:p>
        </p:txBody>
      </p:sp>
      <p:pic>
        <p:nvPicPr>
          <p:cNvPr id="15" name="图片 14"/>
          <p:cNvPicPr>
            <a:picLocks noChangeAspect="1"/>
          </p:cNvPicPr>
          <p:nvPr/>
        </p:nvPicPr>
        <p:blipFill>
          <a:blip r:embed="rId2"/>
          <a:stretch>
            <a:fillRect/>
          </a:stretch>
        </p:blipFill>
        <p:spPr>
          <a:xfrm>
            <a:off x="824209" y="1294100"/>
            <a:ext cx="847725" cy="447675"/>
          </a:xfrm>
          <a:prstGeom prst="rect">
            <a:avLst/>
          </a:prstGeom>
        </p:spPr>
      </p:pic>
      <p:pic>
        <p:nvPicPr>
          <p:cNvPr id="17" name="图片 16"/>
          <p:cNvPicPr>
            <a:picLocks noChangeAspect="1"/>
          </p:cNvPicPr>
          <p:nvPr/>
        </p:nvPicPr>
        <p:blipFill>
          <a:blip r:embed="rId3"/>
          <a:stretch>
            <a:fillRect/>
          </a:stretch>
        </p:blipFill>
        <p:spPr>
          <a:xfrm>
            <a:off x="848289" y="2244115"/>
            <a:ext cx="1647290" cy="1879602"/>
          </a:xfrm>
          <a:prstGeom prst="rect">
            <a:avLst/>
          </a:prstGeom>
        </p:spPr>
      </p:pic>
      <p:grpSp>
        <p:nvGrpSpPr>
          <p:cNvPr id="20" name="组合 19"/>
          <p:cNvGrpSpPr/>
          <p:nvPr/>
        </p:nvGrpSpPr>
        <p:grpSpPr>
          <a:xfrm>
            <a:off x="395826" y="1321245"/>
            <a:ext cx="336550" cy="332926"/>
            <a:chOff x="368300" y="2149924"/>
            <a:chExt cx="336550" cy="332926"/>
          </a:xfrm>
        </p:grpSpPr>
        <p:sp>
          <p:nvSpPr>
            <p:cNvPr id="19" name="椭圆 18"/>
            <p:cNvSpPr/>
            <p:nvPr/>
          </p:nvSpPr>
          <p:spPr>
            <a:xfrm>
              <a:off x="368300" y="2149924"/>
              <a:ext cx="336550" cy="332926"/>
            </a:xfrm>
            <a:prstGeom prst="ellipse">
              <a:avLst/>
            </a:prstGeom>
            <a:solidFill>
              <a:srgbClr val="8DC2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88414" y="2197387"/>
              <a:ext cx="296321" cy="285463"/>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en-US" altLang="zh-CN" sz="1400" b="1" dirty="0">
                  <a:solidFill>
                    <a:schemeClr val="bg1"/>
                  </a:solidFill>
                  <a:latin typeface="+mj-ea"/>
                  <a:ea typeface="+mj-ea"/>
                </a:rPr>
                <a:t>1</a:t>
              </a:r>
              <a:endParaRPr lang="en-US" altLang="zh-CN" sz="1400" b="1" dirty="0">
                <a:solidFill>
                  <a:schemeClr val="bg1"/>
                </a:solidFill>
                <a:latin typeface="+mj-ea"/>
                <a:ea typeface="+mj-ea"/>
              </a:endParaRPr>
            </a:p>
          </p:txBody>
        </p:sp>
      </p:grpSp>
      <p:grpSp>
        <p:nvGrpSpPr>
          <p:cNvPr id="21" name="组合 20"/>
          <p:cNvGrpSpPr/>
          <p:nvPr/>
        </p:nvGrpSpPr>
        <p:grpSpPr>
          <a:xfrm>
            <a:off x="395827" y="1796902"/>
            <a:ext cx="336550" cy="332926"/>
            <a:chOff x="368300" y="2149924"/>
            <a:chExt cx="336550" cy="332926"/>
          </a:xfrm>
        </p:grpSpPr>
        <p:sp>
          <p:nvSpPr>
            <p:cNvPr id="22" name="椭圆 21"/>
            <p:cNvSpPr/>
            <p:nvPr/>
          </p:nvSpPr>
          <p:spPr>
            <a:xfrm>
              <a:off x="368300" y="2149924"/>
              <a:ext cx="336550" cy="332926"/>
            </a:xfrm>
            <a:prstGeom prst="ellipse">
              <a:avLst/>
            </a:prstGeom>
            <a:solidFill>
              <a:srgbClr val="8DC2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388414" y="2197387"/>
              <a:ext cx="296321" cy="285463"/>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en-US" altLang="zh-CN" sz="1400" b="1" dirty="0">
                  <a:solidFill>
                    <a:schemeClr val="bg1"/>
                  </a:solidFill>
                  <a:latin typeface="+mj-ea"/>
                  <a:ea typeface="+mj-ea"/>
                </a:rPr>
                <a:t>2</a:t>
              </a:r>
              <a:endParaRPr lang="en-US" altLang="zh-CN" sz="1400" b="1" dirty="0">
                <a:solidFill>
                  <a:schemeClr val="bg1"/>
                </a:solidFill>
                <a:latin typeface="+mj-ea"/>
                <a:ea typeface="+mj-ea"/>
              </a:endParaRPr>
            </a:p>
          </p:txBody>
        </p:sp>
      </p:grpSp>
      <p:grpSp>
        <p:nvGrpSpPr>
          <p:cNvPr id="24" name="组合 23"/>
          <p:cNvGrpSpPr/>
          <p:nvPr/>
        </p:nvGrpSpPr>
        <p:grpSpPr>
          <a:xfrm>
            <a:off x="395825" y="2272559"/>
            <a:ext cx="336550" cy="332926"/>
            <a:chOff x="368300" y="2149924"/>
            <a:chExt cx="336550" cy="332926"/>
          </a:xfrm>
        </p:grpSpPr>
        <p:sp>
          <p:nvSpPr>
            <p:cNvPr id="25" name="椭圆 24"/>
            <p:cNvSpPr/>
            <p:nvPr/>
          </p:nvSpPr>
          <p:spPr>
            <a:xfrm>
              <a:off x="368300" y="2149924"/>
              <a:ext cx="336550" cy="332926"/>
            </a:xfrm>
            <a:prstGeom prst="ellipse">
              <a:avLst/>
            </a:prstGeom>
            <a:solidFill>
              <a:srgbClr val="8DC2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88414" y="2197387"/>
              <a:ext cx="296321" cy="285463"/>
            </a:xfrm>
            <a:prstGeom prst="rect">
              <a:avLst/>
            </a:prstGeom>
            <a:noFill/>
          </p:spPr>
          <p:txBody>
            <a:bodyPr wrap="square">
              <a:spAutoFit/>
            </a:bodyPr>
            <a:lstStyle>
              <a:defPPr>
                <a:defRPr lang="zh-CN"/>
              </a:defPPr>
              <a:lvl1pPr>
                <a:defRPr sz="1200">
                  <a:solidFill>
                    <a:srgbClr val="000000"/>
                  </a:solidFill>
                  <a:latin typeface="+mn-ea"/>
                </a:defRPr>
              </a:lvl1pPr>
            </a:lstStyle>
            <a:p>
              <a:pPr>
                <a:lnSpc>
                  <a:spcPts val="1500"/>
                </a:lnSpc>
              </a:pPr>
              <a:r>
                <a:rPr lang="en-US" altLang="zh-CN" sz="1400" b="1" dirty="0">
                  <a:solidFill>
                    <a:schemeClr val="bg1"/>
                  </a:solidFill>
                  <a:latin typeface="+mj-ea"/>
                  <a:ea typeface="+mj-ea"/>
                </a:rPr>
                <a:t>3</a:t>
              </a:r>
              <a:endParaRPr lang="en-US" altLang="zh-CN" sz="1400" b="1" dirty="0">
                <a:solidFill>
                  <a:schemeClr val="bg1"/>
                </a:solidFill>
                <a:latin typeface="+mj-ea"/>
                <a:ea typeface="+mj-ea"/>
              </a:endParaRPr>
            </a:p>
          </p:txBody>
        </p:sp>
      </p:grpSp>
      <p:pic>
        <p:nvPicPr>
          <p:cNvPr id="4" name="图片 3"/>
          <p:cNvPicPr>
            <a:picLocks noChangeAspect="1"/>
          </p:cNvPicPr>
          <p:nvPr/>
        </p:nvPicPr>
        <p:blipFill>
          <a:blip r:embed="rId4"/>
          <a:stretch>
            <a:fillRect/>
          </a:stretch>
        </p:blipFill>
        <p:spPr>
          <a:xfrm>
            <a:off x="3012141" y="2175521"/>
            <a:ext cx="7789134" cy="3538060"/>
          </a:xfrm>
          <a:prstGeom prst="rect">
            <a:avLst/>
          </a:prstGeom>
        </p:spPr>
      </p:pic>
      <p:pic>
        <p:nvPicPr>
          <p:cNvPr id="5" name="图片 4"/>
          <p:cNvPicPr>
            <a:picLocks noChangeAspect="1"/>
          </p:cNvPicPr>
          <p:nvPr/>
        </p:nvPicPr>
        <p:blipFill>
          <a:blip r:embed="rId5"/>
          <a:stretch>
            <a:fillRect/>
          </a:stretch>
        </p:blipFill>
        <p:spPr>
          <a:xfrm>
            <a:off x="0" y="0"/>
            <a:ext cx="5163671" cy="1148799"/>
          </a:xfrm>
          <a:prstGeom prst="rect">
            <a:avLst/>
          </a:prstGeom>
        </p:spPr>
      </p:pic>
      <p:sp>
        <p:nvSpPr>
          <p:cNvPr id="6" name="文本框 5"/>
          <p:cNvSpPr txBox="1"/>
          <p:nvPr/>
        </p:nvSpPr>
        <p:spPr>
          <a:xfrm>
            <a:off x="1995805" y="471001"/>
            <a:ext cx="4064000" cy="521970"/>
          </a:xfrm>
          <a:prstGeom prst="rect">
            <a:avLst/>
          </a:prstGeom>
          <a:noFill/>
        </p:spPr>
        <p:txBody>
          <a:bodyPr wrap="square" rtlCol="0">
            <a:spAutoFit/>
          </a:bodyPr>
          <a:lstStyle/>
          <a:p>
            <a:r>
              <a:rPr lang="zh-CN" altLang="en-US" sz="2800" b="1" dirty="0">
                <a:solidFill>
                  <a:srgbClr val="136FB8"/>
                </a:solidFill>
              </a:rPr>
              <a:t>教学视频</a:t>
            </a:r>
            <a:endParaRPr lang="zh-CN" altLang="en-US" sz="2800" b="1" dirty="0">
              <a:solidFill>
                <a:srgbClr val="136FB8"/>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帮助文档</a:t>
            </a:r>
            <a:endParaRPr lang="zh-CN" altLang="en-US" dirty="0"/>
          </a:p>
        </p:txBody>
      </p:sp>
      <p:pic>
        <p:nvPicPr>
          <p:cNvPr id="4" name="图片 3"/>
          <p:cNvPicPr>
            <a:picLocks noChangeAspect="1"/>
          </p:cNvPicPr>
          <p:nvPr/>
        </p:nvPicPr>
        <p:blipFill rotWithShape="1">
          <a:blip r:embed="rId1"/>
          <a:srcRect l="65205" r="4632" b="20859"/>
          <a:stretch>
            <a:fillRect/>
          </a:stretch>
        </p:blipFill>
        <p:spPr>
          <a:xfrm>
            <a:off x="1116920" y="1909837"/>
            <a:ext cx="2235200" cy="1454877"/>
          </a:xfrm>
          <a:prstGeom prst="rect">
            <a:avLst/>
          </a:prstGeom>
        </p:spPr>
      </p:pic>
      <p:cxnSp>
        <p:nvCxnSpPr>
          <p:cNvPr id="10" name="直接箭头连接符 9"/>
          <p:cNvCxnSpPr>
            <a:stCxn id="11" idx="3"/>
          </p:cNvCxnSpPr>
          <p:nvPr/>
        </p:nvCxnSpPr>
        <p:spPr>
          <a:xfrm flipV="1">
            <a:off x="3319834" y="2637275"/>
            <a:ext cx="1114707" cy="352816"/>
          </a:xfrm>
          <a:prstGeom prst="straightConnector1">
            <a:avLst/>
          </a:prstGeom>
          <a:ln w="38100">
            <a:solidFill>
              <a:srgbClr val="8DC21F"/>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084634" y="2845547"/>
            <a:ext cx="2235200" cy="289088"/>
          </a:xfrm>
          <a:prstGeom prst="rect">
            <a:avLst/>
          </a:prstGeom>
          <a:noFill/>
          <a:ln w="28575">
            <a:solidFill>
              <a:srgbClr val="8DC2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2"/>
          <a:stretch>
            <a:fillRect/>
          </a:stretch>
        </p:blipFill>
        <p:spPr>
          <a:xfrm>
            <a:off x="4540997" y="1909837"/>
            <a:ext cx="6437630" cy="4267200"/>
          </a:xfrm>
          <a:prstGeom prst="rect">
            <a:avLst/>
          </a:prstGeom>
        </p:spPr>
      </p:pic>
      <p:pic>
        <p:nvPicPr>
          <p:cNvPr id="6" name="图片 5"/>
          <p:cNvPicPr>
            <a:picLocks noChangeAspect="1"/>
          </p:cNvPicPr>
          <p:nvPr/>
        </p:nvPicPr>
        <p:blipFill>
          <a:blip r:embed="rId3"/>
          <a:stretch>
            <a:fillRect/>
          </a:stretch>
        </p:blipFill>
        <p:spPr>
          <a:xfrm>
            <a:off x="0" y="0"/>
            <a:ext cx="5163671" cy="1148799"/>
          </a:xfrm>
          <a:prstGeom prst="rect">
            <a:avLst/>
          </a:prstGeom>
        </p:spPr>
      </p:pic>
      <p:sp>
        <p:nvSpPr>
          <p:cNvPr id="7" name="文本框 6"/>
          <p:cNvSpPr txBox="1"/>
          <p:nvPr/>
        </p:nvSpPr>
        <p:spPr>
          <a:xfrm>
            <a:off x="1995805" y="471001"/>
            <a:ext cx="4064000" cy="523220"/>
          </a:xfrm>
          <a:prstGeom prst="rect">
            <a:avLst/>
          </a:prstGeom>
          <a:noFill/>
        </p:spPr>
        <p:txBody>
          <a:bodyPr wrap="square" rtlCol="0">
            <a:spAutoFit/>
          </a:bodyPr>
          <a:lstStyle/>
          <a:p>
            <a:r>
              <a:rPr lang="zh-CN" altLang="en-US" sz="2800" b="1" dirty="0">
                <a:solidFill>
                  <a:srgbClr val="136FB8"/>
                </a:solidFill>
              </a:rPr>
              <a:t>帮助文档</a:t>
            </a:r>
            <a:endParaRPr lang="zh-CN" altLang="en-US" sz="2800" b="1" dirty="0">
              <a:solidFill>
                <a:srgbClr val="136FB8"/>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174463" y="4093904"/>
            <a:ext cx="2633796" cy="368300"/>
          </a:xfrm>
          <a:prstGeom prst="rect">
            <a:avLst/>
          </a:prstGeom>
          <a:noFill/>
        </p:spPr>
        <p:txBody>
          <a:bodyPr wrap="square" rtlCol="0">
            <a:spAutoFit/>
          </a:bodyPr>
          <a:lstStyle/>
          <a:p>
            <a:r>
              <a:rPr lang="en-US" altLang="zh-CN" dirty="0"/>
              <a:t>https://www.kiyun.com</a:t>
            </a:r>
            <a:endParaRPr lang="en-US" altLang="zh-CN" dirty="0">
              <a:solidFill>
                <a:srgbClr val="003EA2"/>
              </a:solidFill>
              <a:latin typeface="微软雅黑" panose="020B0503020204020204" pitchFamily="34" charset="-122"/>
              <a:ea typeface="微软雅黑" panose="020B0503020204020204" pitchFamily="34" charset="-122"/>
            </a:endParaRPr>
          </a:p>
        </p:txBody>
      </p:sp>
      <p:sp>
        <p:nvSpPr>
          <p:cNvPr id="9" name="矩形 8"/>
          <p:cNvSpPr/>
          <p:nvPr/>
        </p:nvSpPr>
        <p:spPr>
          <a:xfrm>
            <a:off x="3073066" y="2877259"/>
            <a:ext cx="6045867" cy="10134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200" b="1" dirty="0">
                <a:solidFill>
                  <a:srgbClr val="003EA2"/>
                </a:solidFill>
                <a:latin typeface="+mj-ea"/>
                <a:ea typeface="+mj-ea"/>
                <a:cs typeface="+mj-ea"/>
              </a:rPr>
              <a:t>感谢您的聆听</a:t>
            </a:r>
            <a:endParaRPr lang="zh-CN" sz="7200" b="1" dirty="0">
              <a:solidFill>
                <a:srgbClr val="003EA2"/>
              </a:solidFill>
              <a:latin typeface="+mj-ea"/>
              <a:ea typeface="+mj-ea"/>
              <a:cs typeface="+mj-ea"/>
            </a:endParaRPr>
          </a:p>
        </p:txBody>
      </p:sp>
      <p:pic>
        <p:nvPicPr>
          <p:cNvPr id="19" name="图片 18"/>
          <p:cNvPicPr>
            <a:picLocks noChangeAspect="1"/>
          </p:cNvPicPr>
          <p:nvPr/>
        </p:nvPicPr>
        <p:blipFill>
          <a:blip r:embed="rId1">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4480273" y="4138556"/>
            <a:ext cx="323648" cy="323648"/>
          </a:xfrm>
          <a:prstGeom prst="rect">
            <a:avLst/>
          </a:prstGeom>
        </p:spPr>
      </p:pic>
      <p:sp>
        <p:nvSpPr>
          <p:cNvPr id="25" name="矩形 24"/>
          <p:cNvSpPr/>
          <p:nvPr/>
        </p:nvSpPr>
        <p:spPr>
          <a:xfrm>
            <a:off x="3073066" y="2489891"/>
            <a:ext cx="6045867" cy="387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accent5">
                    <a:lumMod val="40000"/>
                    <a:lumOff val="60000"/>
                  </a:schemeClr>
                </a:solidFill>
                <a:latin typeface="+mj-ea"/>
                <a:ea typeface="+mj-ea"/>
                <a:cs typeface="+mj-ea"/>
              </a:rPr>
              <a:t>Thank you for listening</a:t>
            </a:r>
            <a:endParaRPr lang="zh-CN" sz="3600" b="1" dirty="0">
              <a:solidFill>
                <a:schemeClr val="accent5">
                  <a:lumMod val="40000"/>
                  <a:lumOff val="60000"/>
                </a:schemeClr>
              </a:solidFill>
              <a:latin typeface="+mj-ea"/>
              <a:ea typeface="+mj-ea"/>
              <a:cs typeface="+mj-ea"/>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PLACING_PICTURE_USER_VIEWPORT" val="{&quot;height&quot;:5358.341732283465,&quot;width&quot;:5358.341732283465}"/>
</p:tagLst>
</file>

<file path=ppt/tags/tag7.xml><?xml version="1.0" encoding="utf-8"?>
<p:tagLst xmlns:p="http://schemas.openxmlformats.org/presentationml/2006/main">
  <p:tag name="KSO_WM_UNIT_PLACING_PICTURE_USER_VIEWPORT" val="{&quot;height&quot;:5358.341732283465,&quot;width&quot;:5358.341732283465}"/>
</p:tagLst>
</file>

<file path=ppt/tags/tag8.xml><?xml version="1.0" encoding="utf-8"?>
<p:tagLst xmlns:p="http://schemas.openxmlformats.org/presentationml/2006/main">
  <p:tag name="KSO_WM_UNIT_PLACING_PICTURE_USER_VIEWPORT" val="{&quot;height&quot;:5358.341732283465,&quot;width&quot;:5358.341732283465}"/>
</p:tagLst>
</file>

<file path=ppt/tags/tag9.xml><?xml version="1.0" encoding="utf-8"?>
<p:tagLst xmlns:p="http://schemas.openxmlformats.org/presentationml/2006/main">
  <p:tag name="KSO_WM_UNIT_PLACING_PICTURE_USER_VIEWPORT" val="{&quot;height&quot;:5358.341732283465,&quot;width&quot;:5358.341732283465}"/>
</p:tagLst>
</file>

<file path=ppt/tags/tag10.xml><?xml version="1.0" encoding="utf-8"?>
<p:tagLst xmlns:p="http://schemas.openxmlformats.org/presentationml/2006/main">
  <p:tag name="KSO_WM_UNIT_PLACING_PICTURE_USER_VIEWPORT" val="{&quot;height&quot;:5358.341732283465,&quot;width&quot;:5358.341732283465}"/>
</p:tagLst>
</file>

<file path=ppt/tags/tag11.xml><?xml version="1.0" encoding="utf-8"?>
<p:tagLst xmlns:p="http://schemas.openxmlformats.org/presentationml/2006/main">
  <p:tag name="KSO_WM_UNIT_PLACING_PICTURE_USER_VIEWPORT" val="{&quot;height&quot;:5358.341732283465,&quot;width&quot;:5358.341732283465}"/>
</p:tagLst>
</file>

<file path=ppt/tags/tag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xml><?xml version="1.0" encoding="utf-8"?>
<p:tagLst xmlns:p="http://schemas.openxmlformats.org/presentationml/2006/main">
  <p:tag name="COMMONDATA" val="eyJoZGlkIjoiNDI1NGQ4MDY4NjMxYWVlMzc3ODM2NDE0MmU1ODUxYz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8665</Words>
  <Application>WPS 演示</Application>
  <PresentationFormat>宽屏</PresentationFormat>
  <Paragraphs>700</Paragraphs>
  <Slides>57</Slides>
  <Notes>12</Notes>
  <HiddenSlides>0</HiddenSlides>
  <MMClips>1</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57</vt:i4>
      </vt:variant>
    </vt:vector>
  </HeadingPairs>
  <TitlesOfParts>
    <vt:vector size="75" baseType="lpstr">
      <vt:lpstr>Arial</vt:lpstr>
      <vt:lpstr>宋体</vt:lpstr>
      <vt:lpstr>Wingdings</vt:lpstr>
      <vt:lpstr>微软雅黑</vt:lpstr>
      <vt:lpstr>思源黑体 CN Regular</vt:lpstr>
      <vt:lpstr>Arial Unicode MS</vt:lpstr>
      <vt:lpstr>Calibri</vt:lpstr>
      <vt:lpstr>等线</vt:lpstr>
      <vt:lpstr>Consolas</vt:lpstr>
      <vt:lpstr>-apple-system</vt:lpstr>
      <vt:lpstr>Segoe Print</vt:lpstr>
      <vt:lpstr>Helvetica Neue</vt:lpstr>
      <vt:lpstr>黑体</vt:lpstr>
      <vt:lpstr>汉仪雅酷黑简</vt:lpstr>
      <vt:lpstr>汉仪君黑-45简</vt:lpstr>
      <vt:lpstr>Miss Sweetie</vt:lpstr>
      <vt:lpstr>BatangChe</vt:lpstr>
      <vt:lpstr>Office 主题</vt:lpstr>
      <vt:lpstr>PowerPoint 演示文稿</vt:lpstr>
      <vt:lpstr>PowerPoint 演示文稿</vt:lpstr>
      <vt:lpstr>PowerPoint 演示文稿</vt:lpstr>
      <vt:lpstr>嵌入式测试大赛</vt:lpstr>
      <vt:lpstr>比赛时间和测试内容</vt:lpstr>
      <vt:lpstr>评分规则-预选赛</vt:lpstr>
      <vt:lpstr>评分规则-省赛、决赛</vt:lpstr>
      <vt:lpstr>评分规则-省赛、决赛</vt:lpstr>
      <vt:lpstr>使用工具</vt:lpstr>
      <vt:lpstr>赛前准备</vt:lpstr>
      <vt:lpstr>比赛开始(1/2)</vt:lpstr>
      <vt:lpstr>比赛开始(2/2)</vt:lpstr>
      <vt:lpstr>比赛中，比赛结束前</vt:lpstr>
      <vt:lpstr>PowerPoint 演示文稿</vt:lpstr>
      <vt:lpstr>Lua</vt:lpstr>
      <vt:lpstr>函数</vt:lpstr>
      <vt:lpstr>API(1/5)</vt:lpstr>
      <vt:lpstr>API(2/5)</vt:lpstr>
      <vt:lpstr>API(3/5)</vt:lpstr>
      <vt:lpstr>API(4/5)</vt:lpstr>
      <vt:lpstr>API(5/5)</vt:lpstr>
      <vt:lpstr>PowerPoint 演示文稿</vt:lpstr>
      <vt:lpstr>Yaml语法</vt:lpstr>
      <vt:lpstr>PowerPoint 演示文稿</vt:lpstr>
      <vt:lpstr>1. 测试对象：定速巡航系统</vt:lpstr>
      <vt:lpstr>PowerPoint 演示文稿</vt:lpstr>
      <vt:lpstr>PowerPoint 演示文稿</vt:lpstr>
      <vt:lpstr>PowerPoint 演示文稿</vt:lpstr>
      <vt:lpstr>PowerPoint 演示文稿</vt:lpstr>
      <vt:lpstr>2.1. 启动停止功能(F_Start)</vt:lpstr>
      <vt:lpstr>2.2. 车速采集处理(F_Senser)</vt:lpstr>
      <vt:lpstr>2.3. 油门控制功能(F_Accelerator)</vt:lpstr>
      <vt:lpstr>2.4. 加减速功能(F_Set)（1/2）</vt:lpstr>
      <vt:lpstr>2.4. 加减速功能(F_Set)（2/2）</vt:lpstr>
      <vt:lpstr>3.1. 巡航设置输入接口(I_Set)</vt:lpstr>
      <vt:lpstr>3.2. 油门输出接口(I_Accelerator)</vt:lpstr>
      <vt:lpstr>4.1. 油门输出时间性能需求(P_Control)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教学视频</vt:lpstr>
      <vt:lpstr>帮助文档</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定速巡航系统</dc:title>
  <dc:creator>86186</dc:creator>
  <cp:lastModifiedBy>echo</cp:lastModifiedBy>
  <cp:revision>459</cp:revision>
  <dcterms:created xsi:type="dcterms:W3CDTF">2023-07-19T06:41:00Z</dcterms:created>
  <dcterms:modified xsi:type="dcterms:W3CDTF">2025-10-19T08:45:58Z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5078F146200C4D81851F77F778F0C589_13</vt:lpwstr>
  </property>
  <property fmtid="{D5CDD505-2E9C-101B-9397-08002B2CF9AE}" pid="3" name="KSOProductBuildVer">
    <vt:lpwstr>2052-12.1.0.23125</vt:lpwstr>
  </property>
</Properties>
</file>